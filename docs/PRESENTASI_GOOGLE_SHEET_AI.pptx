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Pembuka: aplikasi mengubah Google Sheet dari sumber kerja harian menjadi data yang divalidasi, diberi konteks bisnis, dan bisa ditanya dengan bahasa alami. Jelaskan bahwa ini gambaran proses, bukan demo teknis API.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Mulai dari masalah yang dialami pengguna: bukan kekurangan spreadsheet, melainkan kurangnya jejak perubahan, makna kolom, dan akses yang konsisten. Hindari klaim bahwa semua file otomatis menjadi tabel baru.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empat hasil yang dirasakan pengguna. Data dianggap tepercaya setelah melewati proses, bukan hanya setelah spreadsheet berhasil dibaca.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Untuk audiens bisnis, fokuskan pada tiga prasyarat. Detail port, DSN, dan instalasi server tidak perlu dijelaskan kecuali ada pertanyaan teknis. Konfigurasi AI diperlukan untuk fitur generatif.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Jelaskan bahwa role saja tidak otomatis membuka semua data. Admin membuat akun dan policy; pemilik sumber menyiapkan konteks; steward dan approver menjaga kualitas; pengguna analitik melihat data sesuai akses efektif.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slide navigasi utama. Uraikan empat bab besar; tahap master dan taxonomy dipakai bila dataset memang memerlukan rujukan atau kategori baku.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Contoh satu file berisi tab Produk dan tab Penjualan. Tab Produk adalah master, tab Penjualan adalah non-master. Klasifikasi per tab dikonfirmasi pengguna; aplikasi tidak menganggap semua unggahan sebagai tabel baru yang langsung siap pakai.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Master memberi identitas yang stabil. Taxonomy menyatukan istilah. Fakta menyimpan kejadian pada waktu tertentu. Jangan menimpa histori transaksi hanya karena label master terbaru berubah; beberapa referensi memakai masa berlaku.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Soroti preview sebagai titik keputusan. Sistem menahan apply ketika ada referensi ambigu, kualitas gagal, atau approval belum sesuai. Hasil koreksi dapat ditelusuri ke nilai asal dan alasan.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Lapisan ini membantu audiens memahami fungsi tanpa nama tabel atau endpoint. Jalur data mempunyai kontrol akses, audit, kualitas, pekerjaan terjadwal, dan kebijakan AI di beberapa titik.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Contoh pertanyaan yang baik memuat ukuran, dimensi, dan periode. Backend membangun rencana query terstruktur berdasarkan katalog yang boleh diakses; pengguna tidak perlu memasukkan SQL. Chart dapat berupa bar, line, pie, atau kombinasi bila bentuk data mendukung.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Bedakan dua AI untuk audiens: Dashboard/Chat data menjawab pertanyaan tentang angka dan data. Tanya AI menjawab cara memakai aplikasi dari knowledge base terkurasi. Keduanya mengikuti identitas pengguna.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Gunakan satu contoh sederhana agar alur utuh terasa konkret. Bila demonstrasi langsung, siapkan Sheet contoh, akun pemilik dan approver berbeda, serta satu pertanyaan dashboard.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Sampaikan batas secara singkat dan jujur. Kontrol BE16 untuk sumber ber-metadata tersedia, tetapi default-deny seluruh resource dan backfill semua sumber lama belum selesai menurut dokumentasi status. Integrasi Google/OpenAI production perlu diverifikasi terpisah.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Tunjukkan dua lapis pengisian: taxonomy hanya kode dan nama; kemudian setiap term mempunyai kode, label, parent opsional, dan alias opsional. ID internal dibuat sistem. Contoh bukan data yang sudah tersedia pada tenant. Sesudah approval taxonomy, binding kolom juga perlu review.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Jelaskan perbedaan: departemen adalah unit, domain adalah proses bisnis, yurisdiksi adalah cakupan wilayah, purpose adalah tujuan penggunaan, clearance adalah atribut kelayakan akses pengguna. Kode boleh dirancang organisasi. Parent opsional untuk hierarki sejenis, tetapi tidak otomatis mewariskan izin.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Saat demonstrasi, gunakan URL Google Sheet asli yang memang dibagikan kepada service account. Contoh atribut tidak otomatis tersedia; admin perlu membuat dan meng-assign atribut. Pemilik dan steward dipilih dari akun tenant yang tersedia. Sensitivitas LOW hanya contoh dan harus mengikuti isi data nyata.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key cabang harus kode stabil, bukan nama yang bisa berubah. Penjualan adalah fakta dinamis dan dapat merujuk master Cabang melalui binding approved. Nama field contoh harus diganti sesuai header asli. Dashboard tetap mengikuti akses pengguna dan status produk.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Contoh fiktif. Admin dapat memberikan beberapa unit sekaligus lewat Administrasi. Untuk setiap sumber, admin menunjuk reviewer metadata, konfigurasi, dan batch import secara terpisah. Penunjukan tidak menggantikan policy akses; reviewer harus aktif dan tidak boleh menyetujui pekerjaannya sendiri. Sumber lama yang belum dikonfigurasi masih memakai pemeriksaan role lama sampai daftar reviewer disimpan.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memilih akun IT dan unit terkait dari daftar. Approver unit wajib memiliki assignment aktif, tetapi penunjukan approval tidak memberi hak query. Jika revisi konfigurasi atau aturan rilis berubah, keputusan lama tidak berlaku. Gate diperiksa pada antrean dan worker deploy; batch import berikutnya tetap mengikuti review batch tersendiri.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Akhiri dengan lima kata kerja. Saat diskusi lanjut, arahkan audiens ke panduan pengguna dan status akses BE16; gunakan deck sebagai pengantar, bukan spesifikasi teknis lengkap.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235440" y="-1097280"/>
            <a:ext cx="4023360" cy="4023360"/>
          </a:xfrm>
          <a:prstGeom prst="ellipse">
            <a:avLst/>
          </a:prstGeom>
          <a:solidFill>
            <a:srgbClr val="122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97280" y="5303520"/>
            <a:ext cx="2926080" cy="2926080"/>
          </a:xfrm>
          <a:prstGeom prst="ellipse">
            <a:avLst/>
          </a:prstGeom>
          <a:solidFill>
            <a:srgbClr val="122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338328"/>
            <a:ext cx="9601200" cy="256032"/>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CCEEE2"/>
                </a:solidFill>
                <a:latin typeface="Aptos"/>
              </a:rPr>
              <a:t>PRESENTASI APLIKASI</a:t>
            </a:r>
          </a:p>
        </p:txBody>
      </p:sp>
      <p:sp>
        <p:nvSpPr>
          <p:cNvPr id="6" name="TextBox 5"/>
          <p:cNvSpPr txBox="1"/>
          <p:nvPr/>
        </p:nvSpPr>
        <p:spPr>
          <a:xfrm>
            <a:off x="658368" y="713232"/>
            <a:ext cx="10835640" cy="621792"/>
          </a:xfrm>
          <a:prstGeom prst="rect">
            <a:avLst/>
          </a:prstGeom>
          <a:noFill/>
        </p:spPr>
        <p:txBody>
          <a:bodyPr wrap="square" lIns="27432" rIns="27432" tIns="27432" bIns="27432" anchor="ctr">
            <a:spAutoFit/>
          </a:bodyPr>
          <a:lstStyle/>
          <a:p>
            <a:pPr algn="l">
              <a:lnSpc>
                <a:spcPct val="108000"/>
              </a:lnSpc>
              <a:spcAft>
                <a:spcPts val="0"/>
              </a:spcAft>
            </a:pPr>
            <a:r>
              <a:rPr sz="2800" b="1">
                <a:solidFill>
                  <a:srgbClr val="FFFFFF"/>
                </a:solidFill>
                <a:latin typeface="Aptos"/>
              </a:rPr>
              <a:t>Google Sheet AI</a:t>
            </a:r>
          </a:p>
        </p:txBody>
      </p:sp>
      <p:cxnSp>
        <p:nvCxnSpPr>
          <p:cNvPr id="7" name="Connector 6"/>
          <p:cNvCxnSpPr/>
          <p:nvPr/>
        </p:nvCxnSpPr>
        <p:spPr>
          <a:xfrm>
            <a:off x="676656" y="6492240"/>
            <a:ext cx="10799064" cy="0"/>
          </a:xfrm>
          <a:prstGeom prst="line">
            <a:avLst/>
          </a:prstGeom>
          <a:ln w="16510">
            <a:solidFill>
              <a:srgbClr val="4D68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76656" y="6537960"/>
            <a:ext cx="7132320" cy="164592"/>
          </a:xfrm>
          <a:prstGeom prst="rect">
            <a:avLst/>
          </a:prstGeom>
          <a:noFill/>
        </p:spPr>
        <p:txBody>
          <a:bodyPr wrap="square" lIns="27432" rIns="27432" tIns="27432" bIns="27432" anchor="ctr">
            <a:spAutoFit/>
          </a:bodyPr>
          <a:lstStyle/>
          <a:p>
            <a:pPr algn="l">
              <a:lnSpc>
                <a:spcPct val="108000"/>
              </a:lnSpc>
              <a:spcAft>
                <a:spcPts val="0"/>
              </a:spcAft>
            </a:pPr>
            <a:r>
              <a:rPr sz="850" b="0">
                <a:solidFill>
                  <a:srgbClr val="CCEEE2"/>
                </a:solidFill>
                <a:latin typeface="Aptos"/>
              </a:rPr>
              <a:t>GOOGLE SHEET AI  ·  TINJAUAN APLIKASI</a:t>
            </a:r>
          </a:p>
        </p:txBody>
      </p:sp>
      <p:sp>
        <p:nvSpPr>
          <p:cNvPr id="9" name="TextBox 8"/>
          <p:cNvSpPr txBox="1"/>
          <p:nvPr/>
        </p:nvSpPr>
        <p:spPr>
          <a:xfrm>
            <a:off x="10972800" y="6519672"/>
            <a:ext cx="502920" cy="192024"/>
          </a:xfrm>
          <a:prstGeom prst="rect">
            <a:avLst/>
          </a:prstGeom>
          <a:noFill/>
        </p:spPr>
        <p:txBody>
          <a:bodyPr wrap="square" lIns="27432" rIns="27432" tIns="27432" bIns="27432" anchor="ctr">
            <a:spAutoFit/>
          </a:bodyPr>
          <a:lstStyle/>
          <a:p>
            <a:pPr algn="r">
              <a:lnSpc>
                <a:spcPct val="108000"/>
              </a:lnSpc>
              <a:spcAft>
                <a:spcPts val="0"/>
              </a:spcAft>
            </a:pPr>
            <a:r>
              <a:rPr sz="950" b="0">
                <a:solidFill>
                  <a:srgbClr val="CCEEE2"/>
                </a:solidFill>
                <a:latin typeface="Aptos"/>
              </a:rPr>
              <a:t>01</a:t>
            </a:r>
          </a:p>
        </p:txBody>
      </p:sp>
      <p:sp>
        <p:nvSpPr>
          <p:cNvPr id="10" name="TextBox 9"/>
          <p:cNvSpPr txBox="1"/>
          <p:nvPr/>
        </p:nvSpPr>
        <p:spPr>
          <a:xfrm>
            <a:off x="731520" y="1828800"/>
            <a:ext cx="7680960" cy="1508760"/>
          </a:xfrm>
          <a:prstGeom prst="rect">
            <a:avLst/>
          </a:prstGeom>
          <a:noFill/>
        </p:spPr>
        <p:txBody>
          <a:bodyPr wrap="square" lIns="27432" rIns="27432" tIns="27432" bIns="27432" anchor="t">
            <a:spAutoFit/>
          </a:bodyPr>
          <a:lstStyle/>
          <a:p>
            <a:pPr algn="l">
              <a:lnSpc>
                <a:spcPct val="108000"/>
              </a:lnSpc>
              <a:spcAft>
                <a:spcPts val="0"/>
              </a:spcAft>
            </a:pPr>
            <a:r>
              <a:rPr sz="2800" b="1">
                <a:solidFill>
                  <a:srgbClr val="FFFFFF"/>
                </a:solidFill>
                <a:latin typeface="Aptos"/>
              </a:rPr>
              <a:t>Dari spreadsheet menjadi data tepercaya,</a:t>
            </a:r>
          </a:p>
          <a:p>
            <a:pPr algn="l">
              <a:lnSpc>
                <a:spcPct val="108000"/>
              </a:lnSpc>
              <a:spcAft>
                <a:spcPts val="0"/>
              </a:spcAft>
            </a:pPr>
            <a:r>
              <a:rPr sz="2800" b="1">
                <a:solidFill>
                  <a:srgbClr val="FFFFFF"/>
                </a:solidFill>
                <a:latin typeface="Aptos"/>
              </a:rPr>
              <a:t>analitik, dan keputusan yang lebih cepat.</a:t>
            </a:r>
          </a:p>
        </p:txBody>
      </p:sp>
      <p:sp>
        <p:nvSpPr>
          <p:cNvPr id="11" name="Rounded Rectangle 10"/>
          <p:cNvSpPr/>
          <p:nvPr/>
        </p:nvSpPr>
        <p:spPr>
          <a:xfrm>
            <a:off x="758952" y="3886200"/>
            <a:ext cx="2011680" cy="329184"/>
          </a:xfrm>
          <a:prstGeom prst="roundRect">
            <a:avLst>
              <a:gd name="adj" fmla="val 18000"/>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3" y="3886200"/>
            <a:ext cx="1865376" cy="329184"/>
          </a:xfrm>
          <a:prstGeom prst="rect">
            <a:avLst/>
          </a:prstGeom>
          <a:noFill/>
        </p:spPr>
        <p:txBody>
          <a:bodyPr wrap="square" lIns="27432" rIns="27432" tIns="27432" bIns="27432" anchor="ctr">
            <a:spAutoFit/>
          </a:bodyPr>
          <a:lstStyle/>
          <a:p>
            <a:pPr algn="l">
              <a:lnSpc>
                <a:spcPct val="108000"/>
              </a:lnSpc>
              <a:spcAft>
                <a:spcPts val="0"/>
              </a:spcAft>
            </a:pPr>
            <a:r>
              <a:rPr sz="1100" b="1">
                <a:solidFill>
                  <a:srgbClr val="FFFFFF"/>
                </a:solidFill>
                <a:latin typeface="Aptos"/>
              </a:rPr>
              <a:t>ETL + GOVERNANCE</a:t>
            </a:r>
          </a:p>
        </p:txBody>
      </p:sp>
      <p:sp>
        <p:nvSpPr>
          <p:cNvPr id="13" name="Rounded Rectangle 12"/>
          <p:cNvSpPr/>
          <p:nvPr/>
        </p:nvSpPr>
        <p:spPr>
          <a:xfrm>
            <a:off x="2889504" y="3886200"/>
            <a:ext cx="2148840" cy="329184"/>
          </a:xfrm>
          <a:prstGeom prst="roundRect">
            <a:avLst>
              <a:gd name="adj" fmla="val 18000"/>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62656" y="3886200"/>
            <a:ext cx="2002536" cy="329184"/>
          </a:xfrm>
          <a:prstGeom prst="rect">
            <a:avLst/>
          </a:prstGeom>
          <a:noFill/>
        </p:spPr>
        <p:txBody>
          <a:bodyPr wrap="square" lIns="27432" rIns="27432" tIns="27432" bIns="27432" anchor="ctr">
            <a:spAutoFit/>
          </a:bodyPr>
          <a:lstStyle/>
          <a:p>
            <a:pPr algn="l">
              <a:lnSpc>
                <a:spcPct val="108000"/>
              </a:lnSpc>
              <a:spcAft>
                <a:spcPts val="0"/>
              </a:spcAft>
            </a:pPr>
            <a:r>
              <a:rPr sz="1100" b="1">
                <a:solidFill>
                  <a:srgbClr val="FFFFFF"/>
                </a:solidFill>
                <a:latin typeface="Aptos"/>
              </a:rPr>
              <a:t>MASTER + TAXONOMY</a:t>
            </a:r>
          </a:p>
        </p:txBody>
      </p:sp>
      <p:sp>
        <p:nvSpPr>
          <p:cNvPr id="15" name="Rounded Rectangle 14"/>
          <p:cNvSpPr/>
          <p:nvPr/>
        </p:nvSpPr>
        <p:spPr>
          <a:xfrm>
            <a:off x="5157216" y="3886200"/>
            <a:ext cx="1874519" cy="329184"/>
          </a:xfrm>
          <a:prstGeom prst="roundRect">
            <a:avLst>
              <a:gd name="adj" fmla="val 18000"/>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30368" y="3886200"/>
            <a:ext cx="1728216" cy="329184"/>
          </a:xfrm>
          <a:prstGeom prst="rect">
            <a:avLst/>
          </a:prstGeom>
          <a:noFill/>
        </p:spPr>
        <p:txBody>
          <a:bodyPr wrap="square" lIns="27432" rIns="27432" tIns="27432" bIns="27432" anchor="ctr">
            <a:spAutoFit/>
          </a:bodyPr>
          <a:lstStyle/>
          <a:p>
            <a:pPr algn="l">
              <a:lnSpc>
                <a:spcPct val="108000"/>
              </a:lnSpc>
              <a:spcAft>
                <a:spcPts val="0"/>
              </a:spcAft>
            </a:pPr>
            <a:r>
              <a:rPr sz="1100" b="1">
                <a:solidFill>
                  <a:srgbClr val="FFFFFF"/>
                </a:solidFill>
                <a:latin typeface="Aptos"/>
              </a:rPr>
              <a:t>NL2SQL + CHART</a:t>
            </a:r>
          </a:p>
        </p:txBody>
      </p:sp>
      <p:sp>
        <p:nvSpPr>
          <p:cNvPr id="17" name="TextBox 16"/>
          <p:cNvSpPr txBox="1"/>
          <p:nvPr/>
        </p:nvSpPr>
        <p:spPr>
          <a:xfrm>
            <a:off x="768096" y="4937760"/>
            <a:ext cx="8686800" cy="411480"/>
          </a:xfrm>
          <a:prstGeom prst="rect">
            <a:avLst/>
          </a:prstGeom>
          <a:noFill/>
        </p:spPr>
        <p:txBody>
          <a:bodyPr wrap="square" lIns="27432" rIns="27432" tIns="27432" bIns="27432" anchor="ctr">
            <a:spAutoFit/>
          </a:bodyPr>
          <a:lstStyle/>
          <a:p>
            <a:pPr algn="l">
              <a:lnSpc>
                <a:spcPct val="108000"/>
              </a:lnSpc>
              <a:spcAft>
                <a:spcPts val="0"/>
              </a:spcAft>
            </a:pPr>
            <a:r>
              <a:rPr sz="1500" b="0">
                <a:solidFill>
                  <a:srgbClr val="CCEEE2"/>
                </a:solidFill>
                <a:latin typeface="Aptos"/>
              </a:rPr>
              <a:t>Oktober 2026  |  Gambaran bisnis dan proses penggunaan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38328"/>
            <a:ext cx="9601200" cy="256032"/>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096752"/>
                </a:solidFill>
                <a:latin typeface="Aptos"/>
              </a:rPr>
              <a:t>LATAR BELAKANG</a:t>
            </a:r>
          </a:p>
        </p:txBody>
      </p:sp>
      <p:sp>
        <p:nvSpPr>
          <p:cNvPr id="4" name="TextBox 3"/>
          <p:cNvSpPr txBox="1"/>
          <p:nvPr/>
        </p:nvSpPr>
        <p:spPr>
          <a:xfrm>
            <a:off x="658368" y="713232"/>
            <a:ext cx="10835640" cy="621792"/>
          </a:xfrm>
          <a:prstGeom prst="rect">
            <a:avLst/>
          </a:prstGeom>
          <a:noFill/>
        </p:spPr>
        <p:txBody>
          <a:bodyPr wrap="square" lIns="27432" rIns="27432" tIns="27432" bIns="27432" anchor="ctr">
            <a:spAutoFit/>
          </a:bodyPr>
          <a:lstStyle/>
          <a:p>
            <a:pPr algn="l">
              <a:lnSpc>
                <a:spcPct val="108000"/>
              </a:lnSpc>
              <a:spcAft>
                <a:spcPts val="0"/>
              </a:spcAft>
            </a:pPr>
            <a:r>
              <a:rPr sz="2800" b="1">
                <a:solidFill>
                  <a:srgbClr val="1A2F37"/>
                </a:solidFill>
                <a:latin typeface="Aptos"/>
              </a:rPr>
              <a:t>Mengapa aplikasi ini dibutuhkan?</a:t>
            </a:r>
          </a:p>
        </p:txBody>
      </p:sp>
      <p:sp>
        <p:nvSpPr>
          <p:cNvPr id="5" name="TextBox 4"/>
          <p:cNvSpPr txBox="1"/>
          <p:nvPr/>
        </p:nvSpPr>
        <p:spPr>
          <a:xfrm>
            <a:off x="685800" y="1362456"/>
            <a:ext cx="10744200" cy="438912"/>
          </a:xfrm>
          <a:prstGeom prst="rect">
            <a:avLst/>
          </a:prstGeom>
          <a:noFill/>
        </p:spPr>
        <p:txBody>
          <a:bodyPr wrap="square" lIns="27432" rIns="27432" tIns="27432" bIns="27432" anchor="ctr">
            <a:spAutoFit/>
          </a:bodyPr>
          <a:lstStyle/>
          <a:p>
            <a:pPr algn="l">
              <a:lnSpc>
                <a:spcPct val="108000"/>
              </a:lnSpc>
              <a:spcAft>
                <a:spcPts val="0"/>
              </a:spcAft>
            </a:pPr>
            <a:r>
              <a:rPr sz="1300" b="0">
                <a:solidFill>
                  <a:srgbClr val="586C71"/>
                </a:solidFill>
                <a:latin typeface="Aptos"/>
              </a:rPr>
              <a:t>Spreadsheet mudah dipakai, tetapi semakin sulit dipercaya ketika jumlah sumber dan pengguna bertambah.</a:t>
            </a:r>
          </a:p>
        </p:txBody>
      </p:sp>
      <p:cxnSp>
        <p:nvCxnSpPr>
          <p:cNvPr id="6" name="Connector 5"/>
          <p:cNvCxnSpPr/>
          <p:nvPr/>
        </p:nvCxnSpPr>
        <p:spPr>
          <a:xfrm>
            <a:off x="676656" y="6492240"/>
            <a:ext cx="10799064" cy="0"/>
          </a:xfrm>
          <a:prstGeom prst="line">
            <a:avLst/>
          </a:prstGeom>
          <a:ln w="16510">
            <a:solidFill>
              <a:srgbClr val="DBE6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 y="6537960"/>
            <a:ext cx="7132320" cy="164592"/>
          </a:xfrm>
          <a:prstGeom prst="rect">
            <a:avLst/>
          </a:prstGeom>
          <a:noFill/>
        </p:spPr>
        <p:txBody>
          <a:bodyPr wrap="square" lIns="27432" rIns="27432" tIns="27432" bIns="27432" anchor="ctr">
            <a:spAutoFit/>
          </a:bodyPr>
          <a:lstStyle/>
          <a:p>
            <a:pPr algn="l">
              <a:lnSpc>
                <a:spcPct val="108000"/>
              </a:lnSpc>
              <a:spcAft>
                <a:spcPts val="0"/>
              </a:spcAft>
            </a:pPr>
            <a:r>
              <a:rPr sz="850" b="0">
                <a:solidFill>
                  <a:srgbClr val="586C71"/>
                </a:solidFill>
                <a:latin typeface="Aptos"/>
              </a:rPr>
              <a:t>GOOGLE SHEET AI  ·  TINJAUAN APLIKASI</a:t>
            </a:r>
          </a:p>
        </p:txBody>
      </p:sp>
      <p:sp>
        <p:nvSpPr>
          <p:cNvPr id="8" name="TextBox 7"/>
          <p:cNvSpPr txBox="1"/>
          <p:nvPr/>
        </p:nvSpPr>
        <p:spPr>
          <a:xfrm>
            <a:off x="10972800" y="6519672"/>
            <a:ext cx="502920" cy="192024"/>
          </a:xfrm>
          <a:prstGeom prst="rect">
            <a:avLst/>
          </a:prstGeom>
          <a:noFill/>
        </p:spPr>
        <p:txBody>
          <a:bodyPr wrap="square" lIns="27432" rIns="27432" tIns="27432" bIns="27432" anchor="ctr">
            <a:spAutoFit/>
          </a:bodyPr>
          <a:lstStyle/>
          <a:p>
            <a:pPr algn="r">
              <a:lnSpc>
                <a:spcPct val="108000"/>
              </a:lnSpc>
              <a:spcAft>
                <a:spcPts val="0"/>
              </a:spcAft>
            </a:pPr>
            <a:r>
              <a:rPr sz="950" b="0">
                <a:solidFill>
                  <a:srgbClr val="586C71"/>
                </a:solidFill>
                <a:latin typeface="Aptos"/>
              </a:rPr>
              <a:t>02</a:t>
            </a:r>
          </a:p>
        </p:txBody>
      </p:sp>
      <p:sp>
        <p:nvSpPr>
          <p:cNvPr id="9" name="Rounded Rectangle 8"/>
          <p:cNvSpPr/>
          <p:nvPr/>
        </p:nvSpPr>
        <p:spPr>
          <a:xfrm>
            <a:off x="658368" y="2103120"/>
            <a:ext cx="2212848" cy="2057400"/>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8" y="2304288"/>
            <a:ext cx="54864" cy="1655064"/>
          </a:xfrm>
          <a:prstGeom prst="roundRect">
            <a:avLst>
              <a:gd name="adj" fmla="val 18000"/>
            </a:avLst>
          </a:prstGeom>
          <a:solidFill>
            <a:srgbClr val="CF8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2286000"/>
            <a:ext cx="1792224" cy="475488"/>
          </a:xfrm>
          <a:prstGeom prst="rect">
            <a:avLst/>
          </a:prstGeom>
          <a:noFill/>
        </p:spPr>
        <p:txBody>
          <a:bodyPr wrap="square" lIns="27432" rIns="27432" tIns="27432" bIns="27432" anchor="ctr">
            <a:spAutoFit/>
          </a:bodyPr>
          <a:lstStyle/>
          <a:p>
            <a:pPr algn="l">
              <a:lnSpc>
                <a:spcPct val="108000"/>
              </a:lnSpc>
              <a:spcAft>
                <a:spcPts val="0"/>
              </a:spcAft>
            </a:pPr>
            <a:r>
              <a:rPr sz="1600" b="1">
                <a:solidFill>
                  <a:srgbClr val="1A2F37"/>
                </a:solidFill>
                <a:latin typeface="Aptos"/>
              </a:rPr>
              <a:t>Sumber tersebar</a:t>
            </a:r>
          </a:p>
        </p:txBody>
      </p:sp>
      <p:sp>
        <p:nvSpPr>
          <p:cNvPr id="12" name="TextBox 11"/>
          <p:cNvSpPr txBox="1"/>
          <p:nvPr/>
        </p:nvSpPr>
        <p:spPr>
          <a:xfrm>
            <a:off x="877824" y="2816352"/>
            <a:ext cx="1773936" cy="1161288"/>
          </a:xfrm>
          <a:prstGeom prst="rect">
            <a:avLst/>
          </a:prstGeom>
          <a:noFill/>
        </p:spPr>
        <p:txBody>
          <a:bodyPr wrap="square" lIns="27432" rIns="27432" tIns="27432" bIns="27432" anchor="t">
            <a:spAutoFit/>
          </a:bodyPr>
          <a:lstStyle/>
          <a:p>
            <a:pPr algn="l">
              <a:lnSpc>
                <a:spcPct val="120000"/>
              </a:lnSpc>
              <a:spcAft>
                <a:spcPts val="0"/>
              </a:spcAft>
            </a:pPr>
            <a:r>
              <a:rPr sz="1200" b="0">
                <a:solidFill>
                  <a:srgbClr val="586C71"/>
                </a:solidFill>
                <a:latin typeface="Aptos"/>
              </a:rPr>
              <a:t>Banyak file, tab, versi, dan pemilik yang berbeda.</a:t>
            </a:r>
          </a:p>
        </p:txBody>
      </p:sp>
      <p:sp>
        <p:nvSpPr>
          <p:cNvPr id="13" name="Rounded Rectangle 12"/>
          <p:cNvSpPr/>
          <p:nvPr/>
        </p:nvSpPr>
        <p:spPr>
          <a:xfrm>
            <a:off x="3547872" y="2103120"/>
            <a:ext cx="2212848" cy="2057400"/>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547872" y="2304288"/>
            <a:ext cx="54864" cy="1655064"/>
          </a:xfrm>
          <a:prstGeom prst="roundRect">
            <a:avLst>
              <a:gd name="adj" fmla="val 18000"/>
            </a:avLst>
          </a:prstGeom>
          <a:solidFill>
            <a:srgbClr val="CF8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67328" y="2286000"/>
            <a:ext cx="1792224" cy="475488"/>
          </a:xfrm>
          <a:prstGeom prst="rect">
            <a:avLst/>
          </a:prstGeom>
          <a:noFill/>
        </p:spPr>
        <p:txBody>
          <a:bodyPr wrap="square" lIns="27432" rIns="27432" tIns="27432" bIns="27432" anchor="ctr">
            <a:spAutoFit/>
          </a:bodyPr>
          <a:lstStyle/>
          <a:p>
            <a:pPr algn="l">
              <a:lnSpc>
                <a:spcPct val="108000"/>
              </a:lnSpc>
              <a:spcAft>
                <a:spcPts val="0"/>
              </a:spcAft>
            </a:pPr>
            <a:r>
              <a:rPr sz="1600" b="1">
                <a:solidFill>
                  <a:srgbClr val="1A2F37"/>
                </a:solidFill>
                <a:latin typeface="Aptos"/>
              </a:rPr>
              <a:t>Arti data berbeda</a:t>
            </a:r>
          </a:p>
        </p:txBody>
      </p:sp>
      <p:sp>
        <p:nvSpPr>
          <p:cNvPr id="16" name="TextBox 15"/>
          <p:cNvSpPr txBox="1"/>
          <p:nvPr/>
        </p:nvSpPr>
        <p:spPr>
          <a:xfrm>
            <a:off x="3767328" y="2816352"/>
            <a:ext cx="1773936" cy="1161288"/>
          </a:xfrm>
          <a:prstGeom prst="rect">
            <a:avLst/>
          </a:prstGeom>
          <a:noFill/>
        </p:spPr>
        <p:txBody>
          <a:bodyPr wrap="square" lIns="27432" rIns="27432" tIns="27432" bIns="27432" anchor="t">
            <a:spAutoFit/>
          </a:bodyPr>
          <a:lstStyle/>
          <a:p>
            <a:pPr algn="l">
              <a:lnSpc>
                <a:spcPct val="120000"/>
              </a:lnSpc>
              <a:spcAft>
                <a:spcPts val="0"/>
              </a:spcAft>
            </a:pPr>
            <a:r>
              <a:rPr sz="1200" b="0">
                <a:solidFill>
                  <a:srgbClr val="586C71"/>
                </a:solidFill>
                <a:latin typeface="Aptos"/>
              </a:rPr>
              <a:t>Nama kolom mirip dapat berarti hal yang berlainan.</a:t>
            </a:r>
          </a:p>
        </p:txBody>
      </p:sp>
      <p:sp>
        <p:nvSpPr>
          <p:cNvPr id="17" name="Rounded Rectangle 16"/>
          <p:cNvSpPr/>
          <p:nvPr/>
        </p:nvSpPr>
        <p:spPr>
          <a:xfrm>
            <a:off x="6437376" y="2103120"/>
            <a:ext cx="2212848" cy="2057400"/>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37376" y="2304288"/>
            <a:ext cx="54864" cy="1655064"/>
          </a:xfrm>
          <a:prstGeom prst="roundRect">
            <a:avLst>
              <a:gd name="adj" fmla="val 18000"/>
            </a:avLst>
          </a:prstGeom>
          <a:solidFill>
            <a:srgbClr val="CF8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56832" y="2286000"/>
            <a:ext cx="1792224" cy="475488"/>
          </a:xfrm>
          <a:prstGeom prst="rect">
            <a:avLst/>
          </a:prstGeom>
          <a:noFill/>
        </p:spPr>
        <p:txBody>
          <a:bodyPr wrap="square" lIns="27432" rIns="27432" tIns="27432" bIns="27432" anchor="ctr">
            <a:spAutoFit/>
          </a:bodyPr>
          <a:lstStyle/>
          <a:p>
            <a:pPr algn="l">
              <a:lnSpc>
                <a:spcPct val="108000"/>
              </a:lnSpc>
              <a:spcAft>
                <a:spcPts val="0"/>
              </a:spcAft>
            </a:pPr>
            <a:r>
              <a:rPr sz="1600" b="1">
                <a:solidFill>
                  <a:srgbClr val="1A2F37"/>
                </a:solidFill>
                <a:latin typeface="Aptos"/>
              </a:rPr>
              <a:t>Kontrol manual</a:t>
            </a:r>
          </a:p>
        </p:txBody>
      </p:sp>
      <p:sp>
        <p:nvSpPr>
          <p:cNvPr id="20" name="TextBox 19"/>
          <p:cNvSpPr txBox="1"/>
          <p:nvPr/>
        </p:nvSpPr>
        <p:spPr>
          <a:xfrm>
            <a:off x="6656832" y="2816352"/>
            <a:ext cx="1773936" cy="1161288"/>
          </a:xfrm>
          <a:prstGeom prst="rect">
            <a:avLst/>
          </a:prstGeom>
          <a:noFill/>
        </p:spPr>
        <p:txBody>
          <a:bodyPr wrap="square" lIns="27432" rIns="27432" tIns="27432" bIns="27432" anchor="t">
            <a:spAutoFit/>
          </a:bodyPr>
          <a:lstStyle/>
          <a:p>
            <a:pPr algn="l">
              <a:lnSpc>
                <a:spcPct val="120000"/>
              </a:lnSpc>
              <a:spcAft>
                <a:spcPts val="0"/>
              </a:spcAft>
            </a:pPr>
            <a:r>
              <a:rPr sz="1200" b="0">
                <a:solidFill>
                  <a:srgbClr val="586C71"/>
                </a:solidFill>
                <a:latin typeface="Aptos"/>
              </a:rPr>
              <a:t>Validasi, izin, dan perubahan sering bergantung pada orang.</a:t>
            </a:r>
          </a:p>
        </p:txBody>
      </p:sp>
      <p:sp>
        <p:nvSpPr>
          <p:cNvPr id="21" name="Rounded Rectangle 20"/>
          <p:cNvSpPr/>
          <p:nvPr/>
        </p:nvSpPr>
        <p:spPr>
          <a:xfrm>
            <a:off x="9326880" y="2103120"/>
            <a:ext cx="2212848" cy="2057400"/>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326880" y="2304288"/>
            <a:ext cx="54864" cy="1655064"/>
          </a:xfrm>
          <a:prstGeom prst="roundRect">
            <a:avLst>
              <a:gd name="adj" fmla="val 18000"/>
            </a:avLst>
          </a:prstGeom>
          <a:solidFill>
            <a:srgbClr val="CF8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46336" y="2286000"/>
            <a:ext cx="1792224" cy="475488"/>
          </a:xfrm>
          <a:prstGeom prst="rect">
            <a:avLst/>
          </a:prstGeom>
          <a:noFill/>
        </p:spPr>
        <p:txBody>
          <a:bodyPr wrap="square" lIns="27432" rIns="27432" tIns="27432" bIns="27432" anchor="ctr">
            <a:spAutoFit/>
          </a:bodyPr>
          <a:lstStyle/>
          <a:p>
            <a:pPr algn="l">
              <a:lnSpc>
                <a:spcPct val="108000"/>
              </a:lnSpc>
              <a:spcAft>
                <a:spcPts val="0"/>
              </a:spcAft>
            </a:pPr>
            <a:r>
              <a:rPr sz="1600" b="1">
                <a:solidFill>
                  <a:srgbClr val="1A2F37"/>
                </a:solidFill>
                <a:latin typeface="Aptos"/>
              </a:rPr>
              <a:t>Insight lambat</a:t>
            </a:r>
          </a:p>
        </p:txBody>
      </p:sp>
      <p:sp>
        <p:nvSpPr>
          <p:cNvPr id="24" name="TextBox 23"/>
          <p:cNvSpPr txBox="1"/>
          <p:nvPr/>
        </p:nvSpPr>
        <p:spPr>
          <a:xfrm>
            <a:off x="9546336" y="2816352"/>
            <a:ext cx="1773936" cy="1161288"/>
          </a:xfrm>
          <a:prstGeom prst="rect">
            <a:avLst/>
          </a:prstGeom>
          <a:noFill/>
        </p:spPr>
        <p:txBody>
          <a:bodyPr wrap="square" lIns="27432" rIns="27432" tIns="27432" bIns="27432" anchor="t">
            <a:spAutoFit/>
          </a:bodyPr>
          <a:lstStyle/>
          <a:p>
            <a:pPr algn="l">
              <a:lnSpc>
                <a:spcPct val="120000"/>
              </a:lnSpc>
              <a:spcAft>
                <a:spcPts val="0"/>
              </a:spcAft>
            </a:pPr>
            <a:r>
              <a:rPr sz="1200" b="0">
                <a:solidFill>
                  <a:srgbClr val="586C71"/>
                </a:solidFill>
                <a:latin typeface="Aptos"/>
              </a:rPr>
              <a:t>Laporan dan chart harus disusun berulang.</a:t>
            </a:r>
          </a:p>
        </p:txBody>
      </p:sp>
      <p:sp>
        <p:nvSpPr>
          <p:cNvPr id="25" name="Rounded Rectangle 24"/>
          <p:cNvSpPr/>
          <p:nvPr/>
        </p:nvSpPr>
        <p:spPr>
          <a:xfrm>
            <a:off x="1005840" y="4754880"/>
            <a:ext cx="10149840" cy="758952"/>
          </a:xfrm>
          <a:prstGeom prst="roundRect">
            <a:avLst>
              <a:gd name="adj" fmla="val 18000"/>
            </a:avLst>
          </a:prstGeom>
          <a:solidFill>
            <a:srgbClr val="0C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07592" y="4864608"/>
            <a:ext cx="9601200" cy="548640"/>
          </a:xfrm>
          <a:prstGeom prst="rect">
            <a:avLst/>
          </a:prstGeom>
          <a:noFill/>
        </p:spPr>
        <p:txBody>
          <a:bodyPr wrap="square" lIns="27432" rIns="27432" tIns="27432" bIns="27432" anchor="ctr">
            <a:spAutoFit/>
          </a:bodyPr>
          <a:lstStyle/>
          <a:p>
            <a:pPr algn="ctr">
              <a:lnSpc>
                <a:spcPct val="108000"/>
              </a:lnSpc>
              <a:spcAft>
                <a:spcPts val="0"/>
              </a:spcAft>
            </a:pPr>
            <a:r>
              <a:rPr sz="1700" b="1">
                <a:solidFill>
                  <a:srgbClr val="FFFFFF"/>
                </a:solidFill>
                <a:latin typeface="Aptos"/>
              </a:rPr>
              <a:t>Kebutuhan utama: satu jalur yang menambah konteks, kualitas, persetujuan, dan akses sebelum data dipakai.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38328"/>
            <a:ext cx="9601200" cy="256032"/>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096752"/>
                </a:solidFill>
                <a:latin typeface="Aptos"/>
              </a:rPr>
              <a:t>TUJUAN</a:t>
            </a:r>
          </a:p>
        </p:txBody>
      </p:sp>
      <p:sp>
        <p:nvSpPr>
          <p:cNvPr id="4" name="TextBox 3"/>
          <p:cNvSpPr txBox="1"/>
          <p:nvPr/>
        </p:nvSpPr>
        <p:spPr>
          <a:xfrm>
            <a:off x="658368" y="713232"/>
            <a:ext cx="10835640" cy="621792"/>
          </a:xfrm>
          <a:prstGeom prst="rect">
            <a:avLst/>
          </a:prstGeom>
          <a:noFill/>
        </p:spPr>
        <p:txBody>
          <a:bodyPr wrap="square" lIns="27432" rIns="27432" tIns="27432" bIns="27432" anchor="ctr">
            <a:spAutoFit/>
          </a:bodyPr>
          <a:lstStyle/>
          <a:p>
            <a:pPr algn="l">
              <a:lnSpc>
                <a:spcPct val="108000"/>
              </a:lnSpc>
              <a:spcAft>
                <a:spcPts val="0"/>
              </a:spcAft>
            </a:pPr>
            <a:r>
              <a:rPr sz="2800" b="1">
                <a:solidFill>
                  <a:srgbClr val="1A2F37"/>
                </a:solidFill>
                <a:latin typeface="Aptos"/>
              </a:rPr>
              <a:t>Empat hasil yang ingin dicapai</a:t>
            </a:r>
          </a:p>
        </p:txBody>
      </p:sp>
      <p:cxnSp>
        <p:nvCxnSpPr>
          <p:cNvPr id="5" name="Connector 4"/>
          <p:cNvCxnSpPr/>
          <p:nvPr/>
        </p:nvCxnSpPr>
        <p:spPr>
          <a:xfrm>
            <a:off x="676656" y="6492240"/>
            <a:ext cx="10799064" cy="0"/>
          </a:xfrm>
          <a:prstGeom prst="line">
            <a:avLst/>
          </a:prstGeom>
          <a:ln w="16510">
            <a:solidFill>
              <a:srgbClr val="DBE6E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76656" y="6537960"/>
            <a:ext cx="7132320" cy="164592"/>
          </a:xfrm>
          <a:prstGeom prst="rect">
            <a:avLst/>
          </a:prstGeom>
          <a:noFill/>
        </p:spPr>
        <p:txBody>
          <a:bodyPr wrap="square" lIns="27432" rIns="27432" tIns="27432" bIns="27432" anchor="ctr">
            <a:spAutoFit/>
          </a:bodyPr>
          <a:lstStyle/>
          <a:p>
            <a:pPr algn="l">
              <a:lnSpc>
                <a:spcPct val="108000"/>
              </a:lnSpc>
              <a:spcAft>
                <a:spcPts val="0"/>
              </a:spcAft>
            </a:pPr>
            <a:r>
              <a:rPr sz="850" b="0">
                <a:solidFill>
                  <a:srgbClr val="586C71"/>
                </a:solidFill>
                <a:latin typeface="Aptos"/>
              </a:rPr>
              <a:t>GOOGLE SHEET AI  ·  TINJAUAN APLIKASI</a:t>
            </a:r>
          </a:p>
        </p:txBody>
      </p:sp>
      <p:sp>
        <p:nvSpPr>
          <p:cNvPr id="7" name="TextBox 6"/>
          <p:cNvSpPr txBox="1"/>
          <p:nvPr/>
        </p:nvSpPr>
        <p:spPr>
          <a:xfrm>
            <a:off x="10972800" y="6519672"/>
            <a:ext cx="502920" cy="192024"/>
          </a:xfrm>
          <a:prstGeom prst="rect">
            <a:avLst/>
          </a:prstGeom>
          <a:noFill/>
        </p:spPr>
        <p:txBody>
          <a:bodyPr wrap="square" lIns="27432" rIns="27432" tIns="27432" bIns="27432" anchor="ctr">
            <a:spAutoFit/>
          </a:bodyPr>
          <a:lstStyle/>
          <a:p>
            <a:pPr algn="r">
              <a:lnSpc>
                <a:spcPct val="108000"/>
              </a:lnSpc>
              <a:spcAft>
                <a:spcPts val="0"/>
              </a:spcAft>
            </a:pPr>
            <a:r>
              <a:rPr sz="950" b="0">
                <a:solidFill>
                  <a:srgbClr val="586C71"/>
                </a:solidFill>
                <a:latin typeface="Aptos"/>
              </a:rPr>
              <a:t>03</a:t>
            </a:r>
          </a:p>
        </p:txBody>
      </p:sp>
      <p:sp>
        <p:nvSpPr>
          <p:cNvPr id="8" name="Rounded Rectangle 7"/>
          <p:cNvSpPr/>
          <p:nvPr/>
        </p:nvSpPr>
        <p:spPr>
          <a:xfrm>
            <a:off x="731520" y="1874519"/>
            <a:ext cx="5212080" cy="1572768"/>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093976"/>
            <a:ext cx="612648" cy="612648"/>
          </a:xfrm>
          <a:prstGeom prst="ellipse">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176272"/>
            <a:ext cx="512064" cy="347472"/>
          </a:xfrm>
          <a:prstGeom prst="rect">
            <a:avLst/>
          </a:prstGeom>
          <a:noFill/>
        </p:spPr>
        <p:txBody>
          <a:bodyPr wrap="square" lIns="27432" rIns="27432" tIns="27432" bIns="27432" anchor="ctr">
            <a:spAutoFit/>
          </a:bodyPr>
          <a:lstStyle/>
          <a:p>
            <a:pPr algn="ctr">
              <a:lnSpc>
                <a:spcPct val="108000"/>
              </a:lnSpc>
              <a:spcAft>
                <a:spcPts val="0"/>
              </a:spcAft>
            </a:pPr>
            <a:r>
              <a:rPr sz="1400" b="1">
                <a:solidFill>
                  <a:srgbClr val="096752"/>
                </a:solidFill>
                <a:latin typeface="Aptos"/>
              </a:rPr>
              <a:t>01</a:t>
            </a:r>
          </a:p>
        </p:txBody>
      </p:sp>
      <p:sp>
        <p:nvSpPr>
          <p:cNvPr id="11" name="TextBox 10"/>
          <p:cNvSpPr txBox="1"/>
          <p:nvPr/>
        </p:nvSpPr>
        <p:spPr>
          <a:xfrm>
            <a:off x="1719072" y="2075688"/>
            <a:ext cx="3931920" cy="475488"/>
          </a:xfrm>
          <a:prstGeom prst="rect">
            <a:avLst/>
          </a:prstGeom>
          <a:noFill/>
        </p:spPr>
        <p:txBody>
          <a:bodyPr wrap="square" lIns="27432" rIns="27432" tIns="27432" bIns="27432" anchor="ctr">
            <a:spAutoFit/>
          </a:bodyPr>
          <a:lstStyle/>
          <a:p>
            <a:pPr algn="l">
              <a:lnSpc>
                <a:spcPct val="108000"/>
              </a:lnSpc>
              <a:spcAft>
                <a:spcPts val="0"/>
              </a:spcAft>
            </a:pPr>
            <a:r>
              <a:rPr sz="1800" b="1">
                <a:solidFill>
                  <a:srgbClr val="1A2F37"/>
                </a:solidFill>
                <a:latin typeface="Aptos"/>
              </a:rPr>
              <a:t>Data tepercaya</a:t>
            </a:r>
          </a:p>
        </p:txBody>
      </p:sp>
      <p:sp>
        <p:nvSpPr>
          <p:cNvPr id="12" name="TextBox 11"/>
          <p:cNvSpPr txBox="1"/>
          <p:nvPr/>
        </p:nvSpPr>
        <p:spPr>
          <a:xfrm>
            <a:off x="1719072" y="2633472"/>
            <a:ext cx="3913632" cy="502920"/>
          </a:xfrm>
          <a:prstGeom prst="rect">
            <a:avLst/>
          </a:prstGeom>
          <a:noFill/>
        </p:spPr>
        <p:txBody>
          <a:bodyPr wrap="square" lIns="27432" rIns="27432" tIns="27432" bIns="27432" anchor="ctr">
            <a:spAutoFit/>
          </a:bodyPr>
          <a:lstStyle/>
          <a:p>
            <a:pPr algn="l">
              <a:lnSpc>
                <a:spcPct val="108000"/>
              </a:lnSpc>
              <a:spcAft>
                <a:spcPts val="0"/>
              </a:spcAft>
            </a:pPr>
            <a:r>
              <a:rPr sz="1300" b="0">
                <a:solidFill>
                  <a:srgbClr val="586C71"/>
                </a:solidFill>
                <a:latin typeface="Aptos"/>
              </a:rPr>
              <a:t>Profiling, klasifikasi, validasi, preview, dan persetujuan.</a:t>
            </a:r>
          </a:p>
        </p:txBody>
      </p:sp>
      <p:sp>
        <p:nvSpPr>
          <p:cNvPr id="13" name="Rounded Rectangle 12"/>
          <p:cNvSpPr/>
          <p:nvPr/>
        </p:nvSpPr>
        <p:spPr>
          <a:xfrm>
            <a:off x="6245352" y="1874519"/>
            <a:ext cx="5212080" cy="1572768"/>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6520" y="2093976"/>
            <a:ext cx="612648" cy="612648"/>
          </a:xfrm>
          <a:prstGeom prst="ellipse">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1384" y="2176272"/>
            <a:ext cx="512064" cy="347472"/>
          </a:xfrm>
          <a:prstGeom prst="rect">
            <a:avLst/>
          </a:prstGeom>
          <a:noFill/>
        </p:spPr>
        <p:txBody>
          <a:bodyPr wrap="square" lIns="27432" rIns="27432" tIns="27432" bIns="27432" anchor="ctr">
            <a:spAutoFit/>
          </a:bodyPr>
          <a:lstStyle/>
          <a:p>
            <a:pPr algn="ctr">
              <a:lnSpc>
                <a:spcPct val="108000"/>
              </a:lnSpc>
              <a:spcAft>
                <a:spcPts val="0"/>
              </a:spcAft>
            </a:pPr>
            <a:r>
              <a:rPr sz="1400" b="1">
                <a:solidFill>
                  <a:srgbClr val="096752"/>
                </a:solidFill>
                <a:latin typeface="Aptos"/>
              </a:rPr>
              <a:t>02</a:t>
            </a:r>
          </a:p>
        </p:txBody>
      </p:sp>
      <p:sp>
        <p:nvSpPr>
          <p:cNvPr id="16" name="TextBox 15"/>
          <p:cNvSpPr txBox="1"/>
          <p:nvPr/>
        </p:nvSpPr>
        <p:spPr>
          <a:xfrm>
            <a:off x="7232904" y="2075688"/>
            <a:ext cx="3931920" cy="475488"/>
          </a:xfrm>
          <a:prstGeom prst="rect">
            <a:avLst/>
          </a:prstGeom>
          <a:noFill/>
        </p:spPr>
        <p:txBody>
          <a:bodyPr wrap="square" lIns="27432" rIns="27432" tIns="27432" bIns="27432" anchor="ctr">
            <a:spAutoFit/>
          </a:bodyPr>
          <a:lstStyle/>
          <a:p>
            <a:pPr algn="l">
              <a:lnSpc>
                <a:spcPct val="108000"/>
              </a:lnSpc>
              <a:spcAft>
                <a:spcPts val="0"/>
              </a:spcAft>
            </a:pPr>
            <a:r>
              <a:rPr sz="1800" b="1">
                <a:solidFill>
                  <a:srgbClr val="1A2F37"/>
                </a:solidFill>
                <a:latin typeface="Aptos"/>
              </a:rPr>
              <a:t>Makna konsisten</a:t>
            </a:r>
          </a:p>
        </p:txBody>
      </p:sp>
      <p:sp>
        <p:nvSpPr>
          <p:cNvPr id="17" name="TextBox 16"/>
          <p:cNvSpPr txBox="1"/>
          <p:nvPr/>
        </p:nvSpPr>
        <p:spPr>
          <a:xfrm>
            <a:off x="7232904" y="2633472"/>
            <a:ext cx="3913632" cy="502920"/>
          </a:xfrm>
          <a:prstGeom prst="rect">
            <a:avLst/>
          </a:prstGeom>
          <a:noFill/>
        </p:spPr>
        <p:txBody>
          <a:bodyPr wrap="square" lIns="27432" rIns="27432" tIns="27432" bIns="27432" anchor="ctr">
            <a:spAutoFit/>
          </a:bodyPr>
          <a:lstStyle/>
          <a:p>
            <a:pPr algn="l">
              <a:lnSpc>
                <a:spcPct val="108000"/>
              </a:lnSpc>
              <a:spcAft>
                <a:spcPts val="0"/>
              </a:spcAft>
            </a:pPr>
            <a:r>
              <a:rPr sz="1300" b="0">
                <a:solidFill>
                  <a:srgbClr val="586C71"/>
                </a:solidFill>
                <a:latin typeface="Aptos"/>
              </a:rPr>
              <a:t>Master, taxonomy, semantic product, metrik, dan dimensi.</a:t>
            </a:r>
          </a:p>
        </p:txBody>
      </p:sp>
      <p:sp>
        <p:nvSpPr>
          <p:cNvPr id="18" name="Rounded Rectangle 17"/>
          <p:cNvSpPr/>
          <p:nvPr/>
        </p:nvSpPr>
        <p:spPr>
          <a:xfrm>
            <a:off x="731520" y="3822191"/>
            <a:ext cx="5212080" cy="1572768"/>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688" y="4041648"/>
            <a:ext cx="612648" cy="612648"/>
          </a:xfrm>
          <a:prstGeom prst="ellipse">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4123944"/>
            <a:ext cx="512064" cy="347472"/>
          </a:xfrm>
          <a:prstGeom prst="rect">
            <a:avLst/>
          </a:prstGeom>
          <a:noFill/>
        </p:spPr>
        <p:txBody>
          <a:bodyPr wrap="square" lIns="27432" rIns="27432" tIns="27432" bIns="27432" anchor="ctr">
            <a:spAutoFit/>
          </a:bodyPr>
          <a:lstStyle/>
          <a:p>
            <a:pPr algn="ctr">
              <a:lnSpc>
                <a:spcPct val="108000"/>
              </a:lnSpc>
              <a:spcAft>
                <a:spcPts val="0"/>
              </a:spcAft>
            </a:pPr>
            <a:r>
              <a:rPr sz="1400" b="1">
                <a:solidFill>
                  <a:srgbClr val="096752"/>
                </a:solidFill>
                <a:latin typeface="Aptos"/>
              </a:rPr>
              <a:t>03</a:t>
            </a:r>
          </a:p>
        </p:txBody>
      </p:sp>
      <p:sp>
        <p:nvSpPr>
          <p:cNvPr id="21" name="TextBox 20"/>
          <p:cNvSpPr txBox="1"/>
          <p:nvPr/>
        </p:nvSpPr>
        <p:spPr>
          <a:xfrm>
            <a:off x="1719072" y="4023359"/>
            <a:ext cx="3931920" cy="475488"/>
          </a:xfrm>
          <a:prstGeom prst="rect">
            <a:avLst/>
          </a:prstGeom>
          <a:noFill/>
        </p:spPr>
        <p:txBody>
          <a:bodyPr wrap="square" lIns="27432" rIns="27432" tIns="27432" bIns="27432" anchor="ctr">
            <a:spAutoFit/>
          </a:bodyPr>
          <a:lstStyle/>
          <a:p>
            <a:pPr algn="l">
              <a:lnSpc>
                <a:spcPct val="108000"/>
              </a:lnSpc>
              <a:spcAft>
                <a:spcPts val="0"/>
              </a:spcAft>
            </a:pPr>
            <a:r>
              <a:rPr sz="1800" b="1">
                <a:solidFill>
                  <a:srgbClr val="1A2F37"/>
                </a:solidFill>
                <a:latin typeface="Aptos"/>
              </a:rPr>
              <a:t>Akses sesuai kewenangan</a:t>
            </a:r>
          </a:p>
        </p:txBody>
      </p:sp>
      <p:sp>
        <p:nvSpPr>
          <p:cNvPr id="22" name="TextBox 21"/>
          <p:cNvSpPr txBox="1"/>
          <p:nvPr/>
        </p:nvSpPr>
        <p:spPr>
          <a:xfrm>
            <a:off x="1719072" y="4581144"/>
            <a:ext cx="3913632" cy="502920"/>
          </a:xfrm>
          <a:prstGeom prst="rect">
            <a:avLst/>
          </a:prstGeom>
          <a:noFill/>
        </p:spPr>
        <p:txBody>
          <a:bodyPr wrap="square" lIns="27432" rIns="27432" tIns="27432" bIns="27432" anchor="ctr">
            <a:spAutoFit/>
          </a:bodyPr>
          <a:lstStyle/>
          <a:p>
            <a:pPr algn="l">
              <a:lnSpc>
                <a:spcPct val="108000"/>
              </a:lnSpc>
              <a:spcAft>
                <a:spcPts val="0"/>
              </a:spcAft>
            </a:pPr>
            <a:r>
              <a:rPr sz="1300" b="0">
                <a:solidFill>
                  <a:srgbClr val="586C71"/>
                </a:solidFill>
                <a:latin typeface="Aptos"/>
              </a:rPr>
              <a:t>Role, unit, domain, yurisdiksi, dan policy yang berlaku.</a:t>
            </a:r>
          </a:p>
        </p:txBody>
      </p:sp>
      <p:sp>
        <p:nvSpPr>
          <p:cNvPr id="23" name="Rounded Rectangle 22"/>
          <p:cNvSpPr/>
          <p:nvPr/>
        </p:nvSpPr>
        <p:spPr>
          <a:xfrm>
            <a:off x="6245352" y="3822191"/>
            <a:ext cx="5212080" cy="1572768"/>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6520" y="4041648"/>
            <a:ext cx="612648" cy="612648"/>
          </a:xfrm>
          <a:prstGeom prst="ellipse">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1384" y="4123944"/>
            <a:ext cx="512064" cy="347472"/>
          </a:xfrm>
          <a:prstGeom prst="rect">
            <a:avLst/>
          </a:prstGeom>
          <a:noFill/>
        </p:spPr>
        <p:txBody>
          <a:bodyPr wrap="square" lIns="27432" rIns="27432" tIns="27432" bIns="27432" anchor="ctr">
            <a:spAutoFit/>
          </a:bodyPr>
          <a:lstStyle/>
          <a:p>
            <a:pPr algn="ctr">
              <a:lnSpc>
                <a:spcPct val="108000"/>
              </a:lnSpc>
              <a:spcAft>
                <a:spcPts val="0"/>
              </a:spcAft>
            </a:pPr>
            <a:r>
              <a:rPr sz="1400" b="1">
                <a:solidFill>
                  <a:srgbClr val="096752"/>
                </a:solidFill>
                <a:latin typeface="Aptos"/>
              </a:rPr>
              <a:t>04</a:t>
            </a:r>
          </a:p>
        </p:txBody>
      </p:sp>
      <p:sp>
        <p:nvSpPr>
          <p:cNvPr id="26" name="TextBox 25"/>
          <p:cNvSpPr txBox="1"/>
          <p:nvPr/>
        </p:nvSpPr>
        <p:spPr>
          <a:xfrm>
            <a:off x="7232904" y="4023359"/>
            <a:ext cx="3931920" cy="475488"/>
          </a:xfrm>
          <a:prstGeom prst="rect">
            <a:avLst/>
          </a:prstGeom>
          <a:noFill/>
        </p:spPr>
        <p:txBody>
          <a:bodyPr wrap="square" lIns="27432" rIns="27432" tIns="27432" bIns="27432" anchor="ctr">
            <a:spAutoFit/>
          </a:bodyPr>
          <a:lstStyle/>
          <a:p>
            <a:pPr algn="l">
              <a:lnSpc>
                <a:spcPct val="108000"/>
              </a:lnSpc>
              <a:spcAft>
                <a:spcPts val="0"/>
              </a:spcAft>
            </a:pPr>
            <a:r>
              <a:rPr sz="1800" b="1">
                <a:solidFill>
                  <a:srgbClr val="1A2F37"/>
                </a:solidFill>
                <a:latin typeface="Aptos"/>
              </a:rPr>
              <a:t>Jawaban lebih cepat</a:t>
            </a:r>
          </a:p>
        </p:txBody>
      </p:sp>
      <p:sp>
        <p:nvSpPr>
          <p:cNvPr id="27" name="TextBox 26"/>
          <p:cNvSpPr txBox="1"/>
          <p:nvPr/>
        </p:nvSpPr>
        <p:spPr>
          <a:xfrm>
            <a:off x="7232904" y="4581144"/>
            <a:ext cx="3913632" cy="502920"/>
          </a:xfrm>
          <a:prstGeom prst="rect">
            <a:avLst/>
          </a:prstGeom>
          <a:noFill/>
        </p:spPr>
        <p:txBody>
          <a:bodyPr wrap="square" lIns="27432" rIns="27432" tIns="27432" bIns="27432" anchor="ctr">
            <a:spAutoFit/>
          </a:bodyPr>
          <a:lstStyle/>
          <a:p>
            <a:pPr algn="l">
              <a:lnSpc>
                <a:spcPct val="108000"/>
              </a:lnSpc>
              <a:spcAft>
                <a:spcPts val="0"/>
              </a:spcAft>
            </a:pPr>
            <a:r>
              <a:rPr sz="1300" b="0">
                <a:solidFill>
                  <a:srgbClr val="586C71"/>
                </a:solidFill>
                <a:latin typeface="Aptos"/>
              </a:rPr>
              <a:t>Pertanyaan bahasa alami, tabel, chart, dan bantuan 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38328"/>
            <a:ext cx="9601200" cy="256032"/>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096752"/>
                </a:solidFill>
                <a:latin typeface="Aptos"/>
              </a:rPr>
              <a:t>SYARAT AWAL</a:t>
            </a:r>
          </a:p>
        </p:txBody>
      </p:sp>
      <p:sp>
        <p:nvSpPr>
          <p:cNvPr id="4" name="TextBox 3"/>
          <p:cNvSpPr txBox="1"/>
          <p:nvPr/>
        </p:nvSpPr>
        <p:spPr>
          <a:xfrm>
            <a:off x="658368" y="713232"/>
            <a:ext cx="10835640" cy="621792"/>
          </a:xfrm>
          <a:prstGeom prst="rect">
            <a:avLst/>
          </a:prstGeom>
          <a:noFill/>
        </p:spPr>
        <p:txBody>
          <a:bodyPr wrap="square" lIns="27432" rIns="27432" tIns="27432" bIns="27432" anchor="ctr">
            <a:spAutoFit/>
          </a:bodyPr>
          <a:lstStyle/>
          <a:p>
            <a:pPr algn="l">
              <a:lnSpc>
                <a:spcPct val="108000"/>
              </a:lnSpc>
              <a:spcAft>
                <a:spcPts val="0"/>
              </a:spcAft>
            </a:pPr>
            <a:r>
              <a:rPr sz="2800" b="1">
                <a:solidFill>
                  <a:srgbClr val="1A2F37"/>
                </a:solidFill>
                <a:latin typeface="Aptos"/>
              </a:rPr>
              <a:t>Apa yang perlu disiapkan?</a:t>
            </a:r>
          </a:p>
        </p:txBody>
      </p:sp>
      <p:sp>
        <p:nvSpPr>
          <p:cNvPr id="5" name="TextBox 4"/>
          <p:cNvSpPr txBox="1"/>
          <p:nvPr/>
        </p:nvSpPr>
        <p:spPr>
          <a:xfrm>
            <a:off x="685800" y="1362456"/>
            <a:ext cx="10744200" cy="438912"/>
          </a:xfrm>
          <a:prstGeom prst="rect">
            <a:avLst/>
          </a:prstGeom>
          <a:noFill/>
        </p:spPr>
        <p:txBody>
          <a:bodyPr wrap="square" lIns="27432" rIns="27432" tIns="27432" bIns="27432" anchor="ctr">
            <a:spAutoFit/>
          </a:bodyPr>
          <a:lstStyle/>
          <a:p>
            <a:pPr algn="l">
              <a:lnSpc>
                <a:spcPct val="108000"/>
              </a:lnSpc>
              <a:spcAft>
                <a:spcPts val="0"/>
              </a:spcAft>
            </a:pPr>
            <a:r>
              <a:rPr sz="1300" b="0">
                <a:solidFill>
                  <a:srgbClr val="586C71"/>
                </a:solidFill>
                <a:latin typeface="Aptos"/>
              </a:rPr>
              <a:t>Persiapan dibagi antara pemilik data, pengelola aplikasi, dan pengguna analitik.</a:t>
            </a:r>
          </a:p>
        </p:txBody>
      </p:sp>
      <p:cxnSp>
        <p:nvCxnSpPr>
          <p:cNvPr id="6" name="Connector 5"/>
          <p:cNvCxnSpPr/>
          <p:nvPr/>
        </p:nvCxnSpPr>
        <p:spPr>
          <a:xfrm>
            <a:off x="676656" y="6492240"/>
            <a:ext cx="10799064" cy="0"/>
          </a:xfrm>
          <a:prstGeom prst="line">
            <a:avLst/>
          </a:prstGeom>
          <a:ln w="16510">
            <a:solidFill>
              <a:srgbClr val="DBE6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 y="6537960"/>
            <a:ext cx="7132320" cy="164592"/>
          </a:xfrm>
          <a:prstGeom prst="rect">
            <a:avLst/>
          </a:prstGeom>
          <a:noFill/>
        </p:spPr>
        <p:txBody>
          <a:bodyPr wrap="square" lIns="27432" rIns="27432" tIns="27432" bIns="27432" anchor="ctr">
            <a:spAutoFit/>
          </a:bodyPr>
          <a:lstStyle/>
          <a:p>
            <a:pPr algn="l">
              <a:lnSpc>
                <a:spcPct val="108000"/>
              </a:lnSpc>
              <a:spcAft>
                <a:spcPts val="0"/>
              </a:spcAft>
            </a:pPr>
            <a:r>
              <a:rPr sz="850" b="0">
                <a:solidFill>
                  <a:srgbClr val="586C71"/>
                </a:solidFill>
                <a:latin typeface="Aptos"/>
              </a:rPr>
              <a:t>GOOGLE SHEET AI  ·  TINJAUAN APLIKASI</a:t>
            </a:r>
          </a:p>
        </p:txBody>
      </p:sp>
      <p:sp>
        <p:nvSpPr>
          <p:cNvPr id="8" name="TextBox 7"/>
          <p:cNvSpPr txBox="1"/>
          <p:nvPr/>
        </p:nvSpPr>
        <p:spPr>
          <a:xfrm>
            <a:off x="10972800" y="6519672"/>
            <a:ext cx="502920" cy="192024"/>
          </a:xfrm>
          <a:prstGeom prst="rect">
            <a:avLst/>
          </a:prstGeom>
          <a:noFill/>
        </p:spPr>
        <p:txBody>
          <a:bodyPr wrap="square" lIns="27432" rIns="27432" tIns="27432" bIns="27432" anchor="ctr">
            <a:spAutoFit/>
          </a:bodyPr>
          <a:lstStyle/>
          <a:p>
            <a:pPr algn="r">
              <a:lnSpc>
                <a:spcPct val="108000"/>
              </a:lnSpc>
              <a:spcAft>
                <a:spcPts val="0"/>
              </a:spcAft>
            </a:pPr>
            <a:r>
              <a:rPr sz="950" b="0">
                <a:solidFill>
                  <a:srgbClr val="586C71"/>
                </a:solidFill>
                <a:latin typeface="Aptos"/>
              </a:rPr>
              <a:t>04</a:t>
            </a:r>
          </a:p>
        </p:txBody>
      </p:sp>
      <p:sp>
        <p:nvSpPr>
          <p:cNvPr id="9" name="Rounded Rectangle 8"/>
          <p:cNvSpPr/>
          <p:nvPr/>
        </p:nvSpPr>
        <p:spPr>
          <a:xfrm>
            <a:off x="731520" y="2020824"/>
            <a:ext cx="3127248" cy="309067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50976" y="2258568"/>
            <a:ext cx="530352" cy="329184"/>
          </a:xfrm>
          <a:prstGeom prst="roundRect">
            <a:avLst>
              <a:gd name="adj" fmla="val 18000"/>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258568"/>
            <a:ext cx="384047" cy="329184"/>
          </a:xfrm>
          <a:prstGeom prst="rect">
            <a:avLst/>
          </a:prstGeom>
          <a:noFill/>
        </p:spPr>
        <p:txBody>
          <a:bodyPr wrap="square" lIns="27432" rIns="27432" tIns="27432" bIns="27432" anchor="ctr">
            <a:spAutoFit/>
          </a:bodyPr>
          <a:lstStyle/>
          <a:p>
            <a:pPr algn="l">
              <a:lnSpc>
                <a:spcPct val="108000"/>
              </a:lnSpc>
              <a:spcAft>
                <a:spcPts val="0"/>
              </a:spcAft>
            </a:pPr>
            <a:r>
              <a:rPr sz="1300" b="1">
                <a:solidFill>
                  <a:srgbClr val="096752"/>
                </a:solidFill>
                <a:latin typeface="Aptos"/>
              </a:rPr>
              <a:t>01</a:t>
            </a:r>
          </a:p>
        </p:txBody>
      </p:sp>
      <p:sp>
        <p:nvSpPr>
          <p:cNvPr id="12" name="TextBox 11"/>
          <p:cNvSpPr txBox="1"/>
          <p:nvPr/>
        </p:nvSpPr>
        <p:spPr>
          <a:xfrm>
            <a:off x="950976" y="2752344"/>
            <a:ext cx="2706624" cy="612648"/>
          </a:xfrm>
          <a:prstGeom prst="rect">
            <a:avLst/>
          </a:prstGeom>
          <a:noFill/>
        </p:spPr>
        <p:txBody>
          <a:bodyPr wrap="square" lIns="27432" rIns="27432" tIns="27432" bIns="27432" anchor="ctr">
            <a:spAutoFit/>
          </a:bodyPr>
          <a:lstStyle/>
          <a:p>
            <a:pPr algn="l">
              <a:lnSpc>
                <a:spcPct val="108000"/>
              </a:lnSpc>
              <a:spcAft>
                <a:spcPts val="0"/>
              </a:spcAft>
            </a:pPr>
            <a:r>
              <a:rPr sz="1900" b="1">
                <a:solidFill>
                  <a:srgbClr val="1A2F37"/>
                </a:solidFill>
                <a:latin typeface="Aptos"/>
              </a:rPr>
              <a:t>Sumber Google Sheet</a:t>
            </a:r>
          </a:p>
        </p:txBody>
      </p:sp>
      <p:sp>
        <p:nvSpPr>
          <p:cNvPr id="13" name="TextBox 12"/>
          <p:cNvSpPr txBox="1"/>
          <p:nvPr/>
        </p:nvSpPr>
        <p:spPr>
          <a:xfrm>
            <a:off x="950976" y="3502152"/>
            <a:ext cx="2697480" cy="1060704"/>
          </a:xfrm>
          <a:prstGeom prst="rect">
            <a:avLst/>
          </a:prstGeom>
          <a:noFill/>
        </p:spPr>
        <p:txBody>
          <a:bodyPr wrap="square" lIns="27432" rIns="27432" tIns="27432" bIns="27432" anchor="t">
            <a:spAutoFit/>
          </a:bodyPr>
          <a:lstStyle/>
          <a:p>
            <a:pPr algn="l">
              <a:lnSpc>
                <a:spcPct val="108000"/>
              </a:lnSpc>
              <a:spcAft>
                <a:spcPts val="0"/>
              </a:spcAft>
            </a:pPr>
            <a:r>
              <a:rPr sz="1350" b="0">
                <a:solidFill>
                  <a:srgbClr val="586C71"/>
                </a:solidFill>
                <a:latin typeface="Aptos"/>
              </a:rPr>
              <a:t>URL/ID spreadsheet; akses Viewer untuk service account; tab dan header yang jelas.</a:t>
            </a:r>
          </a:p>
        </p:txBody>
      </p:sp>
      <p:sp>
        <p:nvSpPr>
          <p:cNvPr id="14" name="Rounded Rectangle 13"/>
          <p:cNvSpPr/>
          <p:nvPr/>
        </p:nvSpPr>
        <p:spPr>
          <a:xfrm>
            <a:off x="4544568" y="2020824"/>
            <a:ext cx="3127248" cy="309067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764024" y="2258568"/>
            <a:ext cx="530352" cy="329184"/>
          </a:xfrm>
          <a:prstGeom prst="roundRect">
            <a:avLst>
              <a:gd name="adj" fmla="val 18000"/>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37176" y="2258568"/>
            <a:ext cx="384047" cy="329184"/>
          </a:xfrm>
          <a:prstGeom prst="rect">
            <a:avLst/>
          </a:prstGeom>
          <a:noFill/>
        </p:spPr>
        <p:txBody>
          <a:bodyPr wrap="square" lIns="27432" rIns="27432" tIns="27432" bIns="27432" anchor="ctr">
            <a:spAutoFit/>
          </a:bodyPr>
          <a:lstStyle/>
          <a:p>
            <a:pPr algn="l">
              <a:lnSpc>
                <a:spcPct val="108000"/>
              </a:lnSpc>
              <a:spcAft>
                <a:spcPts val="0"/>
              </a:spcAft>
            </a:pPr>
            <a:r>
              <a:rPr sz="1300" b="1">
                <a:solidFill>
                  <a:srgbClr val="096752"/>
                </a:solidFill>
                <a:latin typeface="Aptos"/>
              </a:rPr>
              <a:t>02</a:t>
            </a:r>
          </a:p>
        </p:txBody>
      </p:sp>
      <p:sp>
        <p:nvSpPr>
          <p:cNvPr id="17" name="TextBox 16"/>
          <p:cNvSpPr txBox="1"/>
          <p:nvPr/>
        </p:nvSpPr>
        <p:spPr>
          <a:xfrm>
            <a:off x="4764024" y="2752344"/>
            <a:ext cx="2706624" cy="612648"/>
          </a:xfrm>
          <a:prstGeom prst="rect">
            <a:avLst/>
          </a:prstGeom>
          <a:noFill/>
        </p:spPr>
        <p:txBody>
          <a:bodyPr wrap="square" lIns="27432" rIns="27432" tIns="27432" bIns="27432" anchor="ctr">
            <a:spAutoFit/>
          </a:bodyPr>
          <a:lstStyle/>
          <a:p>
            <a:pPr algn="l">
              <a:lnSpc>
                <a:spcPct val="108000"/>
              </a:lnSpc>
              <a:spcAft>
                <a:spcPts val="0"/>
              </a:spcAft>
            </a:pPr>
            <a:r>
              <a:rPr sz="1900" b="1">
                <a:solidFill>
                  <a:srgbClr val="1A2F37"/>
                </a:solidFill>
                <a:latin typeface="Aptos"/>
              </a:rPr>
              <a:t>Konteks bisnis</a:t>
            </a:r>
          </a:p>
        </p:txBody>
      </p:sp>
      <p:sp>
        <p:nvSpPr>
          <p:cNvPr id="18" name="TextBox 17"/>
          <p:cNvSpPr txBox="1"/>
          <p:nvPr/>
        </p:nvSpPr>
        <p:spPr>
          <a:xfrm>
            <a:off x="4764024" y="3502152"/>
            <a:ext cx="2697480" cy="1060704"/>
          </a:xfrm>
          <a:prstGeom prst="rect">
            <a:avLst/>
          </a:prstGeom>
          <a:noFill/>
        </p:spPr>
        <p:txBody>
          <a:bodyPr wrap="square" lIns="27432" rIns="27432" tIns="27432" bIns="27432" anchor="t">
            <a:spAutoFit/>
          </a:bodyPr>
          <a:lstStyle/>
          <a:p>
            <a:pPr algn="l">
              <a:lnSpc>
                <a:spcPct val="108000"/>
              </a:lnSpc>
              <a:spcAft>
                <a:spcPts val="0"/>
              </a:spcAft>
            </a:pPr>
            <a:r>
              <a:rPr sz="1350" b="0">
                <a:solidFill>
                  <a:srgbClr val="586C71"/>
                </a:solidFill>
                <a:latin typeface="Aptos"/>
              </a:rPr>
              <a:t>Pemilik, steward, unit, domain, yurisdiksi, purpose, dan sensitivitas.</a:t>
            </a:r>
          </a:p>
        </p:txBody>
      </p:sp>
      <p:sp>
        <p:nvSpPr>
          <p:cNvPr id="19" name="Rounded Rectangle 18"/>
          <p:cNvSpPr/>
          <p:nvPr/>
        </p:nvSpPr>
        <p:spPr>
          <a:xfrm>
            <a:off x="8357616" y="2020824"/>
            <a:ext cx="3127248" cy="309067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577072" y="2258568"/>
            <a:ext cx="530352" cy="329184"/>
          </a:xfrm>
          <a:prstGeom prst="roundRect">
            <a:avLst>
              <a:gd name="adj" fmla="val 18000"/>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50224" y="2258568"/>
            <a:ext cx="384047" cy="329184"/>
          </a:xfrm>
          <a:prstGeom prst="rect">
            <a:avLst/>
          </a:prstGeom>
          <a:noFill/>
        </p:spPr>
        <p:txBody>
          <a:bodyPr wrap="square" lIns="27432" rIns="27432" tIns="27432" bIns="27432" anchor="ctr">
            <a:spAutoFit/>
          </a:bodyPr>
          <a:lstStyle/>
          <a:p>
            <a:pPr algn="l">
              <a:lnSpc>
                <a:spcPct val="108000"/>
              </a:lnSpc>
              <a:spcAft>
                <a:spcPts val="0"/>
              </a:spcAft>
            </a:pPr>
            <a:r>
              <a:rPr sz="1300" b="1">
                <a:solidFill>
                  <a:srgbClr val="096752"/>
                </a:solidFill>
                <a:latin typeface="Aptos"/>
              </a:rPr>
              <a:t>03</a:t>
            </a:r>
          </a:p>
        </p:txBody>
      </p:sp>
      <p:sp>
        <p:nvSpPr>
          <p:cNvPr id="22" name="TextBox 21"/>
          <p:cNvSpPr txBox="1"/>
          <p:nvPr/>
        </p:nvSpPr>
        <p:spPr>
          <a:xfrm>
            <a:off x="8577072" y="2752344"/>
            <a:ext cx="2706624" cy="612648"/>
          </a:xfrm>
          <a:prstGeom prst="rect">
            <a:avLst/>
          </a:prstGeom>
          <a:noFill/>
        </p:spPr>
        <p:txBody>
          <a:bodyPr wrap="square" lIns="27432" rIns="27432" tIns="27432" bIns="27432" anchor="ctr">
            <a:spAutoFit/>
          </a:bodyPr>
          <a:lstStyle/>
          <a:p>
            <a:pPr algn="l">
              <a:lnSpc>
                <a:spcPct val="108000"/>
              </a:lnSpc>
              <a:spcAft>
                <a:spcPts val="0"/>
              </a:spcAft>
            </a:pPr>
            <a:r>
              <a:rPr sz="1900" b="1">
                <a:solidFill>
                  <a:srgbClr val="1A2F37"/>
                </a:solidFill>
                <a:latin typeface="Aptos"/>
              </a:rPr>
              <a:t>Akun &amp; layanan</a:t>
            </a:r>
          </a:p>
        </p:txBody>
      </p:sp>
      <p:sp>
        <p:nvSpPr>
          <p:cNvPr id="23" name="TextBox 22"/>
          <p:cNvSpPr txBox="1"/>
          <p:nvPr/>
        </p:nvSpPr>
        <p:spPr>
          <a:xfrm>
            <a:off x="8577072" y="3502152"/>
            <a:ext cx="2697480" cy="1060704"/>
          </a:xfrm>
          <a:prstGeom prst="rect">
            <a:avLst/>
          </a:prstGeom>
          <a:noFill/>
        </p:spPr>
        <p:txBody>
          <a:bodyPr wrap="square" lIns="27432" rIns="27432" tIns="27432" bIns="27432" anchor="t">
            <a:spAutoFit/>
          </a:bodyPr>
          <a:lstStyle/>
          <a:p>
            <a:pPr algn="l">
              <a:lnSpc>
                <a:spcPct val="108000"/>
              </a:lnSpc>
              <a:spcAft>
                <a:spcPts val="0"/>
              </a:spcAft>
            </a:pPr>
            <a:r>
              <a:rPr sz="1350" b="0">
                <a:solidFill>
                  <a:srgbClr val="586C71"/>
                </a:solidFill>
                <a:latin typeface="Aptos"/>
              </a:rPr>
              <a:t>Akun ber-role; PostgreSQL dan layanan backend; kredensial Google dan OpenAI untuk fitur AI.</a:t>
            </a:r>
          </a:p>
        </p:txBody>
      </p:sp>
      <p:sp>
        <p:nvSpPr>
          <p:cNvPr id="24" name="TextBox 23"/>
          <p:cNvSpPr txBox="1"/>
          <p:nvPr/>
        </p:nvSpPr>
        <p:spPr>
          <a:xfrm>
            <a:off x="804672" y="5605272"/>
            <a:ext cx="10607040" cy="438912"/>
          </a:xfrm>
          <a:prstGeom prst="rect">
            <a:avLst/>
          </a:prstGeom>
          <a:noFill/>
        </p:spPr>
        <p:txBody>
          <a:bodyPr wrap="square" lIns="27432" rIns="27432" tIns="27432" bIns="27432" anchor="ctr">
            <a:spAutoFit/>
          </a:bodyPr>
          <a:lstStyle/>
          <a:p>
            <a:pPr algn="l">
              <a:lnSpc>
                <a:spcPct val="108000"/>
              </a:lnSpc>
              <a:spcAft>
                <a:spcPts val="0"/>
              </a:spcAft>
            </a:pPr>
            <a:r>
              <a:rPr sz="1400" b="1">
                <a:solidFill>
                  <a:srgbClr val="096752"/>
                </a:solidFill>
                <a:latin typeface="Aptos"/>
              </a:rPr>
              <a:t>Penting: registrasi menerima URL/ID Google Sheet; pengguna tidak diminta membuat UUID teknis.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38328"/>
            <a:ext cx="9601200" cy="256032"/>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096752"/>
                </a:solidFill>
                <a:latin typeface="Aptos"/>
              </a:rPr>
              <a:t>PERAN DAN AKSES</a:t>
            </a:r>
          </a:p>
        </p:txBody>
      </p:sp>
      <p:sp>
        <p:nvSpPr>
          <p:cNvPr id="4" name="TextBox 3"/>
          <p:cNvSpPr txBox="1"/>
          <p:nvPr/>
        </p:nvSpPr>
        <p:spPr>
          <a:xfrm>
            <a:off x="658368" y="713232"/>
            <a:ext cx="10835640" cy="621792"/>
          </a:xfrm>
          <a:prstGeom prst="rect">
            <a:avLst/>
          </a:prstGeom>
          <a:noFill/>
        </p:spPr>
        <p:txBody>
          <a:bodyPr wrap="square" lIns="27432" rIns="27432" tIns="27432" bIns="27432" anchor="ctr">
            <a:spAutoFit/>
          </a:bodyPr>
          <a:lstStyle/>
          <a:p>
            <a:pPr algn="l">
              <a:lnSpc>
                <a:spcPct val="108000"/>
              </a:lnSpc>
              <a:spcAft>
                <a:spcPts val="0"/>
              </a:spcAft>
            </a:pPr>
            <a:r>
              <a:rPr sz="2800" b="1">
                <a:solidFill>
                  <a:srgbClr val="1A2F37"/>
                </a:solidFill>
                <a:latin typeface="Aptos"/>
              </a:rPr>
              <a:t>Siapa melakukan apa?</a:t>
            </a:r>
          </a:p>
        </p:txBody>
      </p:sp>
      <p:sp>
        <p:nvSpPr>
          <p:cNvPr id="5" name="TextBox 4"/>
          <p:cNvSpPr txBox="1"/>
          <p:nvPr/>
        </p:nvSpPr>
        <p:spPr>
          <a:xfrm>
            <a:off x="685800" y="1362456"/>
            <a:ext cx="10744200" cy="438912"/>
          </a:xfrm>
          <a:prstGeom prst="rect">
            <a:avLst/>
          </a:prstGeom>
          <a:noFill/>
        </p:spPr>
        <p:txBody>
          <a:bodyPr wrap="square" lIns="27432" rIns="27432" tIns="27432" bIns="27432" anchor="ctr">
            <a:spAutoFit/>
          </a:bodyPr>
          <a:lstStyle/>
          <a:p>
            <a:pPr algn="l">
              <a:lnSpc>
                <a:spcPct val="108000"/>
              </a:lnSpc>
              <a:spcAft>
                <a:spcPts val="0"/>
              </a:spcAft>
            </a:pPr>
            <a:r>
              <a:rPr sz="1300" b="0">
                <a:solidFill>
                  <a:srgbClr val="586C71"/>
                </a:solidFill>
                <a:latin typeface="Aptos"/>
              </a:rPr>
              <a:t>Tindakan pengguna dan ruang data yang boleh diakses diperiksa bersama.</a:t>
            </a:r>
          </a:p>
        </p:txBody>
      </p:sp>
      <p:cxnSp>
        <p:nvCxnSpPr>
          <p:cNvPr id="6" name="Connector 5"/>
          <p:cNvCxnSpPr/>
          <p:nvPr/>
        </p:nvCxnSpPr>
        <p:spPr>
          <a:xfrm>
            <a:off x="676656" y="6492240"/>
            <a:ext cx="10799064" cy="0"/>
          </a:xfrm>
          <a:prstGeom prst="line">
            <a:avLst/>
          </a:prstGeom>
          <a:ln w="16510">
            <a:solidFill>
              <a:srgbClr val="DBE6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 y="6537960"/>
            <a:ext cx="7132320" cy="164592"/>
          </a:xfrm>
          <a:prstGeom prst="rect">
            <a:avLst/>
          </a:prstGeom>
          <a:noFill/>
        </p:spPr>
        <p:txBody>
          <a:bodyPr wrap="square" lIns="27432" rIns="27432" tIns="27432" bIns="27432" anchor="ctr">
            <a:spAutoFit/>
          </a:bodyPr>
          <a:lstStyle/>
          <a:p>
            <a:pPr algn="l">
              <a:lnSpc>
                <a:spcPct val="108000"/>
              </a:lnSpc>
              <a:spcAft>
                <a:spcPts val="0"/>
              </a:spcAft>
            </a:pPr>
            <a:r>
              <a:rPr sz="850" b="0">
                <a:solidFill>
                  <a:srgbClr val="586C71"/>
                </a:solidFill>
                <a:latin typeface="Aptos"/>
              </a:rPr>
              <a:t>GOOGLE SHEET AI  ·  TINJAUAN APLIKASI</a:t>
            </a:r>
          </a:p>
        </p:txBody>
      </p:sp>
      <p:sp>
        <p:nvSpPr>
          <p:cNvPr id="8" name="TextBox 7"/>
          <p:cNvSpPr txBox="1"/>
          <p:nvPr/>
        </p:nvSpPr>
        <p:spPr>
          <a:xfrm>
            <a:off x="10972800" y="6519672"/>
            <a:ext cx="502920" cy="192024"/>
          </a:xfrm>
          <a:prstGeom prst="rect">
            <a:avLst/>
          </a:prstGeom>
          <a:noFill/>
        </p:spPr>
        <p:txBody>
          <a:bodyPr wrap="square" lIns="27432" rIns="27432" tIns="27432" bIns="27432" anchor="ctr">
            <a:spAutoFit/>
          </a:bodyPr>
          <a:lstStyle/>
          <a:p>
            <a:pPr algn="r">
              <a:lnSpc>
                <a:spcPct val="108000"/>
              </a:lnSpc>
              <a:spcAft>
                <a:spcPts val="0"/>
              </a:spcAft>
            </a:pPr>
            <a:r>
              <a:rPr sz="950" b="0">
                <a:solidFill>
                  <a:srgbClr val="586C71"/>
                </a:solidFill>
                <a:latin typeface="Aptos"/>
              </a:rPr>
              <a:t>05</a:t>
            </a:r>
          </a:p>
        </p:txBody>
      </p:sp>
      <p:sp>
        <p:nvSpPr>
          <p:cNvPr id="9" name="Rounded Rectangle 8"/>
          <p:cNvSpPr/>
          <p:nvPr/>
        </p:nvSpPr>
        <p:spPr>
          <a:xfrm>
            <a:off x="758952" y="1856231"/>
            <a:ext cx="2743200" cy="566928"/>
          </a:xfrm>
          <a:prstGeom prst="roundRect">
            <a:avLst>
              <a:gd name="adj" fmla="val 18000"/>
            </a:avLst>
          </a:prstGeom>
          <a:solidFill>
            <a:srgbClr val="122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892807"/>
            <a:ext cx="2359152" cy="438912"/>
          </a:xfrm>
          <a:prstGeom prst="rect">
            <a:avLst/>
          </a:prstGeom>
          <a:noFill/>
        </p:spPr>
        <p:txBody>
          <a:bodyPr wrap="square" lIns="27432" rIns="27432" tIns="27432" bIns="27432" anchor="ctr">
            <a:spAutoFit/>
          </a:bodyPr>
          <a:lstStyle/>
          <a:p>
            <a:pPr algn="l">
              <a:lnSpc>
                <a:spcPct val="108000"/>
              </a:lnSpc>
              <a:spcAft>
                <a:spcPts val="0"/>
              </a:spcAft>
            </a:pPr>
            <a:r>
              <a:rPr sz="1400" b="1">
                <a:solidFill>
                  <a:srgbClr val="FFFFFF"/>
                </a:solidFill>
                <a:latin typeface="Aptos"/>
              </a:rPr>
              <a:t>Admin platform</a:t>
            </a:r>
          </a:p>
        </p:txBody>
      </p:sp>
      <p:sp>
        <p:nvSpPr>
          <p:cNvPr id="11" name="Chevron 10"/>
          <p:cNvSpPr/>
          <p:nvPr/>
        </p:nvSpPr>
        <p:spPr>
          <a:xfrm>
            <a:off x="3703320" y="2011679"/>
            <a:ext cx="201168" cy="201168"/>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87368" y="1883663"/>
            <a:ext cx="3721608" cy="475488"/>
          </a:xfrm>
          <a:prstGeom prst="rect">
            <a:avLst/>
          </a:prstGeom>
          <a:noFill/>
        </p:spPr>
        <p:txBody>
          <a:bodyPr wrap="square" lIns="27432" rIns="27432" tIns="27432" bIns="27432" anchor="ctr">
            <a:spAutoFit/>
          </a:bodyPr>
          <a:lstStyle/>
          <a:p>
            <a:pPr algn="l">
              <a:lnSpc>
                <a:spcPct val="108000"/>
              </a:lnSpc>
              <a:spcAft>
                <a:spcPts val="0"/>
              </a:spcAft>
            </a:pPr>
            <a:r>
              <a:rPr sz="1350" b="0">
                <a:solidFill>
                  <a:srgbClr val="1A2F37"/>
                </a:solidFill>
                <a:latin typeface="Aptos"/>
              </a:rPr>
              <a:t>Akun, atribut, permission, policy</a:t>
            </a:r>
          </a:p>
        </p:txBody>
      </p:sp>
      <p:sp>
        <p:nvSpPr>
          <p:cNvPr id="13" name="Rounded Rectangle 12"/>
          <p:cNvSpPr/>
          <p:nvPr/>
        </p:nvSpPr>
        <p:spPr>
          <a:xfrm>
            <a:off x="758952" y="2560320"/>
            <a:ext cx="2743200" cy="566928"/>
          </a:xfrm>
          <a:prstGeom prst="roundRect">
            <a:avLst>
              <a:gd name="adj" fmla="val 18000"/>
            </a:avLst>
          </a:prstGeom>
          <a:solidFill>
            <a:srgbClr val="122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2596896"/>
            <a:ext cx="2359152" cy="438912"/>
          </a:xfrm>
          <a:prstGeom prst="rect">
            <a:avLst/>
          </a:prstGeom>
          <a:noFill/>
        </p:spPr>
        <p:txBody>
          <a:bodyPr wrap="square" lIns="27432" rIns="27432" tIns="27432" bIns="27432" anchor="ctr">
            <a:spAutoFit/>
          </a:bodyPr>
          <a:lstStyle/>
          <a:p>
            <a:pPr algn="l">
              <a:lnSpc>
                <a:spcPct val="108000"/>
              </a:lnSpc>
              <a:spcAft>
                <a:spcPts val="0"/>
              </a:spcAft>
            </a:pPr>
            <a:r>
              <a:rPr sz="1400" b="1">
                <a:solidFill>
                  <a:srgbClr val="FFFFFF"/>
                </a:solidFill>
                <a:latin typeface="Aptos"/>
              </a:rPr>
              <a:t>Pemilik sumber</a:t>
            </a:r>
          </a:p>
        </p:txBody>
      </p:sp>
      <p:sp>
        <p:nvSpPr>
          <p:cNvPr id="15" name="Chevron 14"/>
          <p:cNvSpPr/>
          <p:nvPr/>
        </p:nvSpPr>
        <p:spPr>
          <a:xfrm>
            <a:off x="3703320" y="2715768"/>
            <a:ext cx="201168" cy="201168"/>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2587751"/>
            <a:ext cx="3721608" cy="475488"/>
          </a:xfrm>
          <a:prstGeom prst="rect">
            <a:avLst/>
          </a:prstGeom>
          <a:noFill/>
        </p:spPr>
        <p:txBody>
          <a:bodyPr wrap="square" lIns="27432" rIns="27432" tIns="27432" bIns="27432" anchor="ctr">
            <a:spAutoFit/>
          </a:bodyPr>
          <a:lstStyle/>
          <a:p>
            <a:pPr algn="l">
              <a:lnSpc>
                <a:spcPct val="108000"/>
              </a:lnSpc>
              <a:spcAft>
                <a:spcPts val="0"/>
              </a:spcAft>
            </a:pPr>
            <a:r>
              <a:rPr sz="1350" b="0">
                <a:solidFill>
                  <a:srgbClr val="1A2F37"/>
                </a:solidFill>
                <a:latin typeface="Aptos"/>
              </a:rPr>
              <a:t>Daftar Sheet, konteks, kepemilikan</a:t>
            </a:r>
          </a:p>
        </p:txBody>
      </p:sp>
      <p:sp>
        <p:nvSpPr>
          <p:cNvPr id="17" name="Rounded Rectangle 16"/>
          <p:cNvSpPr/>
          <p:nvPr/>
        </p:nvSpPr>
        <p:spPr>
          <a:xfrm>
            <a:off x="758952" y="3264408"/>
            <a:ext cx="2743200" cy="566928"/>
          </a:xfrm>
          <a:prstGeom prst="roundRect">
            <a:avLst>
              <a:gd name="adj" fmla="val 18000"/>
            </a:avLst>
          </a:prstGeom>
          <a:solidFill>
            <a:srgbClr val="122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3300984"/>
            <a:ext cx="2359152" cy="438912"/>
          </a:xfrm>
          <a:prstGeom prst="rect">
            <a:avLst/>
          </a:prstGeom>
          <a:noFill/>
        </p:spPr>
        <p:txBody>
          <a:bodyPr wrap="square" lIns="27432" rIns="27432" tIns="27432" bIns="27432" anchor="ctr">
            <a:spAutoFit/>
          </a:bodyPr>
          <a:lstStyle/>
          <a:p>
            <a:pPr algn="l">
              <a:lnSpc>
                <a:spcPct val="108000"/>
              </a:lnSpc>
              <a:spcAft>
                <a:spcPts val="0"/>
              </a:spcAft>
            </a:pPr>
            <a:r>
              <a:rPr sz="1400" b="1">
                <a:solidFill>
                  <a:srgbClr val="FFFFFF"/>
                </a:solidFill>
                <a:latin typeface="Aptos"/>
              </a:rPr>
              <a:t>Data steward</a:t>
            </a:r>
          </a:p>
        </p:txBody>
      </p:sp>
      <p:sp>
        <p:nvSpPr>
          <p:cNvPr id="19" name="Chevron 18"/>
          <p:cNvSpPr/>
          <p:nvPr/>
        </p:nvSpPr>
        <p:spPr>
          <a:xfrm>
            <a:off x="3703320" y="3419856"/>
            <a:ext cx="201168" cy="201168"/>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87368" y="3291839"/>
            <a:ext cx="3721608" cy="475488"/>
          </a:xfrm>
          <a:prstGeom prst="rect">
            <a:avLst/>
          </a:prstGeom>
          <a:noFill/>
        </p:spPr>
        <p:txBody>
          <a:bodyPr wrap="square" lIns="27432" rIns="27432" tIns="27432" bIns="27432" anchor="ctr">
            <a:spAutoFit/>
          </a:bodyPr>
          <a:lstStyle/>
          <a:p>
            <a:pPr algn="l">
              <a:lnSpc>
                <a:spcPct val="108000"/>
              </a:lnSpc>
              <a:spcAft>
                <a:spcPts val="0"/>
              </a:spcAft>
            </a:pPr>
            <a:r>
              <a:rPr sz="1350" b="0">
                <a:solidFill>
                  <a:srgbClr val="1A2F37"/>
                </a:solidFill>
                <a:latin typeface="Aptos"/>
              </a:rPr>
              <a:t>Klasifikasi, master, taxonomy, kualitas</a:t>
            </a:r>
          </a:p>
        </p:txBody>
      </p:sp>
      <p:sp>
        <p:nvSpPr>
          <p:cNvPr id="21" name="Rounded Rectangle 20"/>
          <p:cNvSpPr/>
          <p:nvPr/>
        </p:nvSpPr>
        <p:spPr>
          <a:xfrm>
            <a:off x="758952" y="3968496"/>
            <a:ext cx="2743200" cy="566928"/>
          </a:xfrm>
          <a:prstGeom prst="roundRect">
            <a:avLst>
              <a:gd name="adj" fmla="val 18000"/>
            </a:avLst>
          </a:prstGeom>
          <a:solidFill>
            <a:srgbClr val="122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005072"/>
            <a:ext cx="2359152" cy="438912"/>
          </a:xfrm>
          <a:prstGeom prst="rect">
            <a:avLst/>
          </a:prstGeom>
          <a:noFill/>
        </p:spPr>
        <p:txBody>
          <a:bodyPr wrap="square" lIns="27432" rIns="27432" tIns="27432" bIns="27432" anchor="ctr">
            <a:spAutoFit/>
          </a:bodyPr>
          <a:lstStyle/>
          <a:p>
            <a:pPr algn="l">
              <a:lnSpc>
                <a:spcPct val="108000"/>
              </a:lnSpc>
              <a:spcAft>
                <a:spcPts val="0"/>
              </a:spcAft>
            </a:pPr>
            <a:r>
              <a:rPr sz="1400" b="1">
                <a:solidFill>
                  <a:srgbClr val="FFFFFF"/>
                </a:solidFill>
                <a:latin typeface="Aptos"/>
              </a:rPr>
              <a:t>Approver</a:t>
            </a:r>
          </a:p>
        </p:txBody>
      </p:sp>
      <p:sp>
        <p:nvSpPr>
          <p:cNvPr id="23" name="Chevron 22"/>
          <p:cNvSpPr/>
          <p:nvPr/>
        </p:nvSpPr>
        <p:spPr>
          <a:xfrm>
            <a:off x="3703320" y="4123944"/>
            <a:ext cx="201168" cy="201168"/>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87368" y="3995928"/>
            <a:ext cx="3721608" cy="475488"/>
          </a:xfrm>
          <a:prstGeom prst="rect">
            <a:avLst/>
          </a:prstGeom>
          <a:noFill/>
        </p:spPr>
        <p:txBody>
          <a:bodyPr wrap="square" lIns="27432" rIns="27432" tIns="27432" bIns="27432" anchor="ctr">
            <a:spAutoFit/>
          </a:bodyPr>
          <a:lstStyle/>
          <a:p>
            <a:pPr algn="l">
              <a:lnSpc>
                <a:spcPct val="108000"/>
              </a:lnSpc>
              <a:spcAft>
                <a:spcPts val="0"/>
              </a:spcAft>
            </a:pPr>
            <a:r>
              <a:rPr sz="1350" b="0">
                <a:solidFill>
                  <a:srgbClr val="1A2F37"/>
                </a:solidFill>
                <a:latin typeface="Aptos"/>
              </a:rPr>
              <a:t>Tinjau konfigurasi dan batch</a:t>
            </a:r>
          </a:p>
        </p:txBody>
      </p:sp>
      <p:sp>
        <p:nvSpPr>
          <p:cNvPr id="25" name="Rounded Rectangle 24"/>
          <p:cNvSpPr/>
          <p:nvPr/>
        </p:nvSpPr>
        <p:spPr>
          <a:xfrm>
            <a:off x="758952" y="4672583"/>
            <a:ext cx="2743200" cy="566928"/>
          </a:xfrm>
          <a:prstGeom prst="roundRect">
            <a:avLst>
              <a:gd name="adj" fmla="val 18000"/>
            </a:avLst>
          </a:prstGeom>
          <a:solidFill>
            <a:srgbClr val="09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4709159"/>
            <a:ext cx="2359152" cy="438912"/>
          </a:xfrm>
          <a:prstGeom prst="rect">
            <a:avLst/>
          </a:prstGeom>
          <a:noFill/>
        </p:spPr>
        <p:txBody>
          <a:bodyPr wrap="square" lIns="27432" rIns="27432" tIns="27432" bIns="27432" anchor="ctr">
            <a:spAutoFit/>
          </a:bodyPr>
          <a:lstStyle/>
          <a:p>
            <a:pPr algn="l">
              <a:lnSpc>
                <a:spcPct val="108000"/>
              </a:lnSpc>
              <a:spcAft>
                <a:spcPts val="0"/>
              </a:spcAft>
            </a:pPr>
            <a:r>
              <a:rPr sz="1400" b="1">
                <a:solidFill>
                  <a:srgbClr val="FFFFFF"/>
                </a:solidFill>
                <a:latin typeface="Aptos"/>
              </a:rPr>
              <a:t>Analis / viewer</a:t>
            </a:r>
          </a:p>
        </p:txBody>
      </p:sp>
      <p:sp>
        <p:nvSpPr>
          <p:cNvPr id="27" name="Chevron 26"/>
          <p:cNvSpPr/>
          <p:nvPr/>
        </p:nvSpPr>
        <p:spPr>
          <a:xfrm>
            <a:off x="3703320" y="4828031"/>
            <a:ext cx="201168" cy="201168"/>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87368" y="4700016"/>
            <a:ext cx="3721608" cy="475488"/>
          </a:xfrm>
          <a:prstGeom prst="rect">
            <a:avLst/>
          </a:prstGeom>
          <a:noFill/>
        </p:spPr>
        <p:txBody>
          <a:bodyPr wrap="square" lIns="27432" rIns="27432" tIns="27432" bIns="27432" anchor="ctr">
            <a:spAutoFit/>
          </a:bodyPr>
          <a:lstStyle/>
          <a:p>
            <a:pPr algn="l">
              <a:lnSpc>
                <a:spcPct val="108000"/>
              </a:lnSpc>
              <a:spcAft>
                <a:spcPts val="0"/>
              </a:spcAft>
            </a:pPr>
            <a:r>
              <a:rPr sz="1350" b="0">
                <a:solidFill>
                  <a:srgbClr val="1A2F37"/>
                </a:solidFill>
                <a:latin typeface="Aptos"/>
              </a:rPr>
              <a:t>Cari data, tabel, dan chart</a:t>
            </a:r>
          </a:p>
        </p:txBody>
      </p:sp>
      <p:sp>
        <p:nvSpPr>
          <p:cNvPr id="29" name="Rounded Rectangle 28"/>
          <p:cNvSpPr/>
          <p:nvPr/>
        </p:nvSpPr>
        <p:spPr>
          <a:xfrm>
            <a:off x="8394192" y="2103120"/>
            <a:ext cx="2926080" cy="3337560"/>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13648" y="2340864"/>
            <a:ext cx="2468880" cy="429768"/>
          </a:xfrm>
          <a:prstGeom prst="rect">
            <a:avLst/>
          </a:prstGeom>
          <a:noFill/>
        </p:spPr>
        <p:txBody>
          <a:bodyPr wrap="square" lIns="27432" rIns="27432" tIns="27432" bIns="27432" anchor="ctr">
            <a:spAutoFit/>
          </a:bodyPr>
          <a:lstStyle/>
          <a:p>
            <a:pPr algn="l">
              <a:lnSpc>
                <a:spcPct val="108000"/>
              </a:lnSpc>
              <a:spcAft>
                <a:spcPts val="0"/>
              </a:spcAft>
            </a:pPr>
            <a:r>
              <a:rPr sz="1800" b="1">
                <a:solidFill>
                  <a:srgbClr val="096752"/>
                </a:solidFill>
                <a:latin typeface="Aptos"/>
              </a:rPr>
              <a:t>Keputusan akses</a:t>
            </a:r>
          </a:p>
        </p:txBody>
      </p:sp>
      <p:sp>
        <p:nvSpPr>
          <p:cNvPr id="31" name="Rounded Rectangle 30"/>
          <p:cNvSpPr/>
          <p:nvPr/>
        </p:nvSpPr>
        <p:spPr>
          <a:xfrm>
            <a:off x="8622792" y="2889504"/>
            <a:ext cx="2468880" cy="329184"/>
          </a:xfrm>
          <a:prstGeom prst="roundRect">
            <a:avLst>
              <a:gd name="adj" fmla="val 18000"/>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95944" y="2889504"/>
            <a:ext cx="2322576" cy="329184"/>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096752"/>
                </a:solidFill>
                <a:latin typeface="Aptos"/>
              </a:rPr>
              <a:t>Role: aksi yang boleh</a:t>
            </a:r>
          </a:p>
        </p:txBody>
      </p:sp>
      <p:sp>
        <p:nvSpPr>
          <p:cNvPr id="33" name="Rounded Rectangle 32"/>
          <p:cNvSpPr/>
          <p:nvPr/>
        </p:nvSpPr>
        <p:spPr>
          <a:xfrm>
            <a:off x="8622792" y="3429000"/>
            <a:ext cx="2468880" cy="329184"/>
          </a:xfrm>
          <a:prstGeom prst="roundRect">
            <a:avLst>
              <a:gd name="adj" fmla="val 18000"/>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95944" y="3429000"/>
            <a:ext cx="2322576" cy="329184"/>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096752"/>
                </a:solidFill>
                <a:latin typeface="Aptos"/>
              </a:rPr>
              <a:t>Assignment: unit / wilayah</a:t>
            </a:r>
          </a:p>
        </p:txBody>
      </p:sp>
      <p:sp>
        <p:nvSpPr>
          <p:cNvPr id="35" name="Rounded Rectangle 34"/>
          <p:cNvSpPr/>
          <p:nvPr/>
        </p:nvSpPr>
        <p:spPr>
          <a:xfrm>
            <a:off x="8622792" y="3968496"/>
            <a:ext cx="2468880" cy="329184"/>
          </a:xfrm>
          <a:prstGeom prst="roundRect">
            <a:avLst>
              <a:gd name="adj" fmla="val 18000"/>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95944" y="3968496"/>
            <a:ext cx="2322576" cy="329184"/>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096752"/>
                </a:solidFill>
                <a:latin typeface="Aptos"/>
              </a:rPr>
              <a:t>Policy: sumber / produk</a:t>
            </a:r>
          </a:p>
        </p:txBody>
      </p:sp>
      <p:sp>
        <p:nvSpPr>
          <p:cNvPr id="37" name="Rounded Rectangle 36"/>
          <p:cNvSpPr/>
          <p:nvPr/>
        </p:nvSpPr>
        <p:spPr>
          <a:xfrm>
            <a:off x="8622792" y="4507992"/>
            <a:ext cx="2468880" cy="329184"/>
          </a:xfrm>
          <a:prstGeom prst="roundRect">
            <a:avLst>
              <a:gd name="adj" fmla="val 18000"/>
            </a:avLst>
          </a:prstGeom>
          <a:solidFill>
            <a:srgbClr val="FCEF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95944" y="4507992"/>
            <a:ext cx="2322576" cy="329184"/>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CF8B3A"/>
                </a:solidFill>
                <a:latin typeface="Aptos"/>
              </a:rPr>
              <a:t>Waktu berlaku &amp; scope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38328"/>
            <a:ext cx="9601200" cy="256032"/>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096752"/>
                </a:solidFill>
                <a:latin typeface="Aptos"/>
              </a:rPr>
              <a:t>ALUR UTAMA</a:t>
            </a:r>
          </a:p>
        </p:txBody>
      </p:sp>
      <p:sp>
        <p:nvSpPr>
          <p:cNvPr id="4" name="TextBox 3"/>
          <p:cNvSpPr txBox="1"/>
          <p:nvPr/>
        </p:nvSpPr>
        <p:spPr>
          <a:xfrm>
            <a:off x="658368" y="713232"/>
            <a:ext cx="10835640" cy="621792"/>
          </a:xfrm>
          <a:prstGeom prst="rect">
            <a:avLst/>
          </a:prstGeom>
          <a:noFill/>
        </p:spPr>
        <p:txBody>
          <a:bodyPr wrap="square" lIns="27432" rIns="27432" tIns="27432" bIns="27432" anchor="ctr">
            <a:spAutoFit/>
          </a:bodyPr>
          <a:lstStyle/>
          <a:p>
            <a:pPr algn="l">
              <a:lnSpc>
                <a:spcPct val="108000"/>
              </a:lnSpc>
              <a:spcAft>
                <a:spcPts val="0"/>
              </a:spcAft>
            </a:pPr>
            <a:r>
              <a:rPr sz="2800" b="1">
                <a:solidFill>
                  <a:srgbClr val="1A2F37"/>
                </a:solidFill>
                <a:latin typeface="Aptos"/>
              </a:rPr>
              <a:t>Peta proses: dari Sheet ke keputusan</a:t>
            </a:r>
          </a:p>
        </p:txBody>
      </p:sp>
      <p:cxnSp>
        <p:nvCxnSpPr>
          <p:cNvPr id="5" name="Connector 4"/>
          <p:cNvCxnSpPr/>
          <p:nvPr/>
        </p:nvCxnSpPr>
        <p:spPr>
          <a:xfrm>
            <a:off x="676656" y="6492240"/>
            <a:ext cx="10799064" cy="0"/>
          </a:xfrm>
          <a:prstGeom prst="line">
            <a:avLst/>
          </a:prstGeom>
          <a:ln w="16510">
            <a:solidFill>
              <a:srgbClr val="DBE6E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76656" y="6537960"/>
            <a:ext cx="7132320" cy="164592"/>
          </a:xfrm>
          <a:prstGeom prst="rect">
            <a:avLst/>
          </a:prstGeom>
          <a:noFill/>
        </p:spPr>
        <p:txBody>
          <a:bodyPr wrap="square" lIns="27432" rIns="27432" tIns="27432" bIns="27432" anchor="ctr">
            <a:spAutoFit/>
          </a:bodyPr>
          <a:lstStyle/>
          <a:p>
            <a:pPr algn="l">
              <a:lnSpc>
                <a:spcPct val="108000"/>
              </a:lnSpc>
              <a:spcAft>
                <a:spcPts val="0"/>
              </a:spcAft>
            </a:pPr>
            <a:r>
              <a:rPr sz="850" b="0">
                <a:solidFill>
                  <a:srgbClr val="586C71"/>
                </a:solidFill>
                <a:latin typeface="Aptos"/>
              </a:rPr>
              <a:t>GOOGLE SHEET AI  ·  TINJAUAN APLIKASI</a:t>
            </a:r>
          </a:p>
        </p:txBody>
      </p:sp>
      <p:sp>
        <p:nvSpPr>
          <p:cNvPr id="7" name="TextBox 6"/>
          <p:cNvSpPr txBox="1"/>
          <p:nvPr/>
        </p:nvSpPr>
        <p:spPr>
          <a:xfrm>
            <a:off x="10972800" y="6519672"/>
            <a:ext cx="502920" cy="192024"/>
          </a:xfrm>
          <a:prstGeom prst="rect">
            <a:avLst/>
          </a:prstGeom>
          <a:noFill/>
        </p:spPr>
        <p:txBody>
          <a:bodyPr wrap="square" lIns="27432" rIns="27432" tIns="27432" bIns="27432" anchor="ctr">
            <a:spAutoFit/>
          </a:bodyPr>
          <a:lstStyle/>
          <a:p>
            <a:pPr algn="r">
              <a:lnSpc>
                <a:spcPct val="108000"/>
              </a:lnSpc>
              <a:spcAft>
                <a:spcPts val="0"/>
              </a:spcAft>
            </a:pPr>
            <a:r>
              <a:rPr sz="950" b="0">
                <a:solidFill>
                  <a:srgbClr val="586C71"/>
                </a:solidFill>
                <a:latin typeface="Aptos"/>
              </a:rPr>
              <a:t>06</a:t>
            </a:r>
          </a:p>
        </p:txBody>
      </p:sp>
      <p:sp>
        <p:nvSpPr>
          <p:cNvPr id="8" name="Rounded Rectangle 7"/>
          <p:cNvSpPr/>
          <p:nvPr/>
        </p:nvSpPr>
        <p:spPr>
          <a:xfrm>
            <a:off x="676656" y="1828800"/>
            <a:ext cx="2240280" cy="290779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76656" y="1828800"/>
            <a:ext cx="2240280" cy="640080"/>
          </a:xfrm>
          <a:prstGeom prst="roundRect">
            <a:avLst>
              <a:gd name="adj" fmla="val 18000"/>
            </a:avLst>
          </a:prstGeom>
          <a:solidFill>
            <a:srgbClr val="0C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920240"/>
            <a:ext cx="1984248" cy="438912"/>
          </a:xfrm>
          <a:prstGeom prst="rect">
            <a:avLst/>
          </a:prstGeom>
          <a:noFill/>
        </p:spPr>
        <p:txBody>
          <a:bodyPr wrap="square" lIns="27432" rIns="27432" tIns="27432" bIns="27432" anchor="ctr">
            <a:spAutoFit/>
          </a:bodyPr>
          <a:lstStyle/>
          <a:p>
            <a:pPr algn="ctr">
              <a:lnSpc>
                <a:spcPct val="108000"/>
              </a:lnSpc>
              <a:spcAft>
                <a:spcPts val="0"/>
              </a:spcAft>
            </a:pPr>
            <a:r>
              <a:rPr sz="1500" b="1">
                <a:solidFill>
                  <a:srgbClr val="FFFFFF"/>
                </a:solidFill>
                <a:latin typeface="Aptos"/>
              </a:rPr>
              <a:t>1 · Siapkan</a:t>
            </a:r>
          </a:p>
        </p:txBody>
      </p:sp>
      <p:sp>
        <p:nvSpPr>
          <p:cNvPr id="11" name="TextBox 10"/>
          <p:cNvSpPr txBox="1"/>
          <p:nvPr/>
        </p:nvSpPr>
        <p:spPr>
          <a:xfrm>
            <a:off x="886968" y="2715768"/>
            <a:ext cx="1828800" cy="1444752"/>
          </a:xfrm>
          <a:prstGeom prst="rect">
            <a:avLst/>
          </a:prstGeom>
          <a:noFill/>
        </p:spPr>
        <p:txBody>
          <a:bodyPr wrap="square" lIns="27432" rIns="27432" tIns="27432" bIns="27432" anchor="ctr">
            <a:spAutoFit/>
          </a:bodyPr>
          <a:lstStyle/>
          <a:p>
            <a:pPr algn="ctr">
              <a:lnSpc>
                <a:spcPct val="145000"/>
              </a:lnSpc>
              <a:spcAft>
                <a:spcPts val="0"/>
              </a:spcAft>
            </a:pPr>
            <a:r>
              <a:rPr sz="1500" b="0">
                <a:solidFill>
                  <a:srgbClr val="1A2F37"/>
                </a:solidFill>
                <a:latin typeface="Aptos"/>
              </a:rPr>
              <a:t>Akun &amp; akses</a:t>
            </a:r>
          </a:p>
          <a:p>
            <a:pPr algn="ctr">
              <a:lnSpc>
                <a:spcPct val="145000"/>
              </a:lnSpc>
              <a:spcAft>
                <a:spcPts val="0"/>
              </a:spcAft>
            </a:pPr>
            <a:r>
              <a:rPr sz="1500" b="0">
                <a:solidFill>
                  <a:srgbClr val="1A2F37"/>
                </a:solidFill>
                <a:latin typeface="Aptos"/>
              </a:rPr>
              <a:t>Daftarkan Sheet</a:t>
            </a:r>
          </a:p>
          <a:p>
            <a:pPr algn="ctr">
              <a:lnSpc>
                <a:spcPct val="145000"/>
              </a:lnSpc>
              <a:spcAft>
                <a:spcPts val="0"/>
              </a:spcAft>
            </a:pPr>
            <a:r>
              <a:rPr sz="1500" b="0">
                <a:solidFill>
                  <a:srgbClr val="1A2F37"/>
                </a:solidFill>
                <a:latin typeface="Aptos"/>
              </a:rPr>
              <a:t>Profiling tab</a:t>
            </a:r>
          </a:p>
        </p:txBody>
      </p:sp>
      <p:sp>
        <p:nvSpPr>
          <p:cNvPr id="12" name="Chevron 11"/>
          <p:cNvSpPr/>
          <p:nvPr/>
        </p:nvSpPr>
        <p:spPr>
          <a:xfrm>
            <a:off x="3108960" y="3136392"/>
            <a:ext cx="274320" cy="274320"/>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47872" y="1828800"/>
            <a:ext cx="2240280" cy="290779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547872" y="1828800"/>
            <a:ext cx="2240280" cy="640080"/>
          </a:xfrm>
          <a:prstGeom prst="roundRect">
            <a:avLst>
              <a:gd name="adj" fmla="val 18000"/>
            </a:avLst>
          </a:prstGeom>
          <a:solidFill>
            <a:srgbClr val="09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5887" y="1920240"/>
            <a:ext cx="1984248" cy="438912"/>
          </a:xfrm>
          <a:prstGeom prst="rect">
            <a:avLst/>
          </a:prstGeom>
          <a:noFill/>
        </p:spPr>
        <p:txBody>
          <a:bodyPr wrap="square" lIns="27432" rIns="27432" tIns="27432" bIns="27432" anchor="ctr">
            <a:spAutoFit/>
          </a:bodyPr>
          <a:lstStyle/>
          <a:p>
            <a:pPr algn="ctr">
              <a:lnSpc>
                <a:spcPct val="108000"/>
              </a:lnSpc>
              <a:spcAft>
                <a:spcPts val="0"/>
              </a:spcAft>
            </a:pPr>
            <a:r>
              <a:rPr sz="1500" b="1">
                <a:solidFill>
                  <a:srgbClr val="FFFFFF"/>
                </a:solidFill>
                <a:latin typeface="Aptos"/>
              </a:rPr>
              <a:t>2 · Maknai</a:t>
            </a:r>
          </a:p>
        </p:txBody>
      </p:sp>
      <p:sp>
        <p:nvSpPr>
          <p:cNvPr id="16" name="TextBox 15"/>
          <p:cNvSpPr txBox="1"/>
          <p:nvPr/>
        </p:nvSpPr>
        <p:spPr>
          <a:xfrm>
            <a:off x="3758184" y="2715768"/>
            <a:ext cx="1828800" cy="1444752"/>
          </a:xfrm>
          <a:prstGeom prst="rect">
            <a:avLst/>
          </a:prstGeom>
          <a:noFill/>
        </p:spPr>
        <p:txBody>
          <a:bodyPr wrap="square" lIns="27432" rIns="27432" tIns="27432" bIns="27432" anchor="ctr">
            <a:spAutoFit/>
          </a:bodyPr>
          <a:lstStyle/>
          <a:p>
            <a:pPr algn="ctr">
              <a:lnSpc>
                <a:spcPct val="145000"/>
              </a:lnSpc>
              <a:spcAft>
                <a:spcPts val="0"/>
              </a:spcAft>
            </a:pPr>
            <a:r>
              <a:rPr sz="1500" b="0">
                <a:solidFill>
                  <a:srgbClr val="1A2F37"/>
                </a:solidFill>
                <a:latin typeface="Aptos"/>
              </a:rPr>
              <a:t>Klasifikasi tab</a:t>
            </a:r>
          </a:p>
          <a:p>
            <a:pPr algn="ctr">
              <a:lnSpc>
                <a:spcPct val="145000"/>
              </a:lnSpc>
              <a:spcAft>
                <a:spcPts val="0"/>
              </a:spcAft>
            </a:pPr>
            <a:r>
              <a:rPr sz="1500" b="0">
                <a:solidFill>
                  <a:srgbClr val="1A2F37"/>
                </a:solidFill>
                <a:latin typeface="Aptos"/>
              </a:rPr>
              <a:t>Master &amp; taxonomy</a:t>
            </a:r>
          </a:p>
          <a:p>
            <a:pPr algn="ctr">
              <a:lnSpc>
                <a:spcPct val="145000"/>
              </a:lnSpc>
              <a:spcAft>
                <a:spcPts val="0"/>
              </a:spcAft>
            </a:pPr>
            <a:r>
              <a:rPr sz="1500" b="0">
                <a:solidFill>
                  <a:srgbClr val="1A2F37"/>
                </a:solidFill>
                <a:latin typeface="Aptos"/>
              </a:rPr>
              <a:t>Konfigurasi ETL</a:t>
            </a:r>
          </a:p>
        </p:txBody>
      </p:sp>
      <p:sp>
        <p:nvSpPr>
          <p:cNvPr id="17" name="Chevron 16"/>
          <p:cNvSpPr/>
          <p:nvPr/>
        </p:nvSpPr>
        <p:spPr>
          <a:xfrm>
            <a:off x="5980176" y="3136392"/>
            <a:ext cx="274320" cy="274320"/>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19088" y="1828800"/>
            <a:ext cx="2240280" cy="290779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19088" y="1828800"/>
            <a:ext cx="2240280" cy="640080"/>
          </a:xfrm>
          <a:prstGeom prst="roundRect">
            <a:avLst>
              <a:gd name="adj" fmla="val 18000"/>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47103" y="1920240"/>
            <a:ext cx="1984248" cy="438912"/>
          </a:xfrm>
          <a:prstGeom prst="rect">
            <a:avLst/>
          </a:prstGeom>
          <a:noFill/>
        </p:spPr>
        <p:txBody>
          <a:bodyPr wrap="square" lIns="27432" rIns="27432" tIns="27432" bIns="27432" anchor="ctr">
            <a:spAutoFit/>
          </a:bodyPr>
          <a:lstStyle/>
          <a:p>
            <a:pPr algn="ctr">
              <a:lnSpc>
                <a:spcPct val="108000"/>
              </a:lnSpc>
              <a:spcAft>
                <a:spcPts val="0"/>
              </a:spcAft>
            </a:pPr>
            <a:r>
              <a:rPr sz="1500" b="1">
                <a:solidFill>
                  <a:srgbClr val="FFFFFF"/>
                </a:solidFill>
                <a:latin typeface="Aptos"/>
              </a:rPr>
              <a:t>3 · Percayai</a:t>
            </a:r>
          </a:p>
        </p:txBody>
      </p:sp>
      <p:sp>
        <p:nvSpPr>
          <p:cNvPr id="21" name="TextBox 20"/>
          <p:cNvSpPr txBox="1"/>
          <p:nvPr/>
        </p:nvSpPr>
        <p:spPr>
          <a:xfrm>
            <a:off x="6629400" y="2715768"/>
            <a:ext cx="1828800" cy="1444752"/>
          </a:xfrm>
          <a:prstGeom prst="rect">
            <a:avLst/>
          </a:prstGeom>
          <a:noFill/>
        </p:spPr>
        <p:txBody>
          <a:bodyPr wrap="square" lIns="27432" rIns="27432" tIns="27432" bIns="27432" anchor="ctr">
            <a:spAutoFit/>
          </a:bodyPr>
          <a:lstStyle/>
          <a:p>
            <a:pPr algn="ctr">
              <a:lnSpc>
                <a:spcPct val="145000"/>
              </a:lnSpc>
              <a:spcAft>
                <a:spcPts val="0"/>
              </a:spcAft>
            </a:pPr>
            <a:r>
              <a:rPr sz="1500" b="0">
                <a:solidFill>
                  <a:srgbClr val="1A2F37"/>
                </a:solidFill>
                <a:latin typeface="Aptos"/>
              </a:rPr>
              <a:t>Validasi &amp; review</a:t>
            </a:r>
          </a:p>
          <a:p>
            <a:pPr algn="ctr">
              <a:lnSpc>
                <a:spcPct val="145000"/>
              </a:lnSpc>
              <a:spcAft>
                <a:spcPts val="0"/>
              </a:spcAft>
            </a:pPr>
            <a:r>
              <a:rPr sz="1500" b="0">
                <a:solidFill>
                  <a:srgbClr val="1A2F37"/>
                </a:solidFill>
                <a:latin typeface="Aptos"/>
              </a:rPr>
              <a:t>Preview import</a:t>
            </a:r>
          </a:p>
          <a:p>
            <a:pPr algn="ctr">
              <a:lnSpc>
                <a:spcPct val="145000"/>
              </a:lnSpc>
              <a:spcAft>
                <a:spcPts val="0"/>
              </a:spcAft>
            </a:pPr>
            <a:r>
              <a:rPr sz="1500" b="0">
                <a:solidFill>
                  <a:srgbClr val="1A2F37"/>
                </a:solidFill>
                <a:latin typeface="Aptos"/>
              </a:rPr>
              <a:t>Approve &amp; apply</a:t>
            </a:r>
          </a:p>
        </p:txBody>
      </p:sp>
      <p:sp>
        <p:nvSpPr>
          <p:cNvPr id="22" name="Chevron 21"/>
          <p:cNvSpPr/>
          <p:nvPr/>
        </p:nvSpPr>
        <p:spPr>
          <a:xfrm>
            <a:off x="8851392" y="3136392"/>
            <a:ext cx="274320" cy="274320"/>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290304" y="1828800"/>
            <a:ext cx="2240280" cy="290779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90304" y="1828800"/>
            <a:ext cx="2240280" cy="640080"/>
          </a:xfrm>
          <a:prstGeom prst="roundRect">
            <a:avLst>
              <a:gd name="adj" fmla="val 18000"/>
            </a:avLst>
          </a:prstGeom>
          <a:solidFill>
            <a:srgbClr val="0C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0" y="1920240"/>
            <a:ext cx="1984248" cy="438912"/>
          </a:xfrm>
          <a:prstGeom prst="rect">
            <a:avLst/>
          </a:prstGeom>
          <a:noFill/>
        </p:spPr>
        <p:txBody>
          <a:bodyPr wrap="square" lIns="27432" rIns="27432" tIns="27432" bIns="27432" anchor="ctr">
            <a:spAutoFit/>
          </a:bodyPr>
          <a:lstStyle/>
          <a:p>
            <a:pPr algn="ctr">
              <a:lnSpc>
                <a:spcPct val="108000"/>
              </a:lnSpc>
              <a:spcAft>
                <a:spcPts val="0"/>
              </a:spcAft>
            </a:pPr>
            <a:r>
              <a:rPr sz="1500" b="1">
                <a:solidFill>
                  <a:srgbClr val="FFFFFF"/>
                </a:solidFill>
                <a:latin typeface="Aptos"/>
              </a:rPr>
              <a:t>4 · Gunakan</a:t>
            </a:r>
          </a:p>
        </p:txBody>
      </p:sp>
      <p:sp>
        <p:nvSpPr>
          <p:cNvPr id="26" name="TextBox 25"/>
          <p:cNvSpPr txBox="1"/>
          <p:nvPr/>
        </p:nvSpPr>
        <p:spPr>
          <a:xfrm>
            <a:off x="9500616" y="2715768"/>
            <a:ext cx="1828800" cy="1444752"/>
          </a:xfrm>
          <a:prstGeom prst="rect">
            <a:avLst/>
          </a:prstGeom>
          <a:noFill/>
        </p:spPr>
        <p:txBody>
          <a:bodyPr wrap="square" lIns="27432" rIns="27432" tIns="27432" bIns="27432" anchor="ctr">
            <a:spAutoFit/>
          </a:bodyPr>
          <a:lstStyle/>
          <a:p>
            <a:pPr algn="ctr">
              <a:lnSpc>
                <a:spcPct val="145000"/>
              </a:lnSpc>
              <a:spcAft>
                <a:spcPts val="0"/>
              </a:spcAft>
            </a:pPr>
            <a:r>
              <a:rPr sz="1500" b="0">
                <a:solidFill>
                  <a:srgbClr val="1A2F37"/>
                </a:solidFill>
                <a:latin typeface="Aptos"/>
              </a:rPr>
              <a:t>Pantau kualitas</a:t>
            </a:r>
          </a:p>
          <a:p>
            <a:pPr algn="ctr">
              <a:lnSpc>
                <a:spcPct val="145000"/>
              </a:lnSpc>
              <a:spcAft>
                <a:spcPts val="0"/>
              </a:spcAft>
            </a:pPr>
            <a:r>
              <a:rPr sz="1500" b="0">
                <a:solidFill>
                  <a:srgbClr val="1A2F37"/>
                </a:solidFill>
                <a:latin typeface="Aptos"/>
              </a:rPr>
              <a:t>Tanya data</a:t>
            </a:r>
          </a:p>
          <a:p>
            <a:pPr algn="ctr">
              <a:lnSpc>
                <a:spcPct val="145000"/>
              </a:lnSpc>
              <a:spcAft>
                <a:spcPts val="0"/>
              </a:spcAft>
            </a:pPr>
            <a:r>
              <a:rPr sz="1500" b="0">
                <a:solidFill>
                  <a:srgbClr val="1A2F37"/>
                </a:solidFill>
                <a:latin typeface="Aptos"/>
              </a:rPr>
              <a:t>Tabel &amp; chart</a:t>
            </a:r>
          </a:p>
        </p:txBody>
      </p:sp>
      <p:sp>
        <p:nvSpPr>
          <p:cNvPr id="27" name="Rounded Rectangle 26"/>
          <p:cNvSpPr/>
          <p:nvPr/>
        </p:nvSpPr>
        <p:spPr>
          <a:xfrm>
            <a:off x="914400" y="5230368"/>
            <a:ext cx="10360152" cy="640080"/>
          </a:xfrm>
          <a:prstGeom prst="roundRect">
            <a:avLst>
              <a:gd name="adj" fmla="val 18000"/>
            </a:avLst>
          </a:prstGeom>
          <a:solidFill>
            <a:srgbClr val="FCEF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15568" y="5312664"/>
            <a:ext cx="9966960" cy="466344"/>
          </a:xfrm>
          <a:prstGeom prst="rect">
            <a:avLst/>
          </a:prstGeom>
          <a:noFill/>
        </p:spPr>
        <p:txBody>
          <a:bodyPr wrap="square" lIns="27432" rIns="27432" tIns="27432" bIns="27432" anchor="ctr">
            <a:spAutoFit/>
          </a:bodyPr>
          <a:lstStyle/>
          <a:p>
            <a:pPr algn="ctr">
              <a:lnSpc>
                <a:spcPct val="108000"/>
              </a:lnSpc>
              <a:spcAft>
                <a:spcPts val="0"/>
              </a:spcAft>
            </a:pPr>
            <a:r>
              <a:rPr sz="1500" b="1">
                <a:solidFill>
                  <a:srgbClr val="1A2F37"/>
                </a:solidFill>
                <a:latin typeface="Aptos"/>
              </a:rPr>
              <a:t>Gerbang penting: data baru digunakan setelah klasifikasi, validasi, dan keputusan akses selesai.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38328"/>
            <a:ext cx="9601200" cy="256032"/>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096752"/>
                </a:solidFill>
                <a:latin typeface="Aptos"/>
              </a:rPr>
              <a:t>KLASIFIKASI TAB</a:t>
            </a:r>
          </a:p>
        </p:txBody>
      </p:sp>
      <p:sp>
        <p:nvSpPr>
          <p:cNvPr id="4" name="TextBox 3"/>
          <p:cNvSpPr txBox="1"/>
          <p:nvPr/>
        </p:nvSpPr>
        <p:spPr>
          <a:xfrm>
            <a:off x="658368" y="713232"/>
            <a:ext cx="10835640" cy="621792"/>
          </a:xfrm>
          <a:prstGeom prst="rect">
            <a:avLst/>
          </a:prstGeom>
          <a:noFill/>
        </p:spPr>
        <p:txBody>
          <a:bodyPr wrap="square" lIns="27432" rIns="27432" tIns="27432" bIns="27432" anchor="ctr">
            <a:spAutoFit/>
          </a:bodyPr>
          <a:lstStyle/>
          <a:p>
            <a:pPr algn="l">
              <a:lnSpc>
                <a:spcPct val="108000"/>
              </a:lnSpc>
              <a:spcAft>
                <a:spcPts val="0"/>
              </a:spcAft>
            </a:pPr>
            <a:r>
              <a:rPr sz="2800" b="1">
                <a:solidFill>
                  <a:srgbClr val="1A2F37"/>
                </a:solidFill>
                <a:latin typeface="Aptos"/>
              </a:rPr>
              <a:t>Satu spreadsheet bisa berisi dua jenis data</a:t>
            </a:r>
          </a:p>
        </p:txBody>
      </p:sp>
      <p:sp>
        <p:nvSpPr>
          <p:cNvPr id="5" name="TextBox 4"/>
          <p:cNvSpPr txBox="1"/>
          <p:nvPr/>
        </p:nvSpPr>
        <p:spPr>
          <a:xfrm>
            <a:off x="685800" y="1362456"/>
            <a:ext cx="10744200" cy="438912"/>
          </a:xfrm>
          <a:prstGeom prst="rect">
            <a:avLst/>
          </a:prstGeom>
          <a:noFill/>
        </p:spPr>
        <p:txBody>
          <a:bodyPr wrap="square" lIns="27432" rIns="27432" tIns="27432" bIns="27432" anchor="ctr">
            <a:spAutoFit/>
          </a:bodyPr>
          <a:lstStyle/>
          <a:p>
            <a:pPr algn="l">
              <a:lnSpc>
                <a:spcPct val="108000"/>
              </a:lnSpc>
              <a:spcAft>
                <a:spcPts val="0"/>
              </a:spcAft>
            </a:pPr>
            <a:r>
              <a:rPr sz="1300" b="0">
                <a:solidFill>
                  <a:srgbClr val="586C71"/>
                </a:solidFill>
                <a:latin typeface="Aptos"/>
              </a:rPr>
              <a:t>Keputusan dibuat per tab setelah discovery dan profiling, bukan otomatis untuk seluruh file.</a:t>
            </a:r>
          </a:p>
        </p:txBody>
      </p:sp>
      <p:cxnSp>
        <p:nvCxnSpPr>
          <p:cNvPr id="6" name="Connector 5"/>
          <p:cNvCxnSpPr/>
          <p:nvPr/>
        </p:nvCxnSpPr>
        <p:spPr>
          <a:xfrm>
            <a:off x="676656" y="6492240"/>
            <a:ext cx="10799064" cy="0"/>
          </a:xfrm>
          <a:prstGeom prst="line">
            <a:avLst/>
          </a:prstGeom>
          <a:ln w="16510">
            <a:solidFill>
              <a:srgbClr val="DBE6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 y="6537960"/>
            <a:ext cx="7132320" cy="164592"/>
          </a:xfrm>
          <a:prstGeom prst="rect">
            <a:avLst/>
          </a:prstGeom>
          <a:noFill/>
        </p:spPr>
        <p:txBody>
          <a:bodyPr wrap="square" lIns="27432" rIns="27432" tIns="27432" bIns="27432" anchor="ctr">
            <a:spAutoFit/>
          </a:bodyPr>
          <a:lstStyle/>
          <a:p>
            <a:pPr algn="l">
              <a:lnSpc>
                <a:spcPct val="108000"/>
              </a:lnSpc>
              <a:spcAft>
                <a:spcPts val="0"/>
              </a:spcAft>
            </a:pPr>
            <a:r>
              <a:rPr sz="850" b="0">
                <a:solidFill>
                  <a:srgbClr val="586C71"/>
                </a:solidFill>
                <a:latin typeface="Aptos"/>
              </a:rPr>
              <a:t>GOOGLE SHEET AI  ·  TINJAUAN APLIKASI</a:t>
            </a:r>
          </a:p>
        </p:txBody>
      </p:sp>
      <p:sp>
        <p:nvSpPr>
          <p:cNvPr id="8" name="TextBox 7"/>
          <p:cNvSpPr txBox="1"/>
          <p:nvPr/>
        </p:nvSpPr>
        <p:spPr>
          <a:xfrm>
            <a:off x="10972800" y="6519672"/>
            <a:ext cx="502920" cy="192024"/>
          </a:xfrm>
          <a:prstGeom prst="rect">
            <a:avLst/>
          </a:prstGeom>
          <a:noFill/>
        </p:spPr>
        <p:txBody>
          <a:bodyPr wrap="square" lIns="27432" rIns="27432" tIns="27432" bIns="27432" anchor="ctr">
            <a:spAutoFit/>
          </a:bodyPr>
          <a:lstStyle/>
          <a:p>
            <a:pPr algn="r">
              <a:lnSpc>
                <a:spcPct val="108000"/>
              </a:lnSpc>
              <a:spcAft>
                <a:spcPts val="0"/>
              </a:spcAft>
            </a:pPr>
            <a:r>
              <a:rPr sz="950" b="0">
                <a:solidFill>
                  <a:srgbClr val="586C71"/>
                </a:solidFill>
                <a:latin typeface="Aptos"/>
              </a:rPr>
              <a:t>07</a:t>
            </a:r>
          </a:p>
        </p:txBody>
      </p:sp>
      <p:sp>
        <p:nvSpPr>
          <p:cNvPr id="9" name="Rounded Rectangle 8"/>
          <p:cNvSpPr/>
          <p:nvPr/>
        </p:nvSpPr>
        <p:spPr>
          <a:xfrm>
            <a:off x="4617720" y="1828800"/>
            <a:ext cx="2953512" cy="658368"/>
          </a:xfrm>
          <a:prstGeom prst="roundRect">
            <a:avLst>
              <a:gd name="adj" fmla="val 18000"/>
            </a:avLst>
          </a:prstGeom>
          <a:solidFill>
            <a:srgbClr val="0C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28032" y="1920240"/>
            <a:ext cx="2514600" cy="429768"/>
          </a:xfrm>
          <a:prstGeom prst="rect">
            <a:avLst/>
          </a:prstGeom>
          <a:noFill/>
        </p:spPr>
        <p:txBody>
          <a:bodyPr wrap="square" lIns="27432" rIns="27432" tIns="27432" bIns="27432" anchor="ctr">
            <a:spAutoFit/>
          </a:bodyPr>
          <a:lstStyle/>
          <a:p>
            <a:pPr algn="ctr">
              <a:lnSpc>
                <a:spcPct val="108000"/>
              </a:lnSpc>
              <a:spcAft>
                <a:spcPts val="0"/>
              </a:spcAft>
            </a:pPr>
            <a:r>
              <a:rPr sz="1700" b="1">
                <a:solidFill>
                  <a:srgbClr val="FFFFFF"/>
                </a:solidFill>
                <a:latin typeface="Aptos"/>
              </a:rPr>
              <a:t>Google Sheet → tab</a:t>
            </a:r>
          </a:p>
        </p:txBody>
      </p:sp>
      <p:cxnSp>
        <p:nvCxnSpPr>
          <p:cNvPr id="11" name="Connector 10"/>
          <p:cNvCxnSpPr/>
          <p:nvPr/>
        </p:nvCxnSpPr>
        <p:spPr>
          <a:xfrm>
            <a:off x="6099048" y="2487168"/>
            <a:ext cx="0" cy="329184"/>
          </a:xfrm>
          <a:prstGeom prst="line">
            <a:avLst/>
          </a:prstGeom>
          <a:ln w="25400">
            <a:solidFill>
              <a:srgbClr val="11877A"/>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754880" y="2816352"/>
            <a:ext cx="2688336" cy="630936"/>
          </a:xfrm>
          <a:prstGeom prst="roundRect">
            <a:avLst>
              <a:gd name="adj" fmla="val 18000"/>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82896" y="2898648"/>
            <a:ext cx="2441448" cy="438912"/>
          </a:xfrm>
          <a:prstGeom prst="rect">
            <a:avLst/>
          </a:prstGeom>
          <a:noFill/>
        </p:spPr>
        <p:txBody>
          <a:bodyPr wrap="square" lIns="27432" rIns="27432" tIns="27432" bIns="27432" anchor="ctr">
            <a:spAutoFit/>
          </a:bodyPr>
          <a:lstStyle/>
          <a:p>
            <a:pPr algn="ctr">
              <a:lnSpc>
                <a:spcPct val="108000"/>
              </a:lnSpc>
              <a:spcAft>
                <a:spcPts val="0"/>
              </a:spcAft>
            </a:pPr>
            <a:r>
              <a:rPr sz="1500" b="1">
                <a:solidFill>
                  <a:srgbClr val="096752"/>
                </a:solidFill>
                <a:latin typeface="Aptos"/>
              </a:rPr>
              <a:t>Apakah data ini rujukan?</a:t>
            </a:r>
          </a:p>
        </p:txBody>
      </p:sp>
      <p:cxnSp>
        <p:nvCxnSpPr>
          <p:cNvPr id="14" name="Connector 13"/>
          <p:cNvCxnSpPr/>
          <p:nvPr/>
        </p:nvCxnSpPr>
        <p:spPr>
          <a:xfrm flipH="1">
            <a:off x="3017520" y="3136392"/>
            <a:ext cx="1737360" cy="448056"/>
          </a:xfrm>
          <a:prstGeom prst="line">
            <a:avLst/>
          </a:prstGeom>
          <a:ln w="22860">
            <a:solidFill>
              <a:srgbClr val="11877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443216" y="3136392"/>
            <a:ext cx="1746504" cy="448056"/>
          </a:xfrm>
          <a:prstGeom prst="line">
            <a:avLst/>
          </a:prstGeom>
          <a:ln w="22860">
            <a:solidFill>
              <a:srgbClr val="11877A"/>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22960" y="3575304"/>
            <a:ext cx="4160520" cy="1682496"/>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60" y="3776472"/>
            <a:ext cx="54864" cy="1280160"/>
          </a:xfrm>
          <a:prstGeom prst="roundRect">
            <a:avLst>
              <a:gd name="adj" fmla="val 18000"/>
            </a:avLst>
          </a:prstGeom>
          <a:solidFill>
            <a:srgbClr val="09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758184"/>
            <a:ext cx="3739896" cy="475488"/>
          </a:xfrm>
          <a:prstGeom prst="rect">
            <a:avLst/>
          </a:prstGeom>
          <a:noFill/>
        </p:spPr>
        <p:txBody>
          <a:bodyPr wrap="square" lIns="27432" rIns="27432" tIns="27432" bIns="27432" anchor="ctr">
            <a:spAutoFit/>
          </a:bodyPr>
          <a:lstStyle/>
          <a:p>
            <a:pPr algn="l">
              <a:lnSpc>
                <a:spcPct val="108000"/>
              </a:lnSpc>
              <a:spcAft>
                <a:spcPts val="0"/>
              </a:spcAft>
            </a:pPr>
            <a:r>
              <a:rPr sz="1800" b="1">
                <a:solidFill>
                  <a:srgbClr val="1A2F37"/>
                </a:solidFill>
                <a:latin typeface="Aptos"/>
              </a:rPr>
              <a:t>MASTER · data rujukan</a:t>
            </a:r>
          </a:p>
        </p:txBody>
      </p:sp>
      <p:sp>
        <p:nvSpPr>
          <p:cNvPr id="19" name="TextBox 18"/>
          <p:cNvSpPr txBox="1"/>
          <p:nvPr/>
        </p:nvSpPr>
        <p:spPr>
          <a:xfrm>
            <a:off x="1042416" y="4288536"/>
            <a:ext cx="3721608" cy="786384"/>
          </a:xfrm>
          <a:prstGeom prst="rect">
            <a:avLst/>
          </a:prstGeom>
          <a:noFill/>
        </p:spPr>
        <p:txBody>
          <a:bodyPr wrap="square" lIns="27432" rIns="27432" tIns="27432" bIns="27432" anchor="t">
            <a:spAutoFit/>
          </a:bodyPr>
          <a:lstStyle/>
          <a:p>
            <a:pPr algn="l">
              <a:lnSpc>
                <a:spcPct val="120000"/>
              </a:lnSpc>
              <a:spcAft>
                <a:spcPts val="0"/>
              </a:spcAft>
            </a:pPr>
            <a:r>
              <a:rPr sz="1200" b="0">
                <a:solidFill>
                  <a:srgbClr val="586C71"/>
                </a:solidFill>
                <a:latin typeface="Aptos"/>
              </a:rPr>
              <a:t>Identitas stabil; contoh: cabang, produk, karyawan. Cari master yang sudah ada dan cocokkan business key.</a:t>
            </a:r>
          </a:p>
        </p:txBody>
      </p:sp>
      <p:sp>
        <p:nvSpPr>
          <p:cNvPr id="20" name="Rounded Rectangle 19"/>
          <p:cNvSpPr/>
          <p:nvPr/>
        </p:nvSpPr>
        <p:spPr>
          <a:xfrm>
            <a:off x="7205472" y="3575304"/>
            <a:ext cx="4160520" cy="1682496"/>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205472" y="3776472"/>
            <a:ext cx="54864" cy="1280160"/>
          </a:xfrm>
          <a:prstGeom prst="roundRect">
            <a:avLst>
              <a:gd name="adj" fmla="val 18000"/>
            </a:avLst>
          </a:prstGeom>
          <a:solidFill>
            <a:srgbClr val="CF8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24927" y="3758184"/>
            <a:ext cx="3739896" cy="475488"/>
          </a:xfrm>
          <a:prstGeom prst="rect">
            <a:avLst/>
          </a:prstGeom>
          <a:noFill/>
        </p:spPr>
        <p:txBody>
          <a:bodyPr wrap="square" lIns="27432" rIns="27432" tIns="27432" bIns="27432" anchor="ctr">
            <a:spAutoFit/>
          </a:bodyPr>
          <a:lstStyle/>
          <a:p>
            <a:pPr algn="l">
              <a:lnSpc>
                <a:spcPct val="108000"/>
              </a:lnSpc>
              <a:spcAft>
                <a:spcPts val="0"/>
              </a:spcAft>
            </a:pPr>
            <a:r>
              <a:rPr sz="1800" b="1">
                <a:solidFill>
                  <a:srgbClr val="1A2F37"/>
                </a:solidFill>
                <a:latin typeface="Aptos"/>
              </a:rPr>
              <a:t>NON-MASTER · fakta dinamis</a:t>
            </a:r>
          </a:p>
        </p:txBody>
      </p:sp>
      <p:sp>
        <p:nvSpPr>
          <p:cNvPr id="23" name="TextBox 22"/>
          <p:cNvSpPr txBox="1"/>
          <p:nvPr/>
        </p:nvSpPr>
        <p:spPr>
          <a:xfrm>
            <a:off x="7424927" y="4288536"/>
            <a:ext cx="3721608" cy="786384"/>
          </a:xfrm>
          <a:prstGeom prst="rect">
            <a:avLst/>
          </a:prstGeom>
          <a:noFill/>
        </p:spPr>
        <p:txBody>
          <a:bodyPr wrap="square" lIns="27432" rIns="27432" tIns="27432" bIns="27432" anchor="t">
            <a:spAutoFit/>
          </a:bodyPr>
          <a:lstStyle/>
          <a:p>
            <a:pPr algn="l">
              <a:lnSpc>
                <a:spcPct val="120000"/>
              </a:lnSpc>
              <a:spcAft>
                <a:spcPts val="0"/>
              </a:spcAft>
            </a:pPr>
            <a:r>
              <a:rPr sz="1200" b="0">
                <a:solidFill>
                  <a:srgbClr val="586C71"/>
                </a:solidFill>
                <a:latin typeface="Aptos"/>
              </a:rPr>
              <a:t>Kejadian atau pengukuran; contoh: penjualan dan hasil penimbangan. Relasikan kolom ke master bila perlu.</a:t>
            </a:r>
          </a:p>
        </p:txBody>
      </p:sp>
      <p:sp>
        <p:nvSpPr>
          <p:cNvPr id="24" name="Rounded Rectangle 23"/>
          <p:cNvSpPr/>
          <p:nvPr/>
        </p:nvSpPr>
        <p:spPr>
          <a:xfrm>
            <a:off x="4837176" y="5532120"/>
            <a:ext cx="2523744" cy="329184"/>
          </a:xfrm>
          <a:prstGeom prst="roundRect">
            <a:avLst>
              <a:gd name="adj" fmla="val 18000"/>
            </a:avLst>
          </a:prstGeom>
          <a:solidFill>
            <a:srgbClr val="FCEF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10328" y="5532120"/>
            <a:ext cx="2377439" cy="329184"/>
          </a:xfrm>
          <a:prstGeom prst="rect">
            <a:avLst/>
          </a:prstGeom>
          <a:noFill/>
        </p:spPr>
        <p:txBody>
          <a:bodyPr wrap="square" lIns="27432" rIns="27432" tIns="27432" bIns="27432" anchor="ctr">
            <a:spAutoFit/>
          </a:bodyPr>
          <a:lstStyle/>
          <a:p>
            <a:pPr algn="l">
              <a:lnSpc>
                <a:spcPct val="108000"/>
              </a:lnSpc>
              <a:spcAft>
                <a:spcPts val="0"/>
              </a:spcAft>
            </a:pPr>
            <a:r>
              <a:rPr sz="1000" b="1">
                <a:solidFill>
                  <a:srgbClr val="CF8B3A"/>
                </a:solidFill>
                <a:latin typeface="Aptos"/>
              </a:rPr>
              <a:t>KONFIRMASI PENGGUNA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38328"/>
            <a:ext cx="9601200" cy="256032"/>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096752"/>
                </a:solidFill>
                <a:latin typeface="Aptos"/>
              </a:rPr>
              <a:t>MASTER, TAXONOMY, DAN WAKTU</a:t>
            </a:r>
          </a:p>
        </p:txBody>
      </p:sp>
      <p:sp>
        <p:nvSpPr>
          <p:cNvPr id="4" name="TextBox 3"/>
          <p:cNvSpPr txBox="1"/>
          <p:nvPr/>
        </p:nvSpPr>
        <p:spPr>
          <a:xfrm>
            <a:off x="658368" y="713232"/>
            <a:ext cx="10835640" cy="621792"/>
          </a:xfrm>
          <a:prstGeom prst="rect">
            <a:avLst/>
          </a:prstGeom>
          <a:noFill/>
        </p:spPr>
        <p:txBody>
          <a:bodyPr wrap="square" lIns="27432" rIns="27432" tIns="27432" bIns="27432" anchor="ctr">
            <a:spAutoFit/>
          </a:bodyPr>
          <a:lstStyle/>
          <a:p>
            <a:pPr algn="l">
              <a:lnSpc>
                <a:spcPct val="108000"/>
              </a:lnSpc>
              <a:spcAft>
                <a:spcPts val="0"/>
              </a:spcAft>
            </a:pPr>
            <a:r>
              <a:rPr sz="2800" b="1">
                <a:solidFill>
                  <a:srgbClr val="1A2F37"/>
                </a:solidFill>
                <a:latin typeface="Aptos"/>
              </a:rPr>
              <a:t>Bagaimana data saling terhubung?</a:t>
            </a:r>
          </a:p>
        </p:txBody>
      </p:sp>
      <p:cxnSp>
        <p:nvCxnSpPr>
          <p:cNvPr id="5" name="Connector 4"/>
          <p:cNvCxnSpPr/>
          <p:nvPr/>
        </p:nvCxnSpPr>
        <p:spPr>
          <a:xfrm>
            <a:off x="676656" y="6492240"/>
            <a:ext cx="10799064" cy="0"/>
          </a:xfrm>
          <a:prstGeom prst="line">
            <a:avLst/>
          </a:prstGeom>
          <a:ln w="16510">
            <a:solidFill>
              <a:srgbClr val="DBE6E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76656" y="6537960"/>
            <a:ext cx="7132320" cy="164592"/>
          </a:xfrm>
          <a:prstGeom prst="rect">
            <a:avLst/>
          </a:prstGeom>
          <a:noFill/>
        </p:spPr>
        <p:txBody>
          <a:bodyPr wrap="square" lIns="27432" rIns="27432" tIns="27432" bIns="27432" anchor="ctr">
            <a:spAutoFit/>
          </a:bodyPr>
          <a:lstStyle/>
          <a:p>
            <a:pPr algn="l">
              <a:lnSpc>
                <a:spcPct val="108000"/>
              </a:lnSpc>
              <a:spcAft>
                <a:spcPts val="0"/>
              </a:spcAft>
            </a:pPr>
            <a:r>
              <a:rPr sz="850" b="0">
                <a:solidFill>
                  <a:srgbClr val="586C71"/>
                </a:solidFill>
                <a:latin typeface="Aptos"/>
              </a:rPr>
              <a:t>GOOGLE SHEET AI  ·  TINJAUAN APLIKASI</a:t>
            </a:r>
          </a:p>
        </p:txBody>
      </p:sp>
      <p:sp>
        <p:nvSpPr>
          <p:cNvPr id="7" name="TextBox 6"/>
          <p:cNvSpPr txBox="1"/>
          <p:nvPr/>
        </p:nvSpPr>
        <p:spPr>
          <a:xfrm>
            <a:off x="10972800" y="6519672"/>
            <a:ext cx="502920" cy="192024"/>
          </a:xfrm>
          <a:prstGeom prst="rect">
            <a:avLst/>
          </a:prstGeom>
          <a:noFill/>
        </p:spPr>
        <p:txBody>
          <a:bodyPr wrap="square" lIns="27432" rIns="27432" tIns="27432" bIns="27432" anchor="ctr">
            <a:spAutoFit/>
          </a:bodyPr>
          <a:lstStyle/>
          <a:p>
            <a:pPr algn="r">
              <a:lnSpc>
                <a:spcPct val="108000"/>
              </a:lnSpc>
              <a:spcAft>
                <a:spcPts val="0"/>
              </a:spcAft>
            </a:pPr>
            <a:r>
              <a:rPr sz="950" b="0">
                <a:solidFill>
                  <a:srgbClr val="586C71"/>
                </a:solidFill>
                <a:latin typeface="Aptos"/>
              </a:rPr>
              <a:t>08</a:t>
            </a:r>
          </a:p>
        </p:txBody>
      </p:sp>
      <p:sp>
        <p:nvSpPr>
          <p:cNvPr id="8" name="Rounded Rectangle 7"/>
          <p:cNvSpPr/>
          <p:nvPr/>
        </p:nvSpPr>
        <p:spPr>
          <a:xfrm>
            <a:off x="713232" y="1874519"/>
            <a:ext cx="3017520" cy="135331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13232" y="2075688"/>
            <a:ext cx="54864" cy="950976"/>
          </a:xfrm>
          <a:prstGeom prst="roundRect">
            <a:avLst>
              <a:gd name="adj" fmla="val 18000"/>
            </a:avLst>
          </a:prstGeom>
          <a:solidFill>
            <a:srgbClr val="09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057400"/>
            <a:ext cx="2596896" cy="475488"/>
          </a:xfrm>
          <a:prstGeom prst="rect">
            <a:avLst/>
          </a:prstGeom>
          <a:noFill/>
        </p:spPr>
        <p:txBody>
          <a:bodyPr wrap="square" lIns="27432" rIns="27432" tIns="27432" bIns="27432" anchor="ctr">
            <a:spAutoFit/>
          </a:bodyPr>
          <a:lstStyle/>
          <a:p>
            <a:pPr algn="l">
              <a:lnSpc>
                <a:spcPct val="108000"/>
              </a:lnSpc>
              <a:spcAft>
                <a:spcPts val="0"/>
              </a:spcAft>
            </a:pPr>
            <a:r>
              <a:rPr sz="1700" b="1">
                <a:solidFill>
                  <a:srgbClr val="1A2F37"/>
                </a:solidFill>
                <a:latin typeface="Aptos"/>
              </a:rPr>
              <a:t>Master Cabang</a:t>
            </a:r>
          </a:p>
        </p:txBody>
      </p:sp>
      <p:sp>
        <p:nvSpPr>
          <p:cNvPr id="11" name="TextBox 10"/>
          <p:cNvSpPr txBox="1"/>
          <p:nvPr/>
        </p:nvSpPr>
        <p:spPr>
          <a:xfrm>
            <a:off x="932688" y="2587752"/>
            <a:ext cx="2578608" cy="457200"/>
          </a:xfrm>
          <a:prstGeom prst="rect">
            <a:avLst/>
          </a:prstGeom>
          <a:noFill/>
        </p:spPr>
        <p:txBody>
          <a:bodyPr wrap="square" lIns="27432" rIns="27432" tIns="27432" bIns="27432" anchor="t">
            <a:spAutoFit/>
          </a:bodyPr>
          <a:lstStyle/>
          <a:p>
            <a:pPr algn="l">
              <a:lnSpc>
                <a:spcPct val="120000"/>
              </a:lnSpc>
              <a:spcAft>
                <a:spcPts val="0"/>
              </a:spcAft>
            </a:pPr>
            <a:r>
              <a:rPr sz="1200" b="0">
                <a:solidFill>
                  <a:srgbClr val="586C71"/>
                </a:solidFill>
                <a:latin typeface="Aptos"/>
              </a:rPr>
              <a:t>Kode cabang → identitas rujukan stabil</a:t>
            </a:r>
          </a:p>
        </p:txBody>
      </p:sp>
      <p:sp>
        <p:nvSpPr>
          <p:cNvPr id="12" name="Rounded Rectangle 11"/>
          <p:cNvSpPr/>
          <p:nvPr/>
        </p:nvSpPr>
        <p:spPr>
          <a:xfrm>
            <a:off x="713232" y="3822191"/>
            <a:ext cx="3017520" cy="135331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3232" y="4023359"/>
            <a:ext cx="54864" cy="950976"/>
          </a:xfrm>
          <a:prstGeom prst="roundRect">
            <a:avLst>
              <a:gd name="adj" fmla="val 18000"/>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4005072"/>
            <a:ext cx="2596896" cy="475488"/>
          </a:xfrm>
          <a:prstGeom prst="rect">
            <a:avLst/>
          </a:prstGeom>
          <a:noFill/>
        </p:spPr>
        <p:txBody>
          <a:bodyPr wrap="square" lIns="27432" rIns="27432" tIns="27432" bIns="27432" anchor="ctr">
            <a:spAutoFit/>
          </a:bodyPr>
          <a:lstStyle/>
          <a:p>
            <a:pPr algn="l">
              <a:lnSpc>
                <a:spcPct val="108000"/>
              </a:lnSpc>
              <a:spcAft>
                <a:spcPts val="0"/>
              </a:spcAft>
            </a:pPr>
            <a:r>
              <a:rPr sz="1700" b="1">
                <a:solidFill>
                  <a:srgbClr val="1A2F37"/>
                </a:solidFill>
                <a:latin typeface="Aptos"/>
              </a:rPr>
              <a:t>Taxonomy Kategori</a:t>
            </a:r>
          </a:p>
        </p:txBody>
      </p:sp>
      <p:sp>
        <p:nvSpPr>
          <p:cNvPr id="15" name="TextBox 14"/>
          <p:cNvSpPr txBox="1"/>
          <p:nvPr/>
        </p:nvSpPr>
        <p:spPr>
          <a:xfrm>
            <a:off x="932688" y="4535424"/>
            <a:ext cx="2578608" cy="457200"/>
          </a:xfrm>
          <a:prstGeom prst="rect">
            <a:avLst/>
          </a:prstGeom>
          <a:noFill/>
        </p:spPr>
        <p:txBody>
          <a:bodyPr wrap="square" lIns="27432" rIns="27432" tIns="27432" bIns="27432" anchor="t">
            <a:spAutoFit/>
          </a:bodyPr>
          <a:lstStyle/>
          <a:p>
            <a:pPr algn="l">
              <a:lnSpc>
                <a:spcPct val="120000"/>
              </a:lnSpc>
              <a:spcAft>
                <a:spcPts val="0"/>
              </a:spcAft>
            </a:pPr>
            <a:r>
              <a:rPr sz="1200" b="0">
                <a:solidFill>
                  <a:srgbClr val="586C71"/>
                </a:solidFill>
                <a:latin typeface="Aptos"/>
              </a:rPr>
              <a:t>Istilah, sinonim, hierarki, versi</a:t>
            </a:r>
          </a:p>
        </p:txBody>
      </p:sp>
      <p:sp>
        <p:nvSpPr>
          <p:cNvPr id="16" name="Rounded Rectangle 15"/>
          <p:cNvSpPr/>
          <p:nvPr/>
        </p:nvSpPr>
        <p:spPr>
          <a:xfrm>
            <a:off x="4572000" y="2587752"/>
            <a:ext cx="3063240" cy="1901952"/>
          </a:xfrm>
          <a:prstGeom prst="roundRect">
            <a:avLst>
              <a:gd name="adj" fmla="val 18000"/>
            </a:avLst>
          </a:prstGeom>
          <a:solidFill>
            <a:srgbClr val="0C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9744" y="2779776"/>
            <a:ext cx="2596896" cy="530352"/>
          </a:xfrm>
          <a:prstGeom prst="rect">
            <a:avLst/>
          </a:prstGeom>
          <a:noFill/>
        </p:spPr>
        <p:txBody>
          <a:bodyPr wrap="square" lIns="27432" rIns="27432" tIns="27432" bIns="27432" anchor="ctr">
            <a:spAutoFit/>
          </a:bodyPr>
          <a:lstStyle/>
          <a:p>
            <a:pPr algn="ctr">
              <a:lnSpc>
                <a:spcPct val="108000"/>
              </a:lnSpc>
              <a:spcAft>
                <a:spcPts val="0"/>
              </a:spcAft>
            </a:pPr>
            <a:r>
              <a:rPr sz="2100" b="1">
                <a:solidFill>
                  <a:srgbClr val="FFFFFF"/>
                </a:solidFill>
                <a:latin typeface="Aptos"/>
              </a:rPr>
              <a:t>Fakta penjualan</a:t>
            </a:r>
          </a:p>
        </p:txBody>
      </p:sp>
      <p:sp>
        <p:nvSpPr>
          <p:cNvPr id="18" name="TextBox 17"/>
          <p:cNvSpPr txBox="1"/>
          <p:nvPr/>
        </p:nvSpPr>
        <p:spPr>
          <a:xfrm>
            <a:off x="4855464" y="3438144"/>
            <a:ext cx="2514600" cy="594360"/>
          </a:xfrm>
          <a:prstGeom prst="rect">
            <a:avLst/>
          </a:prstGeom>
          <a:noFill/>
        </p:spPr>
        <p:txBody>
          <a:bodyPr wrap="square" lIns="27432" rIns="27432" tIns="27432" bIns="27432" anchor="ctr">
            <a:spAutoFit/>
          </a:bodyPr>
          <a:lstStyle/>
          <a:p>
            <a:pPr algn="ctr">
              <a:lnSpc>
                <a:spcPct val="108000"/>
              </a:lnSpc>
              <a:spcAft>
                <a:spcPts val="0"/>
              </a:spcAft>
            </a:pPr>
            <a:r>
              <a:rPr sz="1300" b="0">
                <a:solidFill>
                  <a:srgbClr val="CCEEE2"/>
                </a:solidFill>
                <a:latin typeface="Aptos"/>
              </a:rPr>
              <a:t>tanggal  ·  cabang  ·  produk  ·  nilai</a:t>
            </a:r>
          </a:p>
        </p:txBody>
      </p:sp>
      <p:cxnSp>
        <p:nvCxnSpPr>
          <p:cNvPr id="19" name="Connector 18"/>
          <p:cNvCxnSpPr/>
          <p:nvPr/>
        </p:nvCxnSpPr>
        <p:spPr>
          <a:xfrm>
            <a:off x="3730752" y="2560320"/>
            <a:ext cx="813816" cy="685800"/>
          </a:xfrm>
          <a:prstGeom prst="line">
            <a:avLst/>
          </a:prstGeom>
          <a:ln w="25400">
            <a:solidFill>
              <a:srgbClr val="096752"/>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730752" y="3858768"/>
            <a:ext cx="813816" cy="649224"/>
          </a:xfrm>
          <a:prstGeom prst="line">
            <a:avLst/>
          </a:prstGeom>
          <a:ln w="25400">
            <a:solidFill>
              <a:srgbClr val="11877A"/>
            </a:solidFill>
          </a:ln>
        </p:spPr>
        <p:style>
          <a:lnRef idx="2">
            <a:schemeClr val="accent1"/>
          </a:lnRef>
          <a:fillRef idx="0">
            <a:schemeClr val="accent1"/>
          </a:fillRef>
          <a:effectRef idx="1">
            <a:schemeClr val="accent1"/>
          </a:effectRef>
          <a:fontRef idx="minor">
            <a:schemeClr val="tx1"/>
          </a:fontRef>
        </p:style>
      </p:cxnSp>
      <p:sp>
        <p:nvSpPr>
          <p:cNvPr id="21" name="Chevron 20"/>
          <p:cNvSpPr/>
          <p:nvPr/>
        </p:nvSpPr>
        <p:spPr>
          <a:xfrm>
            <a:off x="7955279" y="3374136"/>
            <a:ext cx="301752" cy="301752"/>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485632" y="2505456"/>
            <a:ext cx="2962656" cy="2002536"/>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485632" y="2706624"/>
            <a:ext cx="54864" cy="1600200"/>
          </a:xfrm>
          <a:prstGeom prst="roundRect">
            <a:avLst>
              <a:gd name="adj" fmla="val 18000"/>
            </a:avLst>
          </a:prstGeom>
          <a:solidFill>
            <a:srgbClr val="CF8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05088" y="2688336"/>
            <a:ext cx="2542032" cy="475488"/>
          </a:xfrm>
          <a:prstGeom prst="rect">
            <a:avLst/>
          </a:prstGeom>
          <a:noFill/>
        </p:spPr>
        <p:txBody>
          <a:bodyPr wrap="square" lIns="27432" rIns="27432" tIns="27432" bIns="27432" anchor="ctr">
            <a:spAutoFit/>
          </a:bodyPr>
          <a:lstStyle/>
          <a:p>
            <a:pPr algn="l">
              <a:lnSpc>
                <a:spcPct val="108000"/>
              </a:lnSpc>
              <a:spcAft>
                <a:spcPts val="0"/>
              </a:spcAft>
            </a:pPr>
            <a:r>
              <a:rPr sz="1700" b="1">
                <a:solidFill>
                  <a:srgbClr val="1A2F37"/>
                </a:solidFill>
                <a:latin typeface="Aptos"/>
              </a:rPr>
              <a:t>Produk semantik</a:t>
            </a:r>
          </a:p>
        </p:txBody>
      </p:sp>
      <p:sp>
        <p:nvSpPr>
          <p:cNvPr id="25" name="TextBox 24"/>
          <p:cNvSpPr txBox="1"/>
          <p:nvPr/>
        </p:nvSpPr>
        <p:spPr>
          <a:xfrm>
            <a:off x="8705088" y="3218688"/>
            <a:ext cx="2523744" cy="1106424"/>
          </a:xfrm>
          <a:prstGeom prst="rect">
            <a:avLst/>
          </a:prstGeom>
          <a:noFill/>
        </p:spPr>
        <p:txBody>
          <a:bodyPr wrap="square" lIns="27432" rIns="27432" tIns="27432" bIns="27432" anchor="t">
            <a:spAutoFit/>
          </a:bodyPr>
          <a:lstStyle/>
          <a:p>
            <a:pPr algn="l">
              <a:lnSpc>
                <a:spcPct val="120000"/>
              </a:lnSpc>
              <a:spcAft>
                <a:spcPts val="0"/>
              </a:spcAft>
            </a:pPr>
            <a:r>
              <a:rPr sz="1300" b="0">
                <a:solidFill>
                  <a:srgbClr val="586C71"/>
                </a:solidFill>
                <a:latin typeface="Aptos"/>
              </a:rPr>
              <a:t>Dimensi: cabang &amp; waktu</a:t>
            </a:r>
          </a:p>
          <a:p>
            <a:pPr algn="l">
              <a:lnSpc>
                <a:spcPct val="120000"/>
              </a:lnSpc>
              <a:spcAft>
                <a:spcPts val="0"/>
              </a:spcAft>
            </a:pPr>
            <a:r>
              <a:rPr sz="1300" b="0">
                <a:solidFill>
                  <a:srgbClr val="586C71"/>
                </a:solidFill>
                <a:latin typeface="Aptos"/>
              </a:rPr>
              <a:t>Metrik: total penjualan</a:t>
            </a:r>
          </a:p>
          <a:p>
            <a:pPr algn="l">
              <a:lnSpc>
                <a:spcPct val="120000"/>
              </a:lnSpc>
              <a:spcAft>
                <a:spcPts val="0"/>
              </a:spcAft>
            </a:pPr>
            <a:r>
              <a:rPr sz="1300" b="0">
                <a:solidFill>
                  <a:srgbClr val="586C71"/>
                </a:solidFill>
                <a:latin typeface="Aptos"/>
              </a:rPr>
              <a:t>Data siap ditanya &amp; divisualkan</a:t>
            </a:r>
          </a:p>
        </p:txBody>
      </p:sp>
      <p:sp>
        <p:nvSpPr>
          <p:cNvPr id="26" name="TextBox 25"/>
          <p:cNvSpPr txBox="1"/>
          <p:nvPr/>
        </p:nvSpPr>
        <p:spPr>
          <a:xfrm>
            <a:off x="786384" y="5660136"/>
            <a:ext cx="10844784" cy="411480"/>
          </a:xfrm>
          <a:prstGeom prst="rect">
            <a:avLst/>
          </a:prstGeom>
          <a:noFill/>
        </p:spPr>
        <p:txBody>
          <a:bodyPr wrap="square" lIns="27432" rIns="27432" tIns="27432" bIns="27432" anchor="ctr">
            <a:spAutoFit/>
          </a:bodyPr>
          <a:lstStyle/>
          <a:p>
            <a:pPr algn="ctr">
              <a:lnSpc>
                <a:spcPct val="108000"/>
              </a:lnSpc>
              <a:spcAft>
                <a:spcPts val="0"/>
              </a:spcAft>
            </a:pPr>
            <a:r>
              <a:rPr sz="1400" b="1">
                <a:solidFill>
                  <a:srgbClr val="096752"/>
                </a:solidFill>
                <a:latin typeface="Aptos"/>
              </a:rPr>
              <a:t>Aturan masa berlaku menjaga riwayat saat label, struktur, atau parameter berubah.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38328"/>
            <a:ext cx="9601200" cy="256032"/>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096752"/>
                </a:solidFill>
                <a:latin typeface="Aptos"/>
              </a:rPr>
              <a:t>KONFIGURASI DAN IMPORT</a:t>
            </a:r>
          </a:p>
        </p:txBody>
      </p:sp>
      <p:sp>
        <p:nvSpPr>
          <p:cNvPr id="4" name="TextBox 3"/>
          <p:cNvSpPr txBox="1"/>
          <p:nvPr/>
        </p:nvSpPr>
        <p:spPr>
          <a:xfrm>
            <a:off x="658368" y="713232"/>
            <a:ext cx="10835640" cy="621792"/>
          </a:xfrm>
          <a:prstGeom prst="rect">
            <a:avLst/>
          </a:prstGeom>
          <a:noFill/>
        </p:spPr>
        <p:txBody>
          <a:bodyPr wrap="square" lIns="27432" rIns="27432" tIns="27432" bIns="27432" anchor="ctr">
            <a:spAutoFit/>
          </a:bodyPr>
          <a:lstStyle/>
          <a:p>
            <a:pPr algn="l">
              <a:lnSpc>
                <a:spcPct val="108000"/>
              </a:lnSpc>
              <a:spcAft>
                <a:spcPts val="0"/>
              </a:spcAft>
            </a:pPr>
            <a:r>
              <a:rPr sz="2800" b="1">
                <a:solidFill>
                  <a:srgbClr val="1A2F37"/>
                </a:solidFill>
                <a:latin typeface="Aptos"/>
              </a:rPr>
              <a:t>Data melewati pemeriksaan sebelum dipakai</a:t>
            </a:r>
          </a:p>
        </p:txBody>
      </p:sp>
      <p:cxnSp>
        <p:nvCxnSpPr>
          <p:cNvPr id="5" name="Connector 4"/>
          <p:cNvCxnSpPr/>
          <p:nvPr/>
        </p:nvCxnSpPr>
        <p:spPr>
          <a:xfrm>
            <a:off x="676656" y="6492240"/>
            <a:ext cx="10799064" cy="0"/>
          </a:xfrm>
          <a:prstGeom prst="line">
            <a:avLst/>
          </a:prstGeom>
          <a:ln w="16510">
            <a:solidFill>
              <a:srgbClr val="DBE6E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76656" y="6537960"/>
            <a:ext cx="7132320" cy="164592"/>
          </a:xfrm>
          <a:prstGeom prst="rect">
            <a:avLst/>
          </a:prstGeom>
          <a:noFill/>
        </p:spPr>
        <p:txBody>
          <a:bodyPr wrap="square" lIns="27432" rIns="27432" tIns="27432" bIns="27432" anchor="ctr">
            <a:spAutoFit/>
          </a:bodyPr>
          <a:lstStyle/>
          <a:p>
            <a:pPr algn="l">
              <a:lnSpc>
                <a:spcPct val="108000"/>
              </a:lnSpc>
              <a:spcAft>
                <a:spcPts val="0"/>
              </a:spcAft>
            </a:pPr>
            <a:r>
              <a:rPr sz="850" b="0">
                <a:solidFill>
                  <a:srgbClr val="586C71"/>
                </a:solidFill>
                <a:latin typeface="Aptos"/>
              </a:rPr>
              <a:t>GOOGLE SHEET AI  ·  TINJAUAN APLIKASI</a:t>
            </a:r>
          </a:p>
        </p:txBody>
      </p:sp>
      <p:sp>
        <p:nvSpPr>
          <p:cNvPr id="7" name="TextBox 6"/>
          <p:cNvSpPr txBox="1"/>
          <p:nvPr/>
        </p:nvSpPr>
        <p:spPr>
          <a:xfrm>
            <a:off x="10972800" y="6519672"/>
            <a:ext cx="502920" cy="192024"/>
          </a:xfrm>
          <a:prstGeom prst="rect">
            <a:avLst/>
          </a:prstGeom>
          <a:noFill/>
        </p:spPr>
        <p:txBody>
          <a:bodyPr wrap="square" lIns="27432" rIns="27432" tIns="27432" bIns="27432" anchor="ctr">
            <a:spAutoFit/>
          </a:bodyPr>
          <a:lstStyle/>
          <a:p>
            <a:pPr algn="r">
              <a:lnSpc>
                <a:spcPct val="108000"/>
              </a:lnSpc>
              <a:spcAft>
                <a:spcPts val="0"/>
              </a:spcAft>
            </a:pPr>
            <a:r>
              <a:rPr sz="950" b="0">
                <a:solidFill>
                  <a:srgbClr val="586C71"/>
                </a:solidFill>
                <a:latin typeface="Aptos"/>
              </a:rPr>
              <a:t>09</a:t>
            </a:r>
          </a:p>
        </p:txBody>
      </p:sp>
      <p:sp>
        <p:nvSpPr>
          <p:cNvPr id="8" name="Rounded Rectangle 7"/>
          <p:cNvSpPr/>
          <p:nvPr/>
        </p:nvSpPr>
        <p:spPr>
          <a:xfrm>
            <a:off x="640080" y="2112264"/>
            <a:ext cx="1627632" cy="194767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07007" y="2295144"/>
            <a:ext cx="484632" cy="484632"/>
          </a:xfrm>
          <a:prstGeom prst="ellipse">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61872" y="2377440"/>
            <a:ext cx="374904" cy="274320"/>
          </a:xfrm>
          <a:prstGeom prst="rect">
            <a:avLst/>
          </a:prstGeom>
          <a:noFill/>
        </p:spPr>
        <p:txBody>
          <a:bodyPr wrap="square" lIns="27432" rIns="27432" tIns="27432" bIns="27432" anchor="ctr">
            <a:spAutoFit/>
          </a:bodyPr>
          <a:lstStyle/>
          <a:p>
            <a:pPr algn="ctr">
              <a:lnSpc>
                <a:spcPct val="108000"/>
              </a:lnSpc>
              <a:spcAft>
                <a:spcPts val="0"/>
              </a:spcAft>
            </a:pPr>
            <a:r>
              <a:rPr sz="1100" b="1">
                <a:solidFill>
                  <a:srgbClr val="096752"/>
                </a:solidFill>
                <a:latin typeface="Aptos"/>
              </a:rPr>
              <a:t>01</a:t>
            </a:r>
          </a:p>
        </p:txBody>
      </p:sp>
      <p:sp>
        <p:nvSpPr>
          <p:cNvPr id="11" name="TextBox 10"/>
          <p:cNvSpPr txBox="1"/>
          <p:nvPr/>
        </p:nvSpPr>
        <p:spPr>
          <a:xfrm>
            <a:off x="768096" y="2871216"/>
            <a:ext cx="1371600" cy="356616"/>
          </a:xfrm>
          <a:prstGeom prst="rect">
            <a:avLst/>
          </a:prstGeom>
          <a:noFill/>
        </p:spPr>
        <p:txBody>
          <a:bodyPr wrap="square" lIns="27432" rIns="27432" tIns="27432" bIns="27432" anchor="ctr">
            <a:spAutoFit/>
          </a:bodyPr>
          <a:lstStyle/>
          <a:p>
            <a:pPr algn="ctr">
              <a:lnSpc>
                <a:spcPct val="108000"/>
              </a:lnSpc>
              <a:spcAft>
                <a:spcPts val="0"/>
              </a:spcAft>
            </a:pPr>
            <a:r>
              <a:rPr sz="1450" b="1">
                <a:solidFill>
                  <a:srgbClr val="1A2F37"/>
                </a:solidFill>
                <a:latin typeface="Aptos"/>
              </a:rPr>
              <a:t>Profiling</a:t>
            </a:r>
          </a:p>
        </p:txBody>
      </p:sp>
      <p:sp>
        <p:nvSpPr>
          <p:cNvPr id="12" name="TextBox 11"/>
          <p:cNvSpPr txBox="1"/>
          <p:nvPr/>
        </p:nvSpPr>
        <p:spPr>
          <a:xfrm>
            <a:off x="768096" y="3346704"/>
            <a:ext cx="1362456" cy="493776"/>
          </a:xfrm>
          <a:prstGeom prst="rect">
            <a:avLst/>
          </a:prstGeom>
          <a:noFill/>
        </p:spPr>
        <p:txBody>
          <a:bodyPr wrap="square" lIns="27432" rIns="27432" tIns="27432" bIns="27432" anchor="ctr">
            <a:spAutoFit/>
          </a:bodyPr>
          <a:lstStyle/>
          <a:p>
            <a:pPr algn="ctr">
              <a:lnSpc>
                <a:spcPct val="108000"/>
              </a:lnSpc>
              <a:spcAft>
                <a:spcPts val="0"/>
              </a:spcAft>
            </a:pPr>
            <a:r>
              <a:rPr sz="1130" b="0">
                <a:solidFill>
                  <a:srgbClr val="586C71"/>
                </a:solidFill>
                <a:latin typeface="Aptos"/>
              </a:rPr>
              <a:t>Baca struktur &amp; kualitas</a:t>
            </a:r>
          </a:p>
        </p:txBody>
      </p:sp>
      <p:sp>
        <p:nvSpPr>
          <p:cNvPr id="13" name="Chevron 12"/>
          <p:cNvSpPr/>
          <p:nvPr/>
        </p:nvSpPr>
        <p:spPr>
          <a:xfrm>
            <a:off x="2450591" y="2916936"/>
            <a:ext cx="201168" cy="201168"/>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971800" y="2112264"/>
            <a:ext cx="1627632" cy="194767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8728" y="2295144"/>
            <a:ext cx="484632" cy="484632"/>
          </a:xfrm>
          <a:prstGeom prst="ellipse">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2377440"/>
            <a:ext cx="374904" cy="274320"/>
          </a:xfrm>
          <a:prstGeom prst="rect">
            <a:avLst/>
          </a:prstGeom>
          <a:noFill/>
        </p:spPr>
        <p:txBody>
          <a:bodyPr wrap="square" lIns="27432" rIns="27432" tIns="27432" bIns="27432" anchor="ctr">
            <a:spAutoFit/>
          </a:bodyPr>
          <a:lstStyle/>
          <a:p>
            <a:pPr algn="ctr">
              <a:lnSpc>
                <a:spcPct val="108000"/>
              </a:lnSpc>
              <a:spcAft>
                <a:spcPts val="0"/>
              </a:spcAft>
            </a:pPr>
            <a:r>
              <a:rPr sz="1100" b="1">
                <a:solidFill>
                  <a:srgbClr val="096752"/>
                </a:solidFill>
                <a:latin typeface="Aptos"/>
              </a:rPr>
              <a:t>02</a:t>
            </a:r>
          </a:p>
        </p:txBody>
      </p:sp>
      <p:sp>
        <p:nvSpPr>
          <p:cNvPr id="17" name="TextBox 16"/>
          <p:cNvSpPr txBox="1"/>
          <p:nvPr/>
        </p:nvSpPr>
        <p:spPr>
          <a:xfrm>
            <a:off x="3099816" y="2871216"/>
            <a:ext cx="1371600" cy="356616"/>
          </a:xfrm>
          <a:prstGeom prst="rect">
            <a:avLst/>
          </a:prstGeom>
          <a:noFill/>
        </p:spPr>
        <p:txBody>
          <a:bodyPr wrap="square" lIns="27432" rIns="27432" tIns="27432" bIns="27432" anchor="ctr">
            <a:spAutoFit/>
          </a:bodyPr>
          <a:lstStyle/>
          <a:p>
            <a:pPr algn="ctr">
              <a:lnSpc>
                <a:spcPct val="108000"/>
              </a:lnSpc>
              <a:spcAft>
                <a:spcPts val="0"/>
              </a:spcAft>
            </a:pPr>
            <a:r>
              <a:rPr sz="1450" b="1">
                <a:solidFill>
                  <a:srgbClr val="1A2F37"/>
                </a:solidFill>
                <a:latin typeface="Aptos"/>
              </a:rPr>
              <a:t>Konfigurasi</a:t>
            </a:r>
          </a:p>
        </p:txBody>
      </p:sp>
      <p:sp>
        <p:nvSpPr>
          <p:cNvPr id="18" name="TextBox 17"/>
          <p:cNvSpPr txBox="1"/>
          <p:nvPr/>
        </p:nvSpPr>
        <p:spPr>
          <a:xfrm>
            <a:off x="3099816" y="3346704"/>
            <a:ext cx="1362456" cy="493776"/>
          </a:xfrm>
          <a:prstGeom prst="rect">
            <a:avLst/>
          </a:prstGeom>
          <a:noFill/>
        </p:spPr>
        <p:txBody>
          <a:bodyPr wrap="square" lIns="27432" rIns="27432" tIns="27432" bIns="27432" anchor="ctr">
            <a:spAutoFit/>
          </a:bodyPr>
          <a:lstStyle/>
          <a:p>
            <a:pPr algn="ctr">
              <a:lnSpc>
                <a:spcPct val="108000"/>
              </a:lnSpc>
              <a:spcAft>
                <a:spcPts val="0"/>
              </a:spcAft>
            </a:pPr>
            <a:r>
              <a:rPr sz="1130" b="0">
                <a:solidFill>
                  <a:srgbClr val="586C71"/>
                </a:solidFill>
                <a:latin typeface="Aptos"/>
              </a:rPr>
              <a:t>Mapping, aturan, metrik</a:t>
            </a:r>
          </a:p>
        </p:txBody>
      </p:sp>
      <p:sp>
        <p:nvSpPr>
          <p:cNvPr id="19" name="Chevron 18"/>
          <p:cNvSpPr/>
          <p:nvPr/>
        </p:nvSpPr>
        <p:spPr>
          <a:xfrm>
            <a:off x="4782312" y="2916936"/>
            <a:ext cx="201168" cy="201168"/>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303520" y="2112264"/>
            <a:ext cx="1627632" cy="194767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870448" y="2295144"/>
            <a:ext cx="484632" cy="484632"/>
          </a:xfrm>
          <a:prstGeom prst="ellipse">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25312" y="2377440"/>
            <a:ext cx="374904" cy="274320"/>
          </a:xfrm>
          <a:prstGeom prst="rect">
            <a:avLst/>
          </a:prstGeom>
          <a:noFill/>
        </p:spPr>
        <p:txBody>
          <a:bodyPr wrap="square" lIns="27432" rIns="27432" tIns="27432" bIns="27432" anchor="ctr">
            <a:spAutoFit/>
          </a:bodyPr>
          <a:lstStyle/>
          <a:p>
            <a:pPr algn="ctr">
              <a:lnSpc>
                <a:spcPct val="108000"/>
              </a:lnSpc>
              <a:spcAft>
                <a:spcPts val="0"/>
              </a:spcAft>
            </a:pPr>
            <a:r>
              <a:rPr sz="1100" b="1">
                <a:solidFill>
                  <a:srgbClr val="096752"/>
                </a:solidFill>
                <a:latin typeface="Aptos"/>
              </a:rPr>
              <a:t>03</a:t>
            </a:r>
          </a:p>
        </p:txBody>
      </p:sp>
      <p:sp>
        <p:nvSpPr>
          <p:cNvPr id="23" name="TextBox 22"/>
          <p:cNvSpPr txBox="1"/>
          <p:nvPr/>
        </p:nvSpPr>
        <p:spPr>
          <a:xfrm>
            <a:off x="5431536" y="2871216"/>
            <a:ext cx="1371600" cy="356616"/>
          </a:xfrm>
          <a:prstGeom prst="rect">
            <a:avLst/>
          </a:prstGeom>
          <a:noFill/>
        </p:spPr>
        <p:txBody>
          <a:bodyPr wrap="square" lIns="27432" rIns="27432" tIns="27432" bIns="27432" anchor="ctr">
            <a:spAutoFit/>
          </a:bodyPr>
          <a:lstStyle/>
          <a:p>
            <a:pPr algn="ctr">
              <a:lnSpc>
                <a:spcPct val="108000"/>
              </a:lnSpc>
              <a:spcAft>
                <a:spcPts val="0"/>
              </a:spcAft>
            </a:pPr>
            <a:r>
              <a:rPr sz="1450" b="1">
                <a:solidFill>
                  <a:srgbClr val="1A2F37"/>
                </a:solidFill>
                <a:latin typeface="Aptos"/>
              </a:rPr>
              <a:t>Preview</a:t>
            </a:r>
          </a:p>
        </p:txBody>
      </p:sp>
      <p:sp>
        <p:nvSpPr>
          <p:cNvPr id="24" name="TextBox 23"/>
          <p:cNvSpPr txBox="1"/>
          <p:nvPr/>
        </p:nvSpPr>
        <p:spPr>
          <a:xfrm>
            <a:off x="5431536" y="3346704"/>
            <a:ext cx="1362456" cy="493776"/>
          </a:xfrm>
          <a:prstGeom prst="rect">
            <a:avLst/>
          </a:prstGeom>
          <a:noFill/>
        </p:spPr>
        <p:txBody>
          <a:bodyPr wrap="square" lIns="27432" rIns="27432" tIns="27432" bIns="27432" anchor="ctr">
            <a:spAutoFit/>
          </a:bodyPr>
          <a:lstStyle/>
          <a:p>
            <a:pPr algn="ctr">
              <a:lnSpc>
                <a:spcPct val="108000"/>
              </a:lnSpc>
              <a:spcAft>
                <a:spcPts val="0"/>
              </a:spcAft>
            </a:pPr>
            <a:r>
              <a:rPr sz="1130" b="0">
                <a:solidFill>
                  <a:srgbClr val="586C71"/>
                </a:solidFill>
                <a:latin typeface="Aptos"/>
              </a:rPr>
              <a:t>Insert, update, konflik</a:t>
            </a:r>
          </a:p>
        </p:txBody>
      </p:sp>
      <p:sp>
        <p:nvSpPr>
          <p:cNvPr id="25" name="Chevron 24"/>
          <p:cNvSpPr/>
          <p:nvPr/>
        </p:nvSpPr>
        <p:spPr>
          <a:xfrm>
            <a:off x="7114031" y="2916936"/>
            <a:ext cx="201168" cy="201168"/>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635240" y="2112264"/>
            <a:ext cx="1627632" cy="194767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02167" y="2295144"/>
            <a:ext cx="484632" cy="484632"/>
          </a:xfrm>
          <a:prstGeom prst="ellipse">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57031" y="2377440"/>
            <a:ext cx="374904" cy="274320"/>
          </a:xfrm>
          <a:prstGeom prst="rect">
            <a:avLst/>
          </a:prstGeom>
          <a:noFill/>
        </p:spPr>
        <p:txBody>
          <a:bodyPr wrap="square" lIns="27432" rIns="27432" tIns="27432" bIns="27432" anchor="ctr">
            <a:spAutoFit/>
          </a:bodyPr>
          <a:lstStyle/>
          <a:p>
            <a:pPr algn="ctr">
              <a:lnSpc>
                <a:spcPct val="108000"/>
              </a:lnSpc>
              <a:spcAft>
                <a:spcPts val="0"/>
              </a:spcAft>
            </a:pPr>
            <a:r>
              <a:rPr sz="1100" b="1">
                <a:solidFill>
                  <a:srgbClr val="096752"/>
                </a:solidFill>
                <a:latin typeface="Aptos"/>
              </a:rPr>
              <a:t>04</a:t>
            </a:r>
          </a:p>
        </p:txBody>
      </p:sp>
      <p:sp>
        <p:nvSpPr>
          <p:cNvPr id="29" name="TextBox 28"/>
          <p:cNvSpPr txBox="1"/>
          <p:nvPr/>
        </p:nvSpPr>
        <p:spPr>
          <a:xfrm>
            <a:off x="7763256" y="2871216"/>
            <a:ext cx="1371600" cy="356616"/>
          </a:xfrm>
          <a:prstGeom prst="rect">
            <a:avLst/>
          </a:prstGeom>
          <a:noFill/>
        </p:spPr>
        <p:txBody>
          <a:bodyPr wrap="square" lIns="27432" rIns="27432" tIns="27432" bIns="27432" anchor="ctr">
            <a:spAutoFit/>
          </a:bodyPr>
          <a:lstStyle/>
          <a:p>
            <a:pPr algn="ctr">
              <a:lnSpc>
                <a:spcPct val="108000"/>
              </a:lnSpc>
              <a:spcAft>
                <a:spcPts val="0"/>
              </a:spcAft>
            </a:pPr>
            <a:r>
              <a:rPr sz="1450" b="1">
                <a:solidFill>
                  <a:srgbClr val="1A2F37"/>
                </a:solidFill>
                <a:latin typeface="Aptos"/>
              </a:rPr>
              <a:t>Persetujuan</a:t>
            </a:r>
          </a:p>
        </p:txBody>
      </p:sp>
      <p:sp>
        <p:nvSpPr>
          <p:cNvPr id="30" name="TextBox 29"/>
          <p:cNvSpPr txBox="1"/>
          <p:nvPr/>
        </p:nvSpPr>
        <p:spPr>
          <a:xfrm>
            <a:off x="7763256" y="3346704"/>
            <a:ext cx="1362456" cy="493776"/>
          </a:xfrm>
          <a:prstGeom prst="rect">
            <a:avLst/>
          </a:prstGeom>
          <a:noFill/>
        </p:spPr>
        <p:txBody>
          <a:bodyPr wrap="square" lIns="27432" rIns="27432" tIns="27432" bIns="27432" anchor="ctr">
            <a:spAutoFit/>
          </a:bodyPr>
          <a:lstStyle/>
          <a:p>
            <a:pPr algn="ctr">
              <a:lnSpc>
                <a:spcPct val="108000"/>
              </a:lnSpc>
              <a:spcAft>
                <a:spcPts val="0"/>
              </a:spcAft>
            </a:pPr>
            <a:r>
              <a:rPr sz="1130" b="0">
                <a:solidFill>
                  <a:srgbClr val="586C71"/>
                </a:solidFill>
                <a:latin typeface="Aptos"/>
              </a:rPr>
              <a:t>Reviewer berbeda</a:t>
            </a:r>
          </a:p>
        </p:txBody>
      </p:sp>
      <p:sp>
        <p:nvSpPr>
          <p:cNvPr id="31" name="Chevron 30"/>
          <p:cNvSpPr/>
          <p:nvPr/>
        </p:nvSpPr>
        <p:spPr>
          <a:xfrm>
            <a:off x="9445752" y="2916936"/>
            <a:ext cx="201168" cy="201168"/>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966960" y="2112264"/>
            <a:ext cx="1627632" cy="194767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533888" y="2295144"/>
            <a:ext cx="484632" cy="484632"/>
          </a:xfrm>
          <a:prstGeom prst="ellipse">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88752" y="2377440"/>
            <a:ext cx="374904" cy="274320"/>
          </a:xfrm>
          <a:prstGeom prst="rect">
            <a:avLst/>
          </a:prstGeom>
          <a:noFill/>
        </p:spPr>
        <p:txBody>
          <a:bodyPr wrap="square" lIns="27432" rIns="27432" tIns="27432" bIns="27432" anchor="ctr">
            <a:spAutoFit/>
          </a:bodyPr>
          <a:lstStyle/>
          <a:p>
            <a:pPr algn="ctr">
              <a:lnSpc>
                <a:spcPct val="108000"/>
              </a:lnSpc>
              <a:spcAft>
                <a:spcPts val="0"/>
              </a:spcAft>
            </a:pPr>
            <a:r>
              <a:rPr sz="1100" b="1">
                <a:solidFill>
                  <a:srgbClr val="096752"/>
                </a:solidFill>
                <a:latin typeface="Aptos"/>
              </a:rPr>
              <a:t>05</a:t>
            </a:r>
          </a:p>
        </p:txBody>
      </p:sp>
      <p:sp>
        <p:nvSpPr>
          <p:cNvPr id="35" name="TextBox 34"/>
          <p:cNvSpPr txBox="1"/>
          <p:nvPr/>
        </p:nvSpPr>
        <p:spPr>
          <a:xfrm>
            <a:off x="10094976" y="2871216"/>
            <a:ext cx="1371600" cy="356616"/>
          </a:xfrm>
          <a:prstGeom prst="rect">
            <a:avLst/>
          </a:prstGeom>
          <a:noFill/>
        </p:spPr>
        <p:txBody>
          <a:bodyPr wrap="square" lIns="27432" rIns="27432" tIns="27432" bIns="27432" anchor="ctr">
            <a:spAutoFit/>
          </a:bodyPr>
          <a:lstStyle/>
          <a:p>
            <a:pPr algn="ctr">
              <a:lnSpc>
                <a:spcPct val="108000"/>
              </a:lnSpc>
              <a:spcAft>
                <a:spcPts val="0"/>
              </a:spcAft>
            </a:pPr>
            <a:r>
              <a:rPr sz="1450" b="1">
                <a:solidFill>
                  <a:srgbClr val="1A2F37"/>
                </a:solidFill>
                <a:latin typeface="Aptos"/>
              </a:rPr>
              <a:t>Apply</a:t>
            </a:r>
          </a:p>
        </p:txBody>
      </p:sp>
      <p:sp>
        <p:nvSpPr>
          <p:cNvPr id="36" name="TextBox 35"/>
          <p:cNvSpPr txBox="1"/>
          <p:nvPr/>
        </p:nvSpPr>
        <p:spPr>
          <a:xfrm>
            <a:off x="10094976" y="3346704"/>
            <a:ext cx="1362456" cy="493776"/>
          </a:xfrm>
          <a:prstGeom prst="rect">
            <a:avLst/>
          </a:prstGeom>
          <a:noFill/>
        </p:spPr>
        <p:txBody>
          <a:bodyPr wrap="square" lIns="27432" rIns="27432" tIns="27432" bIns="27432" anchor="ctr">
            <a:spAutoFit/>
          </a:bodyPr>
          <a:lstStyle/>
          <a:p>
            <a:pPr algn="ctr">
              <a:lnSpc>
                <a:spcPct val="108000"/>
              </a:lnSpc>
              <a:spcAft>
                <a:spcPts val="0"/>
              </a:spcAft>
            </a:pPr>
            <a:r>
              <a:rPr sz="1130" b="0">
                <a:solidFill>
                  <a:srgbClr val="586C71"/>
                </a:solidFill>
                <a:latin typeface="Aptos"/>
              </a:rPr>
              <a:t>Data tepercaya</a:t>
            </a:r>
          </a:p>
        </p:txBody>
      </p:sp>
      <p:sp>
        <p:nvSpPr>
          <p:cNvPr id="37" name="Rounded Rectangle 36"/>
          <p:cNvSpPr/>
          <p:nvPr/>
        </p:nvSpPr>
        <p:spPr>
          <a:xfrm>
            <a:off x="2340864" y="4700016"/>
            <a:ext cx="7516368" cy="905256"/>
          </a:xfrm>
          <a:prstGeom prst="roundRect">
            <a:avLst>
              <a:gd name="adj" fmla="val 18000"/>
            </a:avLst>
          </a:prstGeom>
          <a:solidFill>
            <a:srgbClr val="FCEF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578608" y="4837176"/>
            <a:ext cx="7022592" cy="612648"/>
          </a:xfrm>
          <a:prstGeom prst="rect">
            <a:avLst/>
          </a:prstGeom>
          <a:noFill/>
        </p:spPr>
        <p:txBody>
          <a:bodyPr wrap="square" lIns="27432" rIns="27432" tIns="27432" bIns="27432" anchor="ctr">
            <a:spAutoFit/>
          </a:bodyPr>
          <a:lstStyle/>
          <a:p>
            <a:pPr algn="ctr">
              <a:lnSpc>
                <a:spcPct val="108000"/>
              </a:lnSpc>
              <a:spcAft>
                <a:spcPts val="0"/>
              </a:spcAft>
            </a:pPr>
            <a:r>
              <a:rPr sz="1500" b="1">
                <a:solidFill>
                  <a:srgbClr val="1A2F37"/>
                </a:solidFill>
                <a:latin typeface="Aptos"/>
              </a:rPr>
              <a:t>Jika ambigu / gagal: jawab pertanyaan, koreksi sumber, lalu validasi dan preview ulang.</a:t>
            </a:r>
          </a:p>
        </p:txBody>
      </p:sp>
      <p:cxnSp>
        <p:nvCxnSpPr>
          <p:cNvPr id="39" name="Connector 38"/>
          <p:cNvCxnSpPr/>
          <p:nvPr/>
        </p:nvCxnSpPr>
        <p:spPr>
          <a:xfrm flipV="1">
            <a:off x="6099048" y="4151376"/>
            <a:ext cx="0" cy="548640"/>
          </a:xfrm>
          <a:prstGeom prst="line">
            <a:avLst/>
          </a:prstGeom>
          <a:ln w="22860">
            <a:solidFill>
              <a:srgbClr val="CF8B3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38328"/>
            <a:ext cx="9601200" cy="256032"/>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096752"/>
                </a:solidFill>
                <a:latin typeface="Aptos"/>
              </a:rPr>
              <a:t>FUNGSI UTAMA</a:t>
            </a:r>
          </a:p>
        </p:txBody>
      </p:sp>
      <p:sp>
        <p:nvSpPr>
          <p:cNvPr id="4" name="TextBox 3"/>
          <p:cNvSpPr txBox="1"/>
          <p:nvPr/>
        </p:nvSpPr>
        <p:spPr>
          <a:xfrm>
            <a:off x="658368" y="713232"/>
            <a:ext cx="10835640" cy="621792"/>
          </a:xfrm>
          <a:prstGeom prst="rect">
            <a:avLst/>
          </a:prstGeom>
          <a:noFill/>
        </p:spPr>
        <p:txBody>
          <a:bodyPr wrap="square" lIns="27432" rIns="27432" tIns="27432" bIns="27432" anchor="ctr">
            <a:spAutoFit/>
          </a:bodyPr>
          <a:lstStyle/>
          <a:p>
            <a:pPr algn="l">
              <a:lnSpc>
                <a:spcPct val="108000"/>
              </a:lnSpc>
              <a:spcAft>
                <a:spcPts val="0"/>
              </a:spcAft>
            </a:pPr>
            <a:r>
              <a:rPr sz="2800" b="1">
                <a:solidFill>
                  <a:srgbClr val="1A2F37"/>
                </a:solidFill>
                <a:latin typeface="Aptos"/>
              </a:rPr>
              <a:t>Lapisan aplikasi menjaga aliran data</a:t>
            </a:r>
          </a:p>
        </p:txBody>
      </p:sp>
      <p:cxnSp>
        <p:nvCxnSpPr>
          <p:cNvPr id="5" name="Connector 4"/>
          <p:cNvCxnSpPr/>
          <p:nvPr/>
        </p:nvCxnSpPr>
        <p:spPr>
          <a:xfrm>
            <a:off x="676656" y="6492240"/>
            <a:ext cx="10799064" cy="0"/>
          </a:xfrm>
          <a:prstGeom prst="line">
            <a:avLst/>
          </a:prstGeom>
          <a:ln w="16510">
            <a:solidFill>
              <a:srgbClr val="DBE6E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76656" y="6537960"/>
            <a:ext cx="7132320" cy="164592"/>
          </a:xfrm>
          <a:prstGeom prst="rect">
            <a:avLst/>
          </a:prstGeom>
          <a:noFill/>
        </p:spPr>
        <p:txBody>
          <a:bodyPr wrap="square" lIns="27432" rIns="27432" tIns="27432" bIns="27432" anchor="ctr">
            <a:spAutoFit/>
          </a:bodyPr>
          <a:lstStyle/>
          <a:p>
            <a:pPr algn="l">
              <a:lnSpc>
                <a:spcPct val="108000"/>
              </a:lnSpc>
              <a:spcAft>
                <a:spcPts val="0"/>
              </a:spcAft>
            </a:pPr>
            <a:r>
              <a:rPr sz="850" b="0">
                <a:solidFill>
                  <a:srgbClr val="586C71"/>
                </a:solidFill>
                <a:latin typeface="Aptos"/>
              </a:rPr>
              <a:t>GOOGLE SHEET AI  ·  TINJAUAN APLIKASI</a:t>
            </a:r>
          </a:p>
        </p:txBody>
      </p:sp>
      <p:sp>
        <p:nvSpPr>
          <p:cNvPr id="7" name="TextBox 6"/>
          <p:cNvSpPr txBox="1"/>
          <p:nvPr/>
        </p:nvSpPr>
        <p:spPr>
          <a:xfrm>
            <a:off x="10972800" y="6519672"/>
            <a:ext cx="502920" cy="192024"/>
          </a:xfrm>
          <a:prstGeom prst="rect">
            <a:avLst/>
          </a:prstGeom>
          <a:noFill/>
        </p:spPr>
        <p:txBody>
          <a:bodyPr wrap="square" lIns="27432" rIns="27432" tIns="27432" bIns="27432" anchor="ctr">
            <a:spAutoFit/>
          </a:bodyPr>
          <a:lstStyle/>
          <a:p>
            <a:pPr algn="r">
              <a:lnSpc>
                <a:spcPct val="108000"/>
              </a:lnSpc>
              <a:spcAft>
                <a:spcPts val="0"/>
              </a:spcAft>
            </a:pPr>
            <a:r>
              <a:rPr sz="950" b="0">
                <a:solidFill>
                  <a:srgbClr val="586C71"/>
                </a:solidFill>
                <a:latin typeface="Aptos"/>
              </a:rPr>
              <a:t>10</a:t>
            </a:r>
          </a:p>
        </p:txBody>
      </p:sp>
      <p:sp>
        <p:nvSpPr>
          <p:cNvPr id="8" name="Rounded Rectangle 7"/>
          <p:cNvSpPr/>
          <p:nvPr/>
        </p:nvSpPr>
        <p:spPr>
          <a:xfrm>
            <a:off x="731520" y="2084831"/>
            <a:ext cx="2185416" cy="2459736"/>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2084831"/>
            <a:ext cx="2185416" cy="466344"/>
          </a:xfrm>
          <a:prstGeom prst="roundRect">
            <a:avLst>
              <a:gd name="adj" fmla="val 18000"/>
            </a:avLst>
          </a:prstGeom>
          <a:solidFill>
            <a:srgbClr val="0C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176272"/>
            <a:ext cx="1965960" cy="283464"/>
          </a:xfrm>
          <a:prstGeom prst="rect">
            <a:avLst/>
          </a:prstGeom>
          <a:noFill/>
        </p:spPr>
        <p:txBody>
          <a:bodyPr wrap="square" lIns="27432" rIns="27432" tIns="27432" bIns="27432" anchor="ctr">
            <a:spAutoFit/>
          </a:bodyPr>
          <a:lstStyle/>
          <a:p>
            <a:pPr algn="ctr">
              <a:lnSpc>
                <a:spcPct val="108000"/>
              </a:lnSpc>
              <a:spcAft>
                <a:spcPts val="0"/>
              </a:spcAft>
            </a:pPr>
            <a:r>
              <a:rPr sz="1000" b="1">
                <a:solidFill>
                  <a:srgbClr val="FFFFFF"/>
                </a:solidFill>
                <a:latin typeface="Aptos"/>
              </a:rPr>
              <a:t>SUMBER</a:t>
            </a:r>
          </a:p>
        </p:txBody>
      </p:sp>
      <p:sp>
        <p:nvSpPr>
          <p:cNvPr id="11" name="TextBox 10"/>
          <p:cNvSpPr txBox="1"/>
          <p:nvPr/>
        </p:nvSpPr>
        <p:spPr>
          <a:xfrm>
            <a:off x="905256" y="2788920"/>
            <a:ext cx="1856231" cy="585216"/>
          </a:xfrm>
          <a:prstGeom prst="rect">
            <a:avLst/>
          </a:prstGeom>
          <a:noFill/>
        </p:spPr>
        <p:txBody>
          <a:bodyPr wrap="square" lIns="27432" rIns="27432" tIns="27432" bIns="27432" anchor="ctr">
            <a:spAutoFit/>
          </a:bodyPr>
          <a:lstStyle/>
          <a:p>
            <a:pPr algn="ctr">
              <a:lnSpc>
                <a:spcPct val="108000"/>
              </a:lnSpc>
              <a:spcAft>
                <a:spcPts val="0"/>
              </a:spcAft>
            </a:pPr>
            <a:r>
              <a:rPr sz="1800" b="1">
                <a:solidFill>
                  <a:srgbClr val="1A2F37"/>
                </a:solidFill>
                <a:latin typeface="Aptos"/>
              </a:rPr>
              <a:t>Google Sheets</a:t>
            </a:r>
          </a:p>
        </p:txBody>
      </p:sp>
      <p:sp>
        <p:nvSpPr>
          <p:cNvPr id="12" name="TextBox 11"/>
          <p:cNvSpPr txBox="1"/>
          <p:nvPr/>
        </p:nvSpPr>
        <p:spPr>
          <a:xfrm>
            <a:off x="932688" y="3547872"/>
            <a:ext cx="1783080" cy="603504"/>
          </a:xfrm>
          <a:prstGeom prst="rect">
            <a:avLst/>
          </a:prstGeom>
          <a:noFill/>
        </p:spPr>
        <p:txBody>
          <a:bodyPr wrap="square" lIns="27432" rIns="27432" tIns="27432" bIns="27432" anchor="ctr">
            <a:spAutoFit/>
          </a:bodyPr>
          <a:lstStyle/>
          <a:p>
            <a:pPr algn="ctr">
              <a:lnSpc>
                <a:spcPct val="108000"/>
              </a:lnSpc>
              <a:spcAft>
                <a:spcPts val="0"/>
              </a:spcAft>
            </a:pPr>
            <a:r>
              <a:rPr sz="1230" b="0">
                <a:solidFill>
                  <a:srgbClr val="586C71"/>
                </a:solidFill>
                <a:latin typeface="Aptos"/>
              </a:rPr>
              <a:t>Discovery &amp; snapshot</a:t>
            </a:r>
          </a:p>
        </p:txBody>
      </p:sp>
      <p:sp>
        <p:nvSpPr>
          <p:cNvPr id="13" name="Chevron 12"/>
          <p:cNvSpPr/>
          <p:nvPr/>
        </p:nvSpPr>
        <p:spPr>
          <a:xfrm>
            <a:off x="3127248" y="3182112"/>
            <a:ext cx="228600" cy="228600"/>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584448" y="2084831"/>
            <a:ext cx="2185416" cy="2459736"/>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84448" y="2084831"/>
            <a:ext cx="2185416" cy="466344"/>
          </a:xfrm>
          <a:prstGeom prst="roundRect">
            <a:avLst>
              <a:gd name="adj" fmla="val 18000"/>
            </a:avLst>
          </a:prstGeom>
          <a:solidFill>
            <a:srgbClr val="09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94176" y="2176272"/>
            <a:ext cx="1965960" cy="283464"/>
          </a:xfrm>
          <a:prstGeom prst="rect">
            <a:avLst/>
          </a:prstGeom>
          <a:noFill/>
        </p:spPr>
        <p:txBody>
          <a:bodyPr wrap="square" lIns="27432" rIns="27432" tIns="27432" bIns="27432" anchor="ctr">
            <a:spAutoFit/>
          </a:bodyPr>
          <a:lstStyle/>
          <a:p>
            <a:pPr algn="ctr">
              <a:lnSpc>
                <a:spcPct val="108000"/>
              </a:lnSpc>
              <a:spcAft>
                <a:spcPts val="0"/>
              </a:spcAft>
            </a:pPr>
            <a:r>
              <a:rPr sz="1000" b="1">
                <a:solidFill>
                  <a:srgbClr val="FFFFFF"/>
                </a:solidFill>
                <a:latin typeface="Aptos"/>
              </a:rPr>
              <a:t>PENGOLAHAN</a:t>
            </a:r>
          </a:p>
        </p:txBody>
      </p:sp>
      <p:sp>
        <p:nvSpPr>
          <p:cNvPr id="17" name="TextBox 16"/>
          <p:cNvSpPr txBox="1"/>
          <p:nvPr/>
        </p:nvSpPr>
        <p:spPr>
          <a:xfrm>
            <a:off x="3758184" y="2788920"/>
            <a:ext cx="1856231" cy="585216"/>
          </a:xfrm>
          <a:prstGeom prst="rect">
            <a:avLst/>
          </a:prstGeom>
          <a:noFill/>
        </p:spPr>
        <p:txBody>
          <a:bodyPr wrap="square" lIns="27432" rIns="27432" tIns="27432" bIns="27432" anchor="ctr">
            <a:spAutoFit/>
          </a:bodyPr>
          <a:lstStyle/>
          <a:p>
            <a:pPr algn="ctr">
              <a:lnSpc>
                <a:spcPct val="108000"/>
              </a:lnSpc>
              <a:spcAft>
                <a:spcPts val="0"/>
              </a:spcAft>
            </a:pPr>
            <a:r>
              <a:rPr sz="1800" b="1">
                <a:solidFill>
                  <a:srgbClr val="1A2F37"/>
                </a:solidFill>
                <a:latin typeface="Aptos"/>
              </a:rPr>
              <a:t>ETL + review</a:t>
            </a:r>
          </a:p>
        </p:txBody>
      </p:sp>
      <p:sp>
        <p:nvSpPr>
          <p:cNvPr id="18" name="TextBox 17"/>
          <p:cNvSpPr txBox="1"/>
          <p:nvPr/>
        </p:nvSpPr>
        <p:spPr>
          <a:xfrm>
            <a:off x="3785615" y="3547872"/>
            <a:ext cx="1783080" cy="603504"/>
          </a:xfrm>
          <a:prstGeom prst="rect">
            <a:avLst/>
          </a:prstGeom>
          <a:noFill/>
        </p:spPr>
        <p:txBody>
          <a:bodyPr wrap="square" lIns="27432" rIns="27432" tIns="27432" bIns="27432" anchor="ctr">
            <a:spAutoFit/>
          </a:bodyPr>
          <a:lstStyle/>
          <a:p>
            <a:pPr algn="ctr">
              <a:lnSpc>
                <a:spcPct val="108000"/>
              </a:lnSpc>
              <a:spcAft>
                <a:spcPts val="0"/>
              </a:spcAft>
            </a:pPr>
            <a:r>
              <a:rPr sz="1230" b="0">
                <a:solidFill>
                  <a:srgbClr val="586C71"/>
                </a:solidFill>
                <a:latin typeface="Aptos"/>
              </a:rPr>
              <a:t>Kualitas, master, taxonomy</a:t>
            </a:r>
          </a:p>
        </p:txBody>
      </p:sp>
      <p:sp>
        <p:nvSpPr>
          <p:cNvPr id="19" name="Chevron 18"/>
          <p:cNvSpPr/>
          <p:nvPr/>
        </p:nvSpPr>
        <p:spPr>
          <a:xfrm>
            <a:off x="5980176" y="3182112"/>
            <a:ext cx="228600" cy="228600"/>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37376" y="2084831"/>
            <a:ext cx="2185416" cy="2459736"/>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37376" y="2084831"/>
            <a:ext cx="2185416" cy="466344"/>
          </a:xfrm>
          <a:prstGeom prst="roundRect">
            <a:avLst>
              <a:gd name="adj" fmla="val 18000"/>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47104" y="2176272"/>
            <a:ext cx="1965960" cy="283464"/>
          </a:xfrm>
          <a:prstGeom prst="rect">
            <a:avLst/>
          </a:prstGeom>
          <a:noFill/>
        </p:spPr>
        <p:txBody>
          <a:bodyPr wrap="square" lIns="27432" rIns="27432" tIns="27432" bIns="27432" anchor="ctr">
            <a:spAutoFit/>
          </a:bodyPr>
          <a:lstStyle/>
          <a:p>
            <a:pPr algn="ctr">
              <a:lnSpc>
                <a:spcPct val="108000"/>
              </a:lnSpc>
              <a:spcAft>
                <a:spcPts val="0"/>
              </a:spcAft>
            </a:pPr>
            <a:r>
              <a:rPr sz="1000" b="1">
                <a:solidFill>
                  <a:srgbClr val="FFFFFF"/>
                </a:solidFill>
                <a:latin typeface="Aptos"/>
              </a:rPr>
              <a:t>DATA</a:t>
            </a:r>
          </a:p>
        </p:txBody>
      </p:sp>
      <p:sp>
        <p:nvSpPr>
          <p:cNvPr id="23" name="TextBox 22"/>
          <p:cNvSpPr txBox="1"/>
          <p:nvPr/>
        </p:nvSpPr>
        <p:spPr>
          <a:xfrm>
            <a:off x="6611112" y="2788920"/>
            <a:ext cx="1856231" cy="585216"/>
          </a:xfrm>
          <a:prstGeom prst="rect">
            <a:avLst/>
          </a:prstGeom>
          <a:noFill/>
        </p:spPr>
        <p:txBody>
          <a:bodyPr wrap="square" lIns="27432" rIns="27432" tIns="27432" bIns="27432" anchor="ctr">
            <a:spAutoFit/>
          </a:bodyPr>
          <a:lstStyle/>
          <a:p>
            <a:pPr algn="ctr">
              <a:lnSpc>
                <a:spcPct val="108000"/>
              </a:lnSpc>
              <a:spcAft>
                <a:spcPts val="0"/>
              </a:spcAft>
            </a:pPr>
            <a:r>
              <a:rPr sz="1800" b="1">
                <a:solidFill>
                  <a:srgbClr val="1A2F37"/>
                </a:solidFill>
                <a:latin typeface="Aptos"/>
              </a:rPr>
              <a:t>Trusted data</a:t>
            </a:r>
          </a:p>
        </p:txBody>
      </p:sp>
      <p:sp>
        <p:nvSpPr>
          <p:cNvPr id="24" name="TextBox 23"/>
          <p:cNvSpPr txBox="1"/>
          <p:nvPr/>
        </p:nvSpPr>
        <p:spPr>
          <a:xfrm>
            <a:off x="6638544" y="3547872"/>
            <a:ext cx="1783080" cy="603504"/>
          </a:xfrm>
          <a:prstGeom prst="rect">
            <a:avLst/>
          </a:prstGeom>
          <a:noFill/>
        </p:spPr>
        <p:txBody>
          <a:bodyPr wrap="square" lIns="27432" rIns="27432" tIns="27432" bIns="27432" anchor="ctr">
            <a:spAutoFit/>
          </a:bodyPr>
          <a:lstStyle/>
          <a:p>
            <a:pPr algn="ctr">
              <a:lnSpc>
                <a:spcPct val="108000"/>
              </a:lnSpc>
              <a:spcAft>
                <a:spcPts val="0"/>
              </a:spcAft>
            </a:pPr>
            <a:r>
              <a:rPr sz="1230" b="0">
                <a:solidFill>
                  <a:srgbClr val="586C71"/>
                </a:solidFill>
                <a:latin typeface="Aptos"/>
              </a:rPr>
              <a:t>Produk semantik &amp; metrik</a:t>
            </a:r>
          </a:p>
        </p:txBody>
      </p:sp>
      <p:sp>
        <p:nvSpPr>
          <p:cNvPr id="25" name="Chevron 24"/>
          <p:cNvSpPr/>
          <p:nvPr/>
        </p:nvSpPr>
        <p:spPr>
          <a:xfrm>
            <a:off x="8833104" y="3182112"/>
            <a:ext cx="228600" cy="228600"/>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290304" y="2084831"/>
            <a:ext cx="2185416" cy="2459736"/>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290304" y="2084831"/>
            <a:ext cx="2185416" cy="466344"/>
          </a:xfrm>
          <a:prstGeom prst="roundRect">
            <a:avLst>
              <a:gd name="adj" fmla="val 18000"/>
            </a:avLst>
          </a:prstGeom>
          <a:solidFill>
            <a:srgbClr val="0C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00032" y="2176272"/>
            <a:ext cx="1965960" cy="283464"/>
          </a:xfrm>
          <a:prstGeom prst="rect">
            <a:avLst/>
          </a:prstGeom>
          <a:noFill/>
        </p:spPr>
        <p:txBody>
          <a:bodyPr wrap="square" lIns="27432" rIns="27432" tIns="27432" bIns="27432" anchor="ctr">
            <a:spAutoFit/>
          </a:bodyPr>
          <a:lstStyle/>
          <a:p>
            <a:pPr algn="ctr">
              <a:lnSpc>
                <a:spcPct val="108000"/>
              </a:lnSpc>
              <a:spcAft>
                <a:spcPts val="0"/>
              </a:spcAft>
            </a:pPr>
            <a:r>
              <a:rPr sz="1000" b="1">
                <a:solidFill>
                  <a:srgbClr val="FFFFFF"/>
                </a:solidFill>
                <a:latin typeface="Aptos"/>
              </a:rPr>
              <a:t>PEMAKAIAN</a:t>
            </a:r>
          </a:p>
        </p:txBody>
      </p:sp>
      <p:sp>
        <p:nvSpPr>
          <p:cNvPr id="29" name="TextBox 28"/>
          <p:cNvSpPr txBox="1"/>
          <p:nvPr/>
        </p:nvSpPr>
        <p:spPr>
          <a:xfrm>
            <a:off x="9464040" y="2788920"/>
            <a:ext cx="1856231" cy="585216"/>
          </a:xfrm>
          <a:prstGeom prst="rect">
            <a:avLst/>
          </a:prstGeom>
          <a:noFill/>
        </p:spPr>
        <p:txBody>
          <a:bodyPr wrap="square" lIns="27432" rIns="27432" tIns="27432" bIns="27432" anchor="ctr">
            <a:spAutoFit/>
          </a:bodyPr>
          <a:lstStyle/>
          <a:p>
            <a:pPr algn="ctr">
              <a:lnSpc>
                <a:spcPct val="108000"/>
              </a:lnSpc>
              <a:spcAft>
                <a:spcPts val="0"/>
              </a:spcAft>
            </a:pPr>
            <a:r>
              <a:rPr sz="1800" b="1">
                <a:solidFill>
                  <a:srgbClr val="1A2F37"/>
                </a:solidFill>
                <a:latin typeface="Aptos"/>
              </a:rPr>
              <a:t>Dashboard</a:t>
            </a:r>
          </a:p>
        </p:txBody>
      </p:sp>
      <p:sp>
        <p:nvSpPr>
          <p:cNvPr id="30" name="TextBox 29"/>
          <p:cNvSpPr txBox="1"/>
          <p:nvPr/>
        </p:nvSpPr>
        <p:spPr>
          <a:xfrm>
            <a:off x="9491472" y="3547872"/>
            <a:ext cx="1783080" cy="603504"/>
          </a:xfrm>
          <a:prstGeom prst="rect">
            <a:avLst/>
          </a:prstGeom>
          <a:noFill/>
        </p:spPr>
        <p:txBody>
          <a:bodyPr wrap="square" lIns="27432" rIns="27432" tIns="27432" bIns="27432" anchor="ctr">
            <a:spAutoFit/>
          </a:bodyPr>
          <a:lstStyle/>
          <a:p>
            <a:pPr algn="ctr">
              <a:lnSpc>
                <a:spcPct val="108000"/>
              </a:lnSpc>
              <a:spcAft>
                <a:spcPts val="0"/>
              </a:spcAft>
            </a:pPr>
            <a:r>
              <a:rPr sz="1230" b="0">
                <a:solidFill>
                  <a:srgbClr val="586C71"/>
                </a:solidFill>
                <a:latin typeface="Aptos"/>
              </a:rPr>
              <a:t>NL2SQL, tabel, chart</a:t>
            </a:r>
          </a:p>
        </p:txBody>
      </p:sp>
      <p:sp>
        <p:nvSpPr>
          <p:cNvPr id="31" name="Rounded Rectangle 30"/>
          <p:cNvSpPr/>
          <p:nvPr/>
        </p:nvSpPr>
        <p:spPr>
          <a:xfrm>
            <a:off x="1097280" y="5184648"/>
            <a:ext cx="1463040" cy="329184"/>
          </a:xfrm>
          <a:prstGeom prst="roundRect">
            <a:avLst>
              <a:gd name="adj" fmla="val 18000"/>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70432" y="5184648"/>
            <a:ext cx="1316736" cy="329184"/>
          </a:xfrm>
          <a:prstGeom prst="rect">
            <a:avLst/>
          </a:prstGeom>
          <a:noFill/>
        </p:spPr>
        <p:txBody>
          <a:bodyPr wrap="square" lIns="27432" rIns="27432" tIns="27432" bIns="27432" anchor="ctr">
            <a:spAutoFit/>
          </a:bodyPr>
          <a:lstStyle/>
          <a:p>
            <a:pPr algn="l">
              <a:lnSpc>
                <a:spcPct val="108000"/>
              </a:lnSpc>
              <a:spcAft>
                <a:spcPts val="0"/>
              </a:spcAft>
            </a:pPr>
            <a:r>
              <a:rPr sz="1100" b="1">
                <a:solidFill>
                  <a:srgbClr val="096752"/>
                </a:solidFill>
                <a:latin typeface="Aptos"/>
              </a:rPr>
              <a:t>AKSES</a:t>
            </a:r>
          </a:p>
        </p:txBody>
      </p:sp>
      <p:sp>
        <p:nvSpPr>
          <p:cNvPr id="33" name="Rounded Rectangle 32"/>
          <p:cNvSpPr/>
          <p:nvPr/>
        </p:nvSpPr>
        <p:spPr>
          <a:xfrm>
            <a:off x="2971800" y="5184648"/>
            <a:ext cx="1463040" cy="329184"/>
          </a:xfrm>
          <a:prstGeom prst="roundRect">
            <a:avLst>
              <a:gd name="adj" fmla="val 18000"/>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44952" y="5184648"/>
            <a:ext cx="1316736" cy="329184"/>
          </a:xfrm>
          <a:prstGeom prst="rect">
            <a:avLst/>
          </a:prstGeom>
          <a:noFill/>
        </p:spPr>
        <p:txBody>
          <a:bodyPr wrap="square" lIns="27432" rIns="27432" tIns="27432" bIns="27432" anchor="ctr">
            <a:spAutoFit/>
          </a:bodyPr>
          <a:lstStyle/>
          <a:p>
            <a:pPr algn="l">
              <a:lnSpc>
                <a:spcPct val="108000"/>
              </a:lnSpc>
              <a:spcAft>
                <a:spcPts val="0"/>
              </a:spcAft>
            </a:pPr>
            <a:r>
              <a:rPr sz="1100" b="1">
                <a:solidFill>
                  <a:srgbClr val="096752"/>
                </a:solidFill>
                <a:latin typeface="Aptos"/>
              </a:rPr>
              <a:t>AUDIT</a:t>
            </a:r>
          </a:p>
        </p:txBody>
      </p:sp>
      <p:sp>
        <p:nvSpPr>
          <p:cNvPr id="35" name="Rounded Rectangle 34"/>
          <p:cNvSpPr/>
          <p:nvPr/>
        </p:nvSpPr>
        <p:spPr>
          <a:xfrm>
            <a:off x="4846320" y="5184648"/>
            <a:ext cx="1463040" cy="329184"/>
          </a:xfrm>
          <a:prstGeom prst="roundRect">
            <a:avLst>
              <a:gd name="adj" fmla="val 18000"/>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919472" y="5184648"/>
            <a:ext cx="1316736" cy="329184"/>
          </a:xfrm>
          <a:prstGeom prst="rect">
            <a:avLst/>
          </a:prstGeom>
          <a:noFill/>
        </p:spPr>
        <p:txBody>
          <a:bodyPr wrap="square" lIns="27432" rIns="27432" tIns="27432" bIns="27432" anchor="ctr">
            <a:spAutoFit/>
          </a:bodyPr>
          <a:lstStyle/>
          <a:p>
            <a:pPr algn="l">
              <a:lnSpc>
                <a:spcPct val="108000"/>
              </a:lnSpc>
              <a:spcAft>
                <a:spcPts val="0"/>
              </a:spcAft>
            </a:pPr>
            <a:r>
              <a:rPr sz="1100" b="1">
                <a:solidFill>
                  <a:srgbClr val="096752"/>
                </a:solidFill>
                <a:latin typeface="Aptos"/>
              </a:rPr>
              <a:t>QUALITY</a:t>
            </a:r>
          </a:p>
        </p:txBody>
      </p:sp>
      <p:sp>
        <p:nvSpPr>
          <p:cNvPr id="37" name="Rounded Rectangle 36"/>
          <p:cNvSpPr/>
          <p:nvPr/>
        </p:nvSpPr>
        <p:spPr>
          <a:xfrm>
            <a:off x="6720840" y="5184648"/>
            <a:ext cx="1463040" cy="329184"/>
          </a:xfrm>
          <a:prstGeom prst="roundRect">
            <a:avLst>
              <a:gd name="adj" fmla="val 18000"/>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793992" y="5184648"/>
            <a:ext cx="1316736" cy="329184"/>
          </a:xfrm>
          <a:prstGeom prst="rect">
            <a:avLst/>
          </a:prstGeom>
          <a:noFill/>
        </p:spPr>
        <p:txBody>
          <a:bodyPr wrap="square" lIns="27432" rIns="27432" tIns="27432" bIns="27432" anchor="ctr">
            <a:spAutoFit/>
          </a:bodyPr>
          <a:lstStyle/>
          <a:p>
            <a:pPr algn="l">
              <a:lnSpc>
                <a:spcPct val="108000"/>
              </a:lnSpc>
              <a:spcAft>
                <a:spcPts val="0"/>
              </a:spcAft>
            </a:pPr>
            <a:r>
              <a:rPr sz="1100" b="1">
                <a:solidFill>
                  <a:srgbClr val="096752"/>
                </a:solidFill>
                <a:latin typeface="Aptos"/>
              </a:rPr>
              <a:t>JOBS</a:t>
            </a:r>
          </a:p>
        </p:txBody>
      </p:sp>
      <p:sp>
        <p:nvSpPr>
          <p:cNvPr id="39" name="Rounded Rectangle 38"/>
          <p:cNvSpPr/>
          <p:nvPr/>
        </p:nvSpPr>
        <p:spPr>
          <a:xfrm>
            <a:off x="8595360" y="5184648"/>
            <a:ext cx="1737360" cy="329184"/>
          </a:xfrm>
          <a:prstGeom prst="roundRect">
            <a:avLst>
              <a:gd name="adj" fmla="val 18000"/>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68512" y="5184648"/>
            <a:ext cx="1591056" cy="329184"/>
          </a:xfrm>
          <a:prstGeom prst="rect">
            <a:avLst/>
          </a:prstGeom>
          <a:noFill/>
        </p:spPr>
        <p:txBody>
          <a:bodyPr wrap="square" lIns="27432" rIns="27432" tIns="27432" bIns="27432" anchor="ctr">
            <a:spAutoFit/>
          </a:bodyPr>
          <a:lstStyle/>
          <a:p>
            <a:pPr algn="l">
              <a:lnSpc>
                <a:spcPct val="108000"/>
              </a:lnSpc>
              <a:spcAft>
                <a:spcPts val="0"/>
              </a:spcAft>
            </a:pPr>
            <a:r>
              <a:rPr sz="1100" b="1">
                <a:solidFill>
                  <a:srgbClr val="096752"/>
                </a:solidFill>
                <a:latin typeface="Aptos"/>
              </a:rPr>
              <a:t>AI POLICY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38328"/>
            <a:ext cx="9601200" cy="256032"/>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096752"/>
                </a:solidFill>
                <a:latin typeface="Aptos"/>
              </a:rPr>
              <a:t>ANALITIK BAHASA ALAMI</a:t>
            </a:r>
          </a:p>
        </p:txBody>
      </p:sp>
      <p:sp>
        <p:nvSpPr>
          <p:cNvPr id="4" name="TextBox 3"/>
          <p:cNvSpPr txBox="1"/>
          <p:nvPr/>
        </p:nvSpPr>
        <p:spPr>
          <a:xfrm>
            <a:off x="658368" y="713232"/>
            <a:ext cx="10835640" cy="621792"/>
          </a:xfrm>
          <a:prstGeom prst="rect">
            <a:avLst/>
          </a:prstGeom>
          <a:noFill/>
        </p:spPr>
        <p:txBody>
          <a:bodyPr wrap="square" lIns="27432" rIns="27432" tIns="27432" bIns="27432" anchor="ctr">
            <a:spAutoFit/>
          </a:bodyPr>
          <a:lstStyle/>
          <a:p>
            <a:pPr algn="l">
              <a:lnSpc>
                <a:spcPct val="108000"/>
              </a:lnSpc>
              <a:spcAft>
                <a:spcPts val="0"/>
              </a:spcAft>
            </a:pPr>
            <a:r>
              <a:rPr sz="2800" b="1">
                <a:solidFill>
                  <a:srgbClr val="1A2F37"/>
                </a:solidFill>
                <a:latin typeface="Aptos"/>
              </a:rPr>
              <a:t>Dari pertanyaan ke chart</a:t>
            </a:r>
          </a:p>
        </p:txBody>
      </p:sp>
      <p:sp>
        <p:nvSpPr>
          <p:cNvPr id="5" name="TextBox 4"/>
          <p:cNvSpPr txBox="1"/>
          <p:nvPr/>
        </p:nvSpPr>
        <p:spPr>
          <a:xfrm>
            <a:off x="685800" y="1362456"/>
            <a:ext cx="10744200" cy="438912"/>
          </a:xfrm>
          <a:prstGeom prst="rect">
            <a:avLst/>
          </a:prstGeom>
          <a:noFill/>
        </p:spPr>
        <p:txBody>
          <a:bodyPr wrap="square" lIns="27432" rIns="27432" tIns="27432" bIns="27432" anchor="ctr">
            <a:spAutoFit/>
          </a:bodyPr>
          <a:lstStyle/>
          <a:p>
            <a:pPr algn="l">
              <a:lnSpc>
                <a:spcPct val="108000"/>
              </a:lnSpc>
              <a:spcAft>
                <a:spcPts val="0"/>
              </a:spcAft>
            </a:pPr>
            <a:r>
              <a:rPr sz="1300" b="0">
                <a:solidFill>
                  <a:srgbClr val="586C71"/>
                </a:solidFill>
                <a:latin typeface="Aptos"/>
              </a:rPr>
              <a:t>Pengguna bertanya dalam bahasa biasa; aplikasi memilih data dan bentuk visual yang sesuai.</a:t>
            </a:r>
          </a:p>
        </p:txBody>
      </p:sp>
      <p:cxnSp>
        <p:nvCxnSpPr>
          <p:cNvPr id="6" name="Connector 5"/>
          <p:cNvCxnSpPr/>
          <p:nvPr/>
        </p:nvCxnSpPr>
        <p:spPr>
          <a:xfrm>
            <a:off x="676656" y="6492240"/>
            <a:ext cx="10799064" cy="0"/>
          </a:xfrm>
          <a:prstGeom prst="line">
            <a:avLst/>
          </a:prstGeom>
          <a:ln w="16510">
            <a:solidFill>
              <a:srgbClr val="DBE6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 y="6537960"/>
            <a:ext cx="7132320" cy="164592"/>
          </a:xfrm>
          <a:prstGeom prst="rect">
            <a:avLst/>
          </a:prstGeom>
          <a:noFill/>
        </p:spPr>
        <p:txBody>
          <a:bodyPr wrap="square" lIns="27432" rIns="27432" tIns="27432" bIns="27432" anchor="ctr">
            <a:spAutoFit/>
          </a:bodyPr>
          <a:lstStyle/>
          <a:p>
            <a:pPr algn="l">
              <a:lnSpc>
                <a:spcPct val="108000"/>
              </a:lnSpc>
              <a:spcAft>
                <a:spcPts val="0"/>
              </a:spcAft>
            </a:pPr>
            <a:r>
              <a:rPr sz="850" b="0">
                <a:solidFill>
                  <a:srgbClr val="586C71"/>
                </a:solidFill>
                <a:latin typeface="Aptos"/>
              </a:rPr>
              <a:t>GOOGLE SHEET AI  ·  TINJAUAN APLIKASI</a:t>
            </a:r>
          </a:p>
        </p:txBody>
      </p:sp>
      <p:sp>
        <p:nvSpPr>
          <p:cNvPr id="8" name="TextBox 7"/>
          <p:cNvSpPr txBox="1"/>
          <p:nvPr/>
        </p:nvSpPr>
        <p:spPr>
          <a:xfrm>
            <a:off x="10972800" y="6519672"/>
            <a:ext cx="502920" cy="192024"/>
          </a:xfrm>
          <a:prstGeom prst="rect">
            <a:avLst/>
          </a:prstGeom>
          <a:noFill/>
        </p:spPr>
        <p:txBody>
          <a:bodyPr wrap="square" lIns="27432" rIns="27432" tIns="27432" bIns="27432" anchor="ctr">
            <a:spAutoFit/>
          </a:bodyPr>
          <a:lstStyle/>
          <a:p>
            <a:pPr algn="r">
              <a:lnSpc>
                <a:spcPct val="108000"/>
              </a:lnSpc>
              <a:spcAft>
                <a:spcPts val="0"/>
              </a:spcAft>
            </a:pPr>
            <a:r>
              <a:rPr sz="950" b="0">
                <a:solidFill>
                  <a:srgbClr val="586C71"/>
                </a:solidFill>
                <a:latin typeface="Aptos"/>
              </a:rPr>
              <a:t>11</a:t>
            </a:r>
          </a:p>
        </p:txBody>
      </p:sp>
      <p:sp>
        <p:nvSpPr>
          <p:cNvPr id="9" name="Rounded Rectangle 8"/>
          <p:cNvSpPr/>
          <p:nvPr/>
        </p:nvSpPr>
        <p:spPr>
          <a:xfrm>
            <a:off x="749808" y="1956816"/>
            <a:ext cx="3703320" cy="1325880"/>
          </a:xfrm>
          <a:prstGeom prst="roundRect">
            <a:avLst>
              <a:gd name="adj" fmla="val 18000"/>
            </a:avLst>
          </a:prstGeom>
          <a:solidFill>
            <a:srgbClr val="0C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148840"/>
            <a:ext cx="3090672" cy="932688"/>
          </a:xfrm>
          <a:prstGeom prst="rect">
            <a:avLst/>
          </a:prstGeom>
          <a:noFill/>
        </p:spPr>
        <p:txBody>
          <a:bodyPr wrap="square" lIns="27432" rIns="27432" tIns="27432" bIns="27432" anchor="ctr">
            <a:spAutoFit/>
          </a:bodyPr>
          <a:lstStyle/>
          <a:p>
            <a:pPr algn="ctr">
              <a:lnSpc>
                <a:spcPct val="108000"/>
              </a:lnSpc>
              <a:spcAft>
                <a:spcPts val="0"/>
              </a:spcAft>
            </a:pPr>
            <a:r>
              <a:rPr sz="2000" b="1">
                <a:solidFill>
                  <a:srgbClr val="FFFFFF"/>
                </a:solidFill>
                <a:latin typeface="Aptos"/>
              </a:rPr>
              <a:t>“Total penjualan per cabang bulan ini?”</a:t>
            </a:r>
          </a:p>
        </p:txBody>
      </p:sp>
      <p:sp>
        <p:nvSpPr>
          <p:cNvPr id="11" name="Chevron 10"/>
          <p:cNvSpPr/>
          <p:nvPr/>
        </p:nvSpPr>
        <p:spPr>
          <a:xfrm>
            <a:off x="4663440" y="2487168"/>
            <a:ext cx="310896" cy="310896"/>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93792" y="1920240"/>
            <a:ext cx="2788920" cy="1417320"/>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93792" y="2121408"/>
            <a:ext cx="54864" cy="1014984"/>
          </a:xfrm>
          <a:prstGeom prst="roundRect">
            <a:avLst>
              <a:gd name="adj" fmla="val 18000"/>
            </a:avLst>
          </a:prstGeom>
          <a:solidFill>
            <a:srgbClr val="09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13248" y="2103120"/>
            <a:ext cx="2368296" cy="475488"/>
          </a:xfrm>
          <a:prstGeom prst="rect">
            <a:avLst/>
          </a:prstGeom>
          <a:noFill/>
        </p:spPr>
        <p:txBody>
          <a:bodyPr wrap="square" lIns="27432" rIns="27432" tIns="27432" bIns="27432" anchor="ctr">
            <a:spAutoFit/>
          </a:bodyPr>
          <a:lstStyle/>
          <a:p>
            <a:pPr algn="l">
              <a:lnSpc>
                <a:spcPct val="108000"/>
              </a:lnSpc>
              <a:spcAft>
                <a:spcPts val="0"/>
              </a:spcAft>
            </a:pPr>
            <a:r>
              <a:rPr sz="1700" b="1">
                <a:solidFill>
                  <a:srgbClr val="1A2F37"/>
                </a:solidFill>
                <a:latin typeface="Aptos"/>
              </a:rPr>
              <a:t>Rencana query</a:t>
            </a:r>
          </a:p>
        </p:txBody>
      </p:sp>
      <p:sp>
        <p:nvSpPr>
          <p:cNvPr id="15" name="TextBox 14"/>
          <p:cNvSpPr txBox="1"/>
          <p:nvPr/>
        </p:nvSpPr>
        <p:spPr>
          <a:xfrm>
            <a:off x="5413248" y="2633472"/>
            <a:ext cx="2350008" cy="521208"/>
          </a:xfrm>
          <a:prstGeom prst="rect">
            <a:avLst/>
          </a:prstGeom>
          <a:noFill/>
        </p:spPr>
        <p:txBody>
          <a:bodyPr wrap="square" lIns="27432" rIns="27432" tIns="27432" bIns="27432" anchor="t">
            <a:spAutoFit/>
          </a:bodyPr>
          <a:lstStyle/>
          <a:p>
            <a:pPr algn="l">
              <a:lnSpc>
                <a:spcPct val="120000"/>
              </a:lnSpc>
              <a:spcAft>
                <a:spcPts val="0"/>
              </a:spcAft>
            </a:pPr>
            <a:r>
              <a:rPr sz="1200" b="0">
                <a:solidFill>
                  <a:srgbClr val="586C71"/>
                </a:solidFill>
                <a:latin typeface="Aptos"/>
              </a:rPr>
              <a:t>Katalog, izin, metrik, dimensi, periode</a:t>
            </a:r>
          </a:p>
        </p:txBody>
      </p:sp>
      <p:sp>
        <p:nvSpPr>
          <p:cNvPr id="16" name="Chevron 15"/>
          <p:cNvSpPr/>
          <p:nvPr/>
        </p:nvSpPr>
        <p:spPr>
          <a:xfrm>
            <a:off x="8183879" y="2487168"/>
            <a:ext cx="310896" cy="310896"/>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50224" y="1920240"/>
            <a:ext cx="2788920" cy="1417320"/>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650224" y="2121408"/>
            <a:ext cx="54864" cy="1014984"/>
          </a:xfrm>
          <a:prstGeom prst="roundRect">
            <a:avLst>
              <a:gd name="adj" fmla="val 18000"/>
            </a:avLst>
          </a:prstGeom>
          <a:solidFill>
            <a:srgbClr val="CF8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9680" y="2103120"/>
            <a:ext cx="2368296" cy="475488"/>
          </a:xfrm>
          <a:prstGeom prst="rect">
            <a:avLst/>
          </a:prstGeom>
          <a:noFill/>
        </p:spPr>
        <p:txBody>
          <a:bodyPr wrap="square" lIns="27432" rIns="27432" tIns="27432" bIns="27432" anchor="ctr">
            <a:spAutoFit/>
          </a:bodyPr>
          <a:lstStyle/>
          <a:p>
            <a:pPr algn="l">
              <a:lnSpc>
                <a:spcPct val="108000"/>
              </a:lnSpc>
              <a:spcAft>
                <a:spcPts val="0"/>
              </a:spcAft>
            </a:pPr>
            <a:r>
              <a:rPr sz="1700" b="1">
                <a:solidFill>
                  <a:srgbClr val="1A2F37"/>
                </a:solidFill>
                <a:latin typeface="Aptos"/>
              </a:rPr>
              <a:t>Hasil tepercaya</a:t>
            </a:r>
          </a:p>
        </p:txBody>
      </p:sp>
      <p:sp>
        <p:nvSpPr>
          <p:cNvPr id="20" name="TextBox 19"/>
          <p:cNvSpPr txBox="1"/>
          <p:nvPr/>
        </p:nvSpPr>
        <p:spPr>
          <a:xfrm>
            <a:off x="8869680" y="2633472"/>
            <a:ext cx="2350008" cy="521208"/>
          </a:xfrm>
          <a:prstGeom prst="rect">
            <a:avLst/>
          </a:prstGeom>
          <a:noFill/>
        </p:spPr>
        <p:txBody>
          <a:bodyPr wrap="square" lIns="27432" rIns="27432" tIns="27432" bIns="27432" anchor="t">
            <a:spAutoFit/>
          </a:bodyPr>
          <a:lstStyle/>
          <a:p>
            <a:pPr algn="l">
              <a:lnSpc>
                <a:spcPct val="120000"/>
              </a:lnSpc>
              <a:spcAft>
                <a:spcPts val="0"/>
              </a:spcAft>
            </a:pPr>
            <a:r>
              <a:rPr sz="1200" b="0">
                <a:solidFill>
                  <a:srgbClr val="586C71"/>
                </a:solidFill>
                <a:latin typeface="Aptos"/>
              </a:rPr>
              <a:t>Tabel + rekomendasi chart</a:t>
            </a:r>
          </a:p>
        </p:txBody>
      </p:sp>
      <p:sp>
        <p:nvSpPr>
          <p:cNvPr id="21" name="Rounded Rectangle 20"/>
          <p:cNvSpPr/>
          <p:nvPr/>
        </p:nvSpPr>
        <p:spPr>
          <a:xfrm>
            <a:off x="1051560" y="3886200"/>
            <a:ext cx="10085832" cy="1426464"/>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975104" y="4562856"/>
            <a:ext cx="429768" cy="457200"/>
          </a:xfrm>
          <a:prstGeom prst="roundRect">
            <a:avLst>
              <a:gd name="adj" fmla="val 18000"/>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871216" y="4215384"/>
            <a:ext cx="429768" cy="804672"/>
          </a:xfrm>
          <a:prstGeom prst="roundRect">
            <a:avLst>
              <a:gd name="adj" fmla="val 18000"/>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767328" y="4389120"/>
            <a:ext cx="429768" cy="630936"/>
          </a:xfrm>
          <a:prstGeom prst="roundRect">
            <a:avLst>
              <a:gd name="adj" fmla="val 18000"/>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663440" y="3968496"/>
            <a:ext cx="429768" cy="1051560"/>
          </a:xfrm>
          <a:prstGeom prst="roundRect">
            <a:avLst>
              <a:gd name="adj" fmla="val 18000"/>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559552" y="4142232"/>
            <a:ext cx="429768" cy="877824"/>
          </a:xfrm>
          <a:prstGeom prst="roundRect">
            <a:avLst>
              <a:gd name="adj" fmla="val 18000"/>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55664" y="3840480"/>
            <a:ext cx="429768" cy="1179576"/>
          </a:xfrm>
          <a:prstGeom prst="roundRect">
            <a:avLst>
              <a:gd name="adj" fmla="val 18000"/>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351775" y="4279392"/>
            <a:ext cx="429768" cy="740664"/>
          </a:xfrm>
          <a:prstGeom prst="roundRect">
            <a:avLst>
              <a:gd name="adj" fmla="val 18000"/>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1581912" y="5020056"/>
            <a:ext cx="6400800" cy="0"/>
          </a:xfrm>
          <a:prstGeom prst="line">
            <a:avLst/>
          </a:prstGeom>
          <a:ln w="12700">
            <a:solidFill>
              <a:srgbClr val="DBE6E2"/>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458200" y="4279392"/>
            <a:ext cx="2103120" cy="594360"/>
          </a:xfrm>
          <a:prstGeom prst="rect">
            <a:avLst/>
          </a:prstGeom>
          <a:noFill/>
        </p:spPr>
        <p:txBody>
          <a:bodyPr wrap="square" lIns="27432" rIns="27432" tIns="27432" bIns="27432" anchor="ctr">
            <a:spAutoFit/>
          </a:bodyPr>
          <a:lstStyle/>
          <a:p>
            <a:pPr algn="l">
              <a:lnSpc>
                <a:spcPct val="108000"/>
              </a:lnSpc>
              <a:spcAft>
                <a:spcPts val="0"/>
              </a:spcAft>
            </a:pPr>
            <a:r>
              <a:rPr sz="1500" b="1">
                <a:solidFill>
                  <a:srgbClr val="096752"/>
                </a:solidFill>
                <a:latin typeface="Aptos"/>
              </a:rPr>
              <a:t>Bar · line · pie · kombinasi</a:t>
            </a:r>
          </a:p>
        </p:txBody>
      </p:sp>
      <p:sp>
        <p:nvSpPr>
          <p:cNvPr id="31" name="TextBox 30"/>
          <p:cNvSpPr txBox="1"/>
          <p:nvPr/>
        </p:nvSpPr>
        <p:spPr>
          <a:xfrm>
            <a:off x="1097280" y="5660136"/>
            <a:ext cx="9875520" cy="393192"/>
          </a:xfrm>
          <a:prstGeom prst="rect">
            <a:avLst/>
          </a:prstGeom>
          <a:noFill/>
        </p:spPr>
        <p:txBody>
          <a:bodyPr wrap="square" lIns="27432" rIns="27432" tIns="27432" bIns="27432" anchor="ctr">
            <a:spAutoFit/>
          </a:bodyPr>
          <a:lstStyle/>
          <a:p>
            <a:pPr algn="l">
              <a:lnSpc>
                <a:spcPct val="108000"/>
              </a:lnSpc>
              <a:spcAft>
                <a:spcPts val="0"/>
              </a:spcAft>
            </a:pPr>
            <a:r>
              <a:rPr sz="1300" b="0">
                <a:solidFill>
                  <a:srgbClr val="586C71"/>
                </a:solidFill>
                <a:latin typeface="Aptos"/>
              </a:rPr>
              <a:t>Jika ambigu, sistem meminta klarifikasi.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38328"/>
            <a:ext cx="9601200" cy="256032"/>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096752"/>
                </a:solidFill>
                <a:latin typeface="Aptos"/>
              </a:rPr>
              <a:t>SESUDAH DATA AKTIF</a:t>
            </a:r>
          </a:p>
        </p:txBody>
      </p:sp>
      <p:sp>
        <p:nvSpPr>
          <p:cNvPr id="4" name="TextBox 3"/>
          <p:cNvSpPr txBox="1"/>
          <p:nvPr/>
        </p:nvSpPr>
        <p:spPr>
          <a:xfrm>
            <a:off x="658368" y="713232"/>
            <a:ext cx="10835640" cy="621792"/>
          </a:xfrm>
          <a:prstGeom prst="rect">
            <a:avLst/>
          </a:prstGeom>
          <a:noFill/>
        </p:spPr>
        <p:txBody>
          <a:bodyPr wrap="square" lIns="27432" rIns="27432" tIns="27432" bIns="27432" anchor="ctr">
            <a:spAutoFit/>
          </a:bodyPr>
          <a:lstStyle/>
          <a:p>
            <a:pPr algn="l">
              <a:lnSpc>
                <a:spcPct val="108000"/>
              </a:lnSpc>
              <a:spcAft>
                <a:spcPts val="0"/>
              </a:spcAft>
            </a:pPr>
            <a:r>
              <a:rPr sz="2800" b="1">
                <a:solidFill>
                  <a:srgbClr val="1A2F37"/>
                </a:solidFill>
                <a:latin typeface="Aptos"/>
              </a:rPr>
              <a:t>Operasional dan bantuan tetap terlihat</a:t>
            </a:r>
          </a:p>
        </p:txBody>
      </p:sp>
      <p:cxnSp>
        <p:nvCxnSpPr>
          <p:cNvPr id="5" name="Connector 4"/>
          <p:cNvCxnSpPr/>
          <p:nvPr/>
        </p:nvCxnSpPr>
        <p:spPr>
          <a:xfrm>
            <a:off x="676656" y="6492240"/>
            <a:ext cx="10799064" cy="0"/>
          </a:xfrm>
          <a:prstGeom prst="line">
            <a:avLst/>
          </a:prstGeom>
          <a:ln w="16510">
            <a:solidFill>
              <a:srgbClr val="DBE6E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76656" y="6537960"/>
            <a:ext cx="7132320" cy="164592"/>
          </a:xfrm>
          <a:prstGeom prst="rect">
            <a:avLst/>
          </a:prstGeom>
          <a:noFill/>
        </p:spPr>
        <p:txBody>
          <a:bodyPr wrap="square" lIns="27432" rIns="27432" tIns="27432" bIns="27432" anchor="ctr">
            <a:spAutoFit/>
          </a:bodyPr>
          <a:lstStyle/>
          <a:p>
            <a:pPr algn="l">
              <a:lnSpc>
                <a:spcPct val="108000"/>
              </a:lnSpc>
              <a:spcAft>
                <a:spcPts val="0"/>
              </a:spcAft>
            </a:pPr>
            <a:r>
              <a:rPr sz="850" b="0">
                <a:solidFill>
                  <a:srgbClr val="586C71"/>
                </a:solidFill>
                <a:latin typeface="Aptos"/>
              </a:rPr>
              <a:t>GOOGLE SHEET AI  ·  TINJAUAN APLIKASI</a:t>
            </a:r>
          </a:p>
        </p:txBody>
      </p:sp>
      <p:sp>
        <p:nvSpPr>
          <p:cNvPr id="7" name="TextBox 6"/>
          <p:cNvSpPr txBox="1"/>
          <p:nvPr/>
        </p:nvSpPr>
        <p:spPr>
          <a:xfrm>
            <a:off x="10972800" y="6519672"/>
            <a:ext cx="502920" cy="192024"/>
          </a:xfrm>
          <a:prstGeom prst="rect">
            <a:avLst/>
          </a:prstGeom>
          <a:noFill/>
        </p:spPr>
        <p:txBody>
          <a:bodyPr wrap="square" lIns="27432" rIns="27432" tIns="27432" bIns="27432" anchor="ctr">
            <a:spAutoFit/>
          </a:bodyPr>
          <a:lstStyle/>
          <a:p>
            <a:pPr algn="r">
              <a:lnSpc>
                <a:spcPct val="108000"/>
              </a:lnSpc>
              <a:spcAft>
                <a:spcPts val="0"/>
              </a:spcAft>
            </a:pPr>
            <a:r>
              <a:rPr sz="950" b="0">
                <a:solidFill>
                  <a:srgbClr val="586C71"/>
                </a:solidFill>
                <a:latin typeface="Aptos"/>
              </a:rPr>
              <a:t>12</a:t>
            </a:r>
          </a:p>
        </p:txBody>
      </p:sp>
      <p:sp>
        <p:nvSpPr>
          <p:cNvPr id="8" name="Rounded Rectangle 7"/>
          <p:cNvSpPr/>
          <p:nvPr/>
        </p:nvSpPr>
        <p:spPr>
          <a:xfrm>
            <a:off x="722376" y="1883664"/>
            <a:ext cx="5193792" cy="3209544"/>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22376" y="2084832"/>
            <a:ext cx="54864" cy="2807208"/>
          </a:xfrm>
          <a:prstGeom prst="roundRect">
            <a:avLst>
              <a:gd name="adj" fmla="val 18000"/>
            </a:avLst>
          </a:prstGeom>
          <a:solidFill>
            <a:srgbClr val="09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066544"/>
            <a:ext cx="4773168" cy="475488"/>
          </a:xfrm>
          <a:prstGeom prst="rect">
            <a:avLst/>
          </a:prstGeom>
          <a:noFill/>
        </p:spPr>
        <p:txBody>
          <a:bodyPr wrap="square" lIns="27432" rIns="27432" tIns="27432" bIns="27432" anchor="ctr">
            <a:spAutoFit/>
          </a:bodyPr>
          <a:lstStyle/>
          <a:p>
            <a:pPr algn="l">
              <a:lnSpc>
                <a:spcPct val="108000"/>
              </a:lnSpc>
              <a:spcAft>
                <a:spcPts val="0"/>
              </a:spcAft>
            </a:pPr>
            <a:r>
              <a:rPr sz="2100" b="1">
                <a:solidFill>
                  <a:srgbClr val="1A2F37"/>
                </a:solidFill>
                <a:latin typeface="Aptos"/>
              </a:rPr>
              <a:t>Pantau kesehatan data</a:t>
            </a:r>
          </a:p>
        </p:txBody>
      </p:sp>
      <p:sp>
        <p:nvSpPr>
          <p:cNvPr id="11" name="TextBox 10"/>
          <p:cNvSpPr txBox="1"/>
          <p:nvPr/>
        </p:nvSpPr>
        <p:spPr>
          <a:xfrm>
            <a:off x="941832" y="2596896"/>
            <a:ext cx="4754879" cy="2313432"/>
          </a:xfrm>
          <a:prstGeom prst="rect">
            <a:avLst/>
          </a:prstGeom>
          <a:noFill/>
        </p:spPr>
        <p:txBody>
          <a:bodyPr wrap="square" lIns="27432" rIns="27432" tIns="27432" bIns="27432" anchor="t">
            <a:spAutoFit/>
          </a:bodyPr>
          <a:lstStyle/>
          <a:p>
            <a:pPr algn="l">
              <a:lnSpc>
                <a:spcPct val="120000"/>
              </a:lnSpc>
              <a:spcAft>
                <a:spcPts val="0"/>
              </a:spcAft>
            </a:pPr>
            <a:r>
              <a:rPr sz="1500" b="0">
                <a:solidFill>
                  <a:srgbClr val="586C71"/>
                </a:solidFill>
                <a:latin typeface="Aptos"/>
              </a:rPr>
              <a:t>• Status job dan progres</a:t>
            </a:r>
          </a:p>
          <a:p>
            <a:pPr algn="l">
              <a:lnSpc>
                <a:spcPct val="120000"/>
              </a:lnSpc>
              <a:spcAft>
                <a:spcPts val="0"/>
              </a:spcAft>
            </a:pPr>
            <a:r>
              <a:rPr sz="1500" b="0">
                <a:solidFill>
                  <a:srgbClr val="586C71"/>
                </a:solidFill>
                <a:latin typeface="Aptos"/>
              </a:rPr>
              <a:t>• Jadwal, dependency, watermark</a:t>
            </a:r>
          </a:p>
          <a:p>
            <a:pPr algn="l">
              <a:lnSpc>
                <a:spcPct val="120000"/>
              </a:lnSpc>
              <a:spcAft>
                <a:spcPts val="0"/>
              </a:spcAft>
            </a:pPr>
            <a:r>
              <a:rPr sz="1500" b="0">
                <a:solidFill>
                  <a:srgbClr val="586C71"/>
                </a:solidFill>
                <a:latin typeface="Aptos"/>
              </a:rPr>
              <a:t>• Kualitas, karantina, reprocess</a:t>
            </a:r>
          </a:p>
          <a:p>
            <a:pPr algn="l">
              <a:lnSpc>
                <a:spcPct val="120000"/>
              </a:lnSpc>
              <a:spcAft>
                <a:spcPts val="0"/>
              </a:spcAft>
            </a:pPr>
            <a:r>
              <a:rPr sz="1500" b="0">
                <a:solidFill>
                  <a:srgbClr val="586C71"/>
                </a:solidFill>
                <a:latin typeface="Aptos"/>
              </a:rPr>
              <a:t>• Notifikasi yang perlu ditindaklanjuti</a:t>
            </a:r>
          </a:p>
        </p:txBody>
      </p:sp>
      <p:sp>
        <p:nvSpPr>
          <p:cNvPr id="12" name="Rounded Rectangle 11"/>
          <p:cNvSpPr/>
          <p:nvPr/>
        </p:nvSpPr>
        <p:spPr>
          <a:xfrm>
            <a:off x="6245352" y="1883664"/>
            <a:ext cx="5193792" cy="3209544"/>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45352" y="2084832"/>
            <a:ext cx="54864" cy="2807208"/>
          </a:xfrm>
          <a:prstGeom prst="roundRect">
            <a:avLst>
              <a:gd name="adj" fmla="val 18000"/>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2066544"/>
            <a:ext cx="4773168" cy="475488"/>
          </a:xfrm>
          <a:prstGeom prst="rect">
            <a:avLst/>
          </a:prstGeom>
          <a:noFill/>
        </p:spPr>
        <p:txBody>
          <a:bodyPr wrap="square" lIns="27432" rIns="27432" tIns="27432" bIns="27432" anchor="ctr">
            <a:spAutoFit/>
          </a:bodyPr>
          <a:lstStyle/>
          <a:p>
            <a:pPr algn="l">
              <a:lnSpc>
                <a:spcPct val="108000"/>
              </a:lnSpc>
              <a:spcAft>
                <a:spcPts val="0"/>
              </a:spcAft>
            </a:pPr>
            <a:r>
              <a:rPr sz="2100" b="1">
                <a:solidFill>
                  <a:srgbClr val="1A2F37"/>
                </a:solidFill>
                <a:latin typeface="Aptos"/>
              </a:rPr>
              <a:t>Bantu pengguna memahami aplikasi</a:t>
            </a:r>
          </a:p>
        </p:txBody>
      </p:sp>
      <p:sp>
        <p:nvSpPr>
          <p:cNvPr id="15" name="TextBox 14"/>
          <p:cNvSpPr txBox="1"/>
          <p:nvPr/>
        </p:nvSpPr>
        <p:spPr>
          <a:xfrm>
            <a:off x="6464808" y="2596896"/>
            <a:ext cx="4754879" cy="2313432"/>
          </a:xfrm>
          <a:prstGeom prst="rect">
            <a:avLst/>
          </a:prstGeom>
          <a:noFill/>
        </p:spPr>
        <p:txBody>
          <a:bodyPr wrap="square" lIns="27432" rIns="27432" tIns="27432" bIns="27432" anchor="t">
            <a:spAutoFit/>
          </a:bodyPr>
          <a:lstStyle/>
          <a:p>
            <a:pPr algn="l">
              <a:lnSpc>
                <a:spcPct val="120000"/>
              </a:lnSpc>
              <a:spcAft>
                <a:spcPts val="0"/>
              </a:spcAft>
            </a:pPr>
            <a:r>
              <a:rPr sz="1500" b="0">
                <a:solidFill>
                  <a:srgbClr val="586C71"/>
                </a:solidFill>
                <a:latin typeface="Aptos"/>
              </a:rPr>
              <a:t>• Bantuan pada setiap halaman</a:t>
            </a:r>
          </a:p>
          <a:p>
            <a:pPr algn="l">
              <a:lnSpc>
                <a:spcPct val="120000"/>
              </a:lnSpc>
              <a:spcAft>
                <a:spcPts val="0"/>
              </a:spcAft>
            </a:pPr>
            <a:r>
              <a:rPr sz="1500" b="0">
                <a:solidFill>
                  <a:srgbClr val="586C71"/>
                </a:solidFill>
                <a:latin typeface="Aptos"/>
              </a:rPr>
              <a:t>• Panduan lengkap 10 tahap</a:t>
            </a:r>
          </a:p>
          <a:p>
            <a:pPr algn="l">
              <a:lnSpc>
                <a:spcPct val="120000"/>
              </a:lnSpc>
              <a:spcAft>
                <a:spcPts val="0"/>
              </a:spcAft>
            </a:pPr>
            <a:r>
              <a:rPr sz="1500" b="0">
                <a:solidFill>
                  <a:srgbClr val="586C71"/>
                </a:solidFill>
                <a:latin typeface="Aptos"/>
              </a:rPr>
              <a:t>• Tanya AI atas knowledge base terkurasi</a:t>
            </a:r>
          </a:p>
          <a:p>
            <a:pPr algn="l">
              <a:lnSpc>
                <a:spcPct val="120000"/>
              </a:lnSpc>
              <a:spcAft>
                <a:spcPts val="0"/>
              </a:spcAft>
            </a:pPr>
            <a:r>
              <a:rPr sz="1500" b="0">
                <a:solidFill>
                  <a:srgbClr val="586C71"/>
                </a:solidFill>
                <a:latin typeface="Aptos"/>
              </a:rPr>
              <a:t>• Jawaban menyertakan sumber rujukan</a:t>
            </a:r>
          </a:p>
        </p:txBody>
      </p:sp>
      <p:sp>
        <p:nvSpPr>
          <p:cNvPr id="16" name="TextBox 15"/>
          <p:cNvSpPr txBox="1"/>
          <p:nvPr/>
        </p:nvSpPr>
        <p:spPr>
          <a:xfrm>
            <a:off x="822960" y="5532120"/>
            <a:ext cx="10515600" cy="429768"/>
          </a:xfrm>
          <a:prstGeom prst="rect">
            <a:avLst/>
          </a:prstGeom>
          <a:noFill/>
        </p:spPr>
        <p:txBody>
          <a:bodyPr wrap="square" lIns="27432" rIns="27432" tIns="27432" bIns="27432" anchor="ctr">
            <a:spAutoFit/>
          </a:bodyPr>
          <a:lstStyle/>
          <a:p>
            <a:pPr algn="ctr">
              <a:lnSpc>
                <a:spcPct val="108000"/>
              </a:lnSpc>
              <a:spcAft>
                <a:spcPts val="0"/>
              </a:spcAft>
            </a:pPr>
            <a:r>
              <a:rPr sz="1380" b="1">
                <a:solidFill>
                  <a:srgbClr val="096752"/>
                </a:solidFill>
                <a:latin typeface="Aptos"/>
              </a:rPr>
              <a:t>Asisten membantu penggunaan aplikasi; data analitik tetap ditanya melalui Dashboard / Chat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38328"/>
            <a:ext cx="9601200" cy="256032"/>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096752"/>
                </a:solidFill>
                <a:latin typeface="Aptos"/>
              </a:rPr>
              <a:t>SKENARIO DEMONSTRASI</a:t>
            </a:r>
          </a:p>
        </p:txBody>
      </p:sp>
      <p:sp>
        <p:nvSpPr>
          <p:cNvPr id="4" name="TextBox 3"/>
          <p:cNvSpPr txBox="1"/>
          <p:nvPr/>
        </p:nvSpPr>
        <p:spPr>
          <a:xfrm>
            <a:off x="658368" y="713232"/>
            <a:ext cx="10835640" cy="621792"/>
          </a:xfrm>
          <a:prstGeom prst="rect">
            <a:avLst/>
          </a:prstGeom>
          <a:noFill/>
        </p:spPr>
        <p:txBody>
          <a:bodyPr wrap="square" lIns="27432" rIns="27432" tIns="27432" bIns="27432" anchor="ctr">
            <a:spAutoFit/>
          </a:bodyPr>
          <a:lstStyle/>
          <a:p>
            <a:pPr algn="l">
              <a:lnSpc>
                <a:spcPct val="108000"/>
              </a:lnSpc>
              <a:spcAft>
                <a:spcPts val="0"/>
              </a:spcAft>
            </a:pPr>
            <a:r>
              <a:rPr sz="2800" b="1">
                <a:solidFill>
                  <a:srgbClr val="1A2F37"/>
                </a:solidFill>
                <a:latin typeface="Aptos"/>
              </a:rPr>
              <a:t>Contoh cerita: laporan penjualan cabang</a:t>
            </a:r>
          </a:p>
        </p:txBody>
      </p:sp>
      <p:cxnSp>
        <p:nvCxnSpPr>
          <p:cNvPr id="5" name="Connector 4"/>
          <p:cNvCxnSpPr/>
          <p:nvPr/>
        </p:nvCxnSpPr>
        <p:spPr>
          <a:xfrm>
            <a:off x="676656" y="6492240"/>
            <a:ext cx="10799064" cy="0"/>
          </a:xfrm>
          <a:prstGeom prst="line">
            <a:avLst/>
          </a:prstGeom>
          <a:ln w="16510">
            <a:solidFill>
              <a:srgbClr val="DBE6E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76656" y="6537960"/>
            <a:ext cx="7132320" cy="164592"/>
          </a:xfrm>
          <a:prstGeom prst="rect">
            <a:avLst/>
          </a:prstGeom>
          <a:noFill/>
        </p:spPr>
        <p:txBody>
          <a:bodyPr wrap="square" lIns="27432" rIns="27432" tIns="27432" bIns="27432" anchor="ctr">
            <a:spAutoFit/>
          </a:bodyPr>
          <a:lstStyle/>
          <a:p>
            <a:pPr algn="l">
              <a:lnSpc>
                <a:spcPct val="108000"/>
              </a:lnSpc>
              <a:spcAft>
                <a:spcPts val="0"/>
              </a:spcAft>
            </a:pPr>
            <a:r>
              <a:rPr sz="850" b="0">
                <a:solidFill>
                  <a:srgbClr val="586C71"/>
                </a:solidFill>
                <a:latin typeface="Aptos"/>
              </a:rPr>
              <a:t>GOOGLE SHEET AI  ·  TINJAUAN APLIKASI</a:t>
            </a:r>
          </a:p>
        </p:txBody>
      </p:sp>
      <p:sp>
        <p:nvSpPr>
          <p:cNvPr id="7" name="TextBox 6"/>
          <p:cNvSpPr txBox="1"/>
          <p:nvPr/>
        </p:nvSpPr>
        <p:spPr>
          <a:xfrm>
            <a:off x="10972800" y="6519672"/>
            <a:ext cx="502920" cy="192024"/>
          </a:xfrm>
          <a:prstGeom prst="rect">
            <a:avLst/>
          </a:prstGeom>
          <a:noFill/>
        </p:spPr>
        <p:txBody>
          <a:bodyPr wrap="square" lIns="27432" rIns="27432" tIns="27432" bIns="27432" anchor="ctr">
            <a:spAutoFit/>
          </a:bodyPr>
          <a:lstStyle/>
          <a:p>
            <a:pPr algn="r">
              <a:lnSpc>
                <a:spcPct val="108000"/>
              </a:lnSpc>
              <a:spcAft>
                <a:spcPts val="0"/>
              </a:spcAft>
            </a:pPr>
            <a:r>
              <a:rPr sz="950" b="0">
                <a:solidFill>
                  <a:srgbClr val="586C71"/>
                </a:solidFill>
                <a:latin typeface="Aptos"/>
              </a:rPr>
              <a:t>13</a:t>
            </a:r>
          </a:p>
        </p:txBody>
      </p:sp>
      <p:sp>
        <p:nvSpPr>
          <p:cNvPr id="8" name="Rounded Rectangle 7"/>
          <p:cNvSpPr/>
          <p:nvPr/>
        </p:nvSpPr>
        <p:spPr>
          <a:xfrm>
            <a:off x="749808" y="2121408"/>
            <a:ext cx="2121408" cy="194767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527048" y="2304288"/>
            <a:ext cx="557784" cy="557784"/>
          </a:xfrm>
          <a:prstGeom prst="ellipse">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27631" y="2404872"/>
            <a:ext cx="347472" cy="320040"/>
          </a:xfrm>
          <a:prstGeom prst="rect">
            <a:avLst/>
          </a:prstGeom>
          <a:noFill/>
        </p:spPr>
        <p:txBody>
          <a:bodyPr wrap="square" lIns="27432" rIns="27432" tIns="27432" bIns="27432" anchor="ctr">
            <a:spAutoFit/>
          </a:bodyPr>
          <a:lstStyle/>
          <a:p>
            <a:pPr algn="ctr">
              <a:lnSpc>
                <a:spcPct val="108000"/>
              </a:lnSpc>
              <a:spcAft>
                <a:spcPts val="0"/>
              </a:spcAft>
            </a:pPr>
            <a:r>
              <a:rPr sz="1400" b="1">
                <a:solidFill>
                  <a:srgbClr val="096752"/>
                </a:solidFill>
                <a:latin typeface="Aptos"/>
              </a:rPr>
              <a:t>1</a:t>
            </a:r>
          </a:p>
        </p:txBody>
      </p:sp>
      <p:sp>
        <p:nvSpPr>
          <p:cNvPr id="11" name="TextBox 10"/>
          <p:cNvSpPr txBox="1"/>
          <p:nvPr/>
        </p:nvSpPr>
        <p:spPr>
          <a:xfrm>
            <a:off x="932688" y="2944368"/>
            <a:ext cx="1764792" cy="365760"/>
          </a:xfrm>
          <a:prstGeom prst="rect">
            <a:avLst/>
          </a:prstGeom>
          <a:noFill/>
        </p:spPr>
        <p:txBody>
          <a:bodyPr wrap="square" lIns="27432" rIns="27432" tIns="27432" bIns="27432" anchor="ctr">
            <a:spAutoFit/>
          </a:bodyPr>
          <a:lstStyle/>
          <a:p>
            <a:pPr algn="ctr">
              <a:lnSpc>
                <a:spcPct val="108000"/>
              </a:lnSpc>
              <a:spcAft>
                <a:spcPts val="0"/>
              </a:spcAft>
            </a:pPr>
            <a:r>
              <a:rPr sz="1600" b="1">
                <a:solidFill>
                  <a:srgbClr val="1A2F37"/>
                </a:solidFill>
                <a:latin typeface="Aptos"/>
              </a:rPr>
              <a:t>Sumber</a:t>
            </a:r>
          </a:p>
        </p:txBody>
      </p:sp>
      <p:sp>
        <p:nvSpPr>
          <p:cNvPr id="12" name="TextBox 11"/>
          <p:cNvSpPr txBox="1"/>
          <p:nvPr/>
        </p:nvSpPr>
        <p:spPr>
          <a:xfrm>
            <a:off x="905256" y="3429000"/>
            <a:ext cx="1828800" cy="521207"/>
          </a:xfrm>
          <a:prstGeom prst="rect">
            <a:avLst/>
          </a:prstGeom>
          <a:noFill/>
        </p:spPr>
        <p:txBody>
          <a:bodyPr wrap="square" lIns="27432" rIns="27432" tIns="27432" bIns="27432" anchor="ctr">
            <a:spAutoFit/>
          </a:bodyPr>
          <a:lstStyle/>
          <a:p>
            <a:pPr algn="ctr">
              <a:lnSpc>
                <a:spcPct val="108000"/>
              </a:lnSpc>
              <a:spcAft>
                <a:spcPts val="0"/>
              </a:spcAft>
            </a:pPr>
            <a:r>
              <a:rPr sz="1150" b="0">
                <a:solidFill>
                  <a:srgbClr val="586C71"/>
                </a:solidFill>
                <a:latin typeface="Aptos"/>
              </a:rPr>
              <a:t>Sheet penjualan</a:t>
            </a:r>
          </a:p>
          <a:p>
            <a:pPr algn="ctr">
              <a:lnSpc>
                <a:spcPct val="108000"/>
              </a:lnSpc>
              <a:spcAft>
                <a:spcPts val="0"/>
              </a:spcAft>
            </a:pPr>
            <a:r>
              <a:rPr sz="1150" b="0">
                <a:solidFill>
                  <a:srgbClr val="586C71"/>
                </a:solidFill>
                <a:latin typeface="Aptos"/>
              </a:rPr>
              <a:t>dibagikan &amp; didaftarkan</a:t>
            </a:r>
          </a:p>
        </p:txBody>
      </p:sp>
      <p:sp>
        <p:nvSpPr>
          <p:cNvPr id="13" name="Chevron 12"/>
          <p:cNvSpPr/>
          <p:nvPr/>
        </p:nvSpPr>
        <p:spPr>
          <a:xfrm>
            <a:off x="3063239" y="2935224"/>
            <a:ext cx="219456" cy="219456"/>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611880" y="2121408"/>
            <a:ext cx="2121408" cy="194767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89120" y="2304288"/>
            <a:ext cx="557784" cy="557784"/>
          </a:xfrm>
          <a:prstGeom prst="ellipse">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9704" y="2404872"/>
            <a:ext cx="347472" cy="320040"/>
          </a:xfrm>
          <a:prstGeom prst="rect">
            <a:avLst/>
          </a:prstGeom>
          <a:noFill/>
        </p:spPr>
        <p:txBody>
          <a:bodyPr wrap="square" lIns="27432" rIns="27432" tIns="27432" bIns="27432" anchor="ctr">
            <a:spAutoFit/>
          </a:bodyPr>
          <a:lstStyle/>
          <a:p>
            <a:pPr algn="ctr">
              <a:lnSpc>
                <a:spcPct val="108000"/>
              </a:lnSpc>
              <a:spcAft>
                <a:spcPts val="0"/>
              </a:spcAft>
            </a:pPr>
            <a:r>
              <a:rPr sz="1400" b="1">
                <a:solidFill>
                  <a:srgbClr val="096752"/>
                </a:solidFill>
                <a:latin typeface="Aptos"/>
              </a:rPr>
              <a:t>2</a:t>
            </a:r>
          </a:p>
        </p:txBody>
      </p:sp>
      <p:sp>
        <p:nvSpPr>
          <p:cNvPr id="17" name="TextBox 16"/>
          <p:cNvSpPr txBox="1"/>
          <p:nvPr/>
        </p:nvSpPr>
        <p:spPr>
          <a:xfrm>
            <a:off x="3794760" y="2944368"/>
            <a:ext cx="1764792" cy="365760"/>
          </a:xfrm>
          <a:prstGeom prst="rect">
            <a:avLst/>
          </a:prstGeom>
          <a:noFill/>
        </p:spPr>
        <p:txBody>
          <a:bodyPr wrap="square" lIns="27432" rIns="27432" tIns="27432" bIns="27432" anchor="ctr">
            <a:spAutoFit/>
          </a:bodyPr>
          <a:lstStyle/>
          <a:p>
            <a:pPr algn="ctr">
              <a:lnSpc>
                <a:spcPct val="108000"/>
              </a:lnSpc>
              <a:spcAft>
                <a:spcPts val="0"/>
              </a:spcAft>
            </a:pPr>
            <a:r>
              <a:rPr sz="1600" b="1">
                <a:solidFill>
                  <a:srgbClr val="1A2F37"/>
                </a:solidFill>
                <a:latin typeface="Aptos"/>
              </a:rPr>
              <a:t>Konteks</a:t>
            </a:r>
          </a:p>
        </p:txBody>
      </p:sp>
      <p:sp>
        <p:nvSpPr>
          <p:cNvPr id="18" name="TextBox 17"/>
          <p:cNvSpPr txBox="1"/>
          <p:nvPr/>
        </p:nvSpPr>
        <p:spPr>
          <a:xfrm>
            <a:off x="3767328" y="3429000"/>
            <a:ext cx="1828800" cy="521207"/>
          </a:xfrm>
          <a:prstGeom prst="rect">
            <a:avLst/>
          </a:prstGeom>
          <a:noFill/>
        </p:spPr>
        <p:txBody>
          <a:bodyPr wrap="square" lIns="27432" rIns="27432" tIns="27432" bIns="27432" anchor="ctr">
            <a:spAutoFit/>
          </a:bodyPr>
          <a:lstStyle/>
          <a:p>
            <a:pPr algn="ctr">
              <a:lnSpc>
                <a:spcPct val="108000"/>
              </a:lnSpc>
              <a:spcAft>
                <a:spcPts val="0"/>
              </a:spcAft>
            </a:pPr>
            <a:r>
              <a:rPr sz="1150" b="0">
                <a:solidFill>
                  <a:srgbClr val="586C71"/>
                </a:solidFill>
                <a:latin typeface="Aptos"/>
              </a:rPr>
              <a:t>Tab NON-MASTER</a:t>
            </a:r>
          </a:p>
          <a:p>
            <a:pPr algn="ctr">
              <a:lnSpc>
                <a:spcPct val="108000"/>
              </a:lnSpc>
              <a:spcAft>
                <a:spcPts val="0"/>
              </a:spcAft>
            </a:pPr>
            <a:r>
              <a:rPr sz="1150" b="0">
                <a:solidFill>
                  <a:srgbClr val="586C71"/>
                </a:solidFill>
                <a:latin typeface="Aptos"/>
              </a:rPr>
              <a:t>Cabang → master resmi</a:t>
            </a:r>
          </a:p>
        </p:txBody>
      </p:sp>
      <p:sp>
        <p:nvSpPr>
          <p:cNvPr id="19" name="Chevron 18"/>
          <p:cNvSpPr/>
          <p:nvPr/>
        </p:nvSpPr>
        <p:spPr>
          <a:xfrm>
            <a:off x="5925312" y="2935224"/>
            <a:ext cx="219456" cy="219456"/>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73952" y="2121408"/>
            <a:ext cx="2121408" cy="194767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251192" y="2304288"/>
            <a:ext cx="557784" cy="557784"/>
          </a:xfrm>
          <a:prstGeom prst="ellipse">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51775" y="2404872"/>
            <a:ext cx="347472" cy="320040"/>
          </a:xfrm>
          <a:prstGeom prst="rect">
            <a:avLst/>
          </a:prstGeom>
          <a:noFill/>
        </p:spPr>
        <p:txBody>
          <a:bodyPr wrap="square" lIns="27432" rIns="27432" tIns="27432" bIns="27432" anchor="ctr">
            <a:spAutoFit/>
          </a:bodyPr>
          <a:lstStyle/>
          <a:p>
            <a:pPr algn="ctr">
              <a:lnSpc>
                <a:spcPct val="108000"/>
              </a:lnSpc>
              <a:spcAft>
                <a:spcPts val="0"/>
              </a:spcAft>
            </a:pPr>
            <a:r>
              <a:rPr sz="1400" b="1">
                <a:solidFill>
                  <a:srgbClr val="096752"/>
                </a:solidFill>
                <a:latin typeface="Aptos"/>
              </a:rPr>
              <a:t>3</a:t>
            </a:r>
          </a:p>
        </p:txBody>
      </p:sp>
      <p:sp>
        <p:nvSpPr>
          <p:cNvPr id="23" name="TextBox 22"/>
          <p:cNvSpPr txBox="1"/>
          <p:nvPr/>
        </p:nvSpPr>
        <p:spPr>
          <a:xfrm>
            <a:off x="6656832" y="2944368"/>
            <a:ext cx="1764792" cy="365760"/>
          </a:xfrm>
          <a:prstGeom prst="rect">
            <a:avLst/>
          </a:prstGeom>
          <a:noFill/>
        </p:spPr>
        <p:txBody>
          <a:bodyPr wrap="square" lIns="27432" rIns="27432" tIns="27432" bIns="27432" anchor="ctr">
            <a:spAutoFit/>
          </a:bodyPr>
          <a:lstStyle/>
          <a:p>
            <a:pPr algn="ctr">
              <a:lnSpc>
                <a:spcPct val="108000"/>
              </a:lnSpc>
              <a:spcAft>
                <a:spcPts val="0"/>
              </a:spcAft>
            </a:pPr>
            <a:r>
              <a:rPr sz="1600" b="1">
                <a:solidFill>
                  <a:srgbClr val="1A2F37"/>
                </a:solidFill>
                <a:latin typeface="Aptos"/>
              </a:rPr>
              <a:t>Kontrol</a:t>
            </a:r>
          </a:p>
        </p:txBody>
      </p:sp>
      <p:sp>
        <p:nvSpPr>
          <p:cNvPr id="24" name="TextBox 23"/>
          <p:cNvSpPr txBox="1"/>
          <p:nvPr/>
        </p:nvSpPr>
        <p:spPr>
          <a:xfrm>
            <a:off x="6629400" y="3429000"/>
            <a:ext cx="1828800" cy="521207"/>
          </a:xfrm>
          <a:prstGeom prst="rect">
            <a:avLst/>
          </a:prstGeom>
          <a:noFill/>
        </p:spPr>
        <p:txBody>
          <a:bodyPr wrap="square" lIns="27432" rIns="27432" tIns="27432" bIns="27432" anchor="ctr">
            <a:spAutoFit/>
          </a:bodyPr>
          <a:lstStyle/>
          <a:p>
            <a:pPr algn="ctr">
              <a:lnSpc>
                <a:spcPct val="108000"/>
              </a:lnSpc>
              <a:spcAft>
                <a:spcPts val="0"/>
              </a:spcAft>
            </a:pPr>
            <a:r>
              <a:rPr sz="1150" b="0">
                <a:solidFill>
                  <a:srgbClr val="586C71"/>
                </a:solidFill>
                <a:latin typeface="Aptos"/>
              </a:rPr>
              <a:t>Validasi, preview</a:t>
            </a:r>
          </a:p>
          <a:p>
            <a:pPr algn="ctr">
              <a:lnSpc>
                <a:spcPct val="108000"/>
              </a:lnSpc>
              <a:spcAft>
                <a:spcPts val="0"/>
              </a:spcAft>
            </a:pPr>
            <a:r>
              <a:rPr sz="1150" b="0">
                <a:solidFill>
                  <a:srgbClr val="586C71"/>
                </a:solidFill>
                <a:latin typeface="Aptos"/>
              </a:rPr>
              <a:t>review, lalu apply</a:t>
            </a:r>
          </a:p>
        </p:txBody>
      </p:sp>
      <p:sp>
        <p:nvSpPr>
          <p:cNvPr id="25" name="Chevron 24"/>
          <p:cNvSpPr/>
          <p:nvPr/>
        </p:nvSpPr>
        <p:spPr>
          <a:xfrm>
            <a:off x="8787384" y="2935224"/>
            <a:ext cx="219456" cy="219456"/>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336024" y="2121408"/>
            <a:ext cx="2121408" cy="194767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113264" y="2304288"/>
            <a:ext cx="557784" cy="557784"/>
          </a:xfrm>
          <a:prstGeom prst="ellipse">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13848" y="2404872"/>
            <a:ext cx="347472" cy="320040"/>
          </a:xfrm>
          <a:prstGeom prst="rect">
            <a:avLst/>
          </a:prstGeom>
          <a:noFill/>
        </p:spPr>
        <p:txBody>
          <a:bodyPr wrap="square" lIns="27432" rIns="27432" tIns="27432" bIns="27432" anchor="ctr">
            <a:spAutoFit/>
          </a:bodyPr>
          <a:lstStyle/>
          <a:p>
            <a:pPr algn="ctr">
              <a:lnSpc>
                <a:spcPct val="108000"/>
              </a:lnSpc>
              <a:spcAft>
                <a:spcPts val="0"/>
              </a:spcAft>
            </a:pPr>
            <a:r>
              <a:rPr sz="1400" b="1">
                <a:solidFill>
                  <a:srgbClr val="096752"/>
                </a:solidFill>
                <a:latin typeface="Aptos"/>
              </a:rPr>
              <a:t>4</a:t>
            </a:r>
          </a:p>
        </p:txBody>
      </p:sp>
      <p:sp>
        <p:nvSpPr>
          <p:cNvPr id="29" name="TextBox 28"/>
          <p:cNvSpPr txBox="1"/>
          <p:nvPr/>
        </p:nvSpPr>
        <p:spPr>
          <a:xfrm>
            <a:off x="9518904" y="2944368"/>
            <a:ext cx="1764792" cy="365760"/>
          </a:xfrm>
          <a:prstGeom prst="rect">
            <a:avLst/>
          </a:prstGeom>
          <a:noFill/>
        </p:spPr>
        <p:txBody>
          <a:bodyPr wrap="square" lIns="27432" rIns="27432" tIns="27432" bIns="27432" anchor="ctr">
            <a:spAutoFit/>
          </a:bodyPr>
          <a:lstStyle/>
          <a:p>
            <a:pPr algn="ctr">
              <a:lnSpc>
                <a:spcPct val="108000"/>
              </a:lnSpc>
              <a:spcAft>
                <a:spcPts val="0"/>
              </a:spcAft>
            </a:pPr>
            <a:r>
              <a:rPr sz="1600" b="1">
                <a:solidFill>
                  <a:srgbClr val="1A2F37"/>
                </a:solidFill>
                <a:latin typeface="Aptos"/>
              </a:rPr>
              <a:t>Insight</a:t>
            </a:r>
          </a:p>
        </p:txBody>
      </p:sp>
      <p:sp>
        <p:nvSpPr>
          <p:cNvPr id="30" name="TextBox 29"/>
          <p:cNvSpPr txBox="1"/>
          <p:nvPr/>
        </p:nvSpPr>
        <p:spPr>
          <a:xfrm>
            <a:off x="9491472" y="3429000"/>
            <a:ext cx="1828800" cy="521207"/>
          </a:xfrm>
          <a:prstGeom prst="rect">
            <a:avLst/>
          </a:prstGeom>
          <a:noFill/>
        </p:spPr>
        <p:txBody>
          <a:bodyPr wrap="square" lIns="27432" rIns="27432" tIns="27432" bIns="27432" anchor="ctr">
            <a:spAutoFit/>
          </a:bodyPr>
          <a:lstStyle/>
          <a:p>
            <a:pPr algn="ctr">
              <a:lnSpc>
                <a:spcPct val="108000"/>
              </a:lnSpc>
              <a:spcAft>
                <a:spcPts val="0"/>
              </a:spcAft>
            </a:pPr>
            <a:r>
              <a:rPr sz="1150" b="0">
                <a:solidFill>
                  <a:srgbClr val="586C71"/>
                </a:solidFill>
                <a:latin typeface="Aptos"/>
              </a:rPr>
              <a:t>Total per cabang</a:t>
            </a:r>
          </a:p>
          <a:p>
            <a:pPr algn="ctr">
              <a:lnSpc>
                <a:spcPct val="108000"/>
              </a:lnSpc>
              <a:spcAft>
                <a:spcPts val="0"/>
              </a:spcAft>
            </a:pPr>
            <a:r>
              <a:rPr sz="1150" b="0">
                <a:solidFill>
                  <a:srgbClr val="586C71"/>
                </a:solidFill>
                <a:latin typeface="Aptos"/>
              </a:rPr>
              <a:t>chart bar / line</a:t>
            </a:r>
          </a:p>
        </p:txBody>
      </p:sp>
      <p:sp>
        <p:nvSpPr>
          <p:cNvPr id="31" name="Rounded Rectangle 30"/>
          <p:cNvSpPr/>
          <p:nvPr/>
        </p:nvSpPr>
        <p:spPr>
          <a:xfrm>
            <a:off x="1051560" y="4828032"/>
            <a:ext cx="10076688" cy="768096"/>
          </a:xfrm>
          <a:prstGeom prst="roundRect">
            <a:avLst>
              <a:gd name="adj" fmla="val 18000"/>
            </a:avLst>
          </a:prstGeom>
          <a:solidFill>
            <a:srgbClr val="0C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61872" y="4946904"/>
            <a:ext cx="9646920" cy="539496"/>
          </a:xfrm>
          <a:prstGeom prst="rect">
            <a:avLst/>
          </a:prstGeom>
          <a:noFill/>
        </p:spPr>
        <p:txBody>
          <a:bodyPr wrap="square" lIns="27432" rIns="27432" tIns="27432" bIns="27432" anchor="ctr">
            <a:spAutoFit/>
          </a:bodyPr>
          <a:lstStyle/>
          <a:p>
            <a:pPr algn="ctr">
              <a:lnSpc>
                <a:spcPct val="108000"/>
              </a:lnSpc>
              <a:spcAft>
                <a:spcPts val="0"/>
              </a:spcAft>
            </a:pPr>
            <a:r>
              <a:rPr sz="1600" b="1">
                <a:solidFill>
                  <a:srgbClr val="FFFFFF"/>
                </a:solidFill>
                <a:latin typeface="Aptos"/>
              </a:rPr>
              <a:t>Nilai tambah: hasil dapat ditelusuri ke sumber, aturan, waktu, dan persetujuan yang digunakan.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38328"/>
            <a:ext cx="9601200" cy="256032"/>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096752"/>
                </a:solidFill>
                <a:latin typeface="Aptos"/>
              </a:rPr>
              <a:t>KESIAPAN PENERAPAN</a:t>
            </a:r>
          </a:p>
        </p:txBody>
      </p:sp>
      <p:sp>
        <p:nvSpPr>
          <p:cNvPr id="4" name="TextBox 3"/>
          <p:cNvSpPr txBox="1"/>
          <p:nvPr/>
        </p:nvSpPr>
        <p:spPr>
          <a:xfrm>
            <a:off x="658368" y="713232"/>
            <a:ext cx="10835640" cy="621792"/>
          </a:xfrm>
          <a:prstGeom prst="rect">
            <a:avLst/>
          </a:prstGeom>
          <a:noFill/>
        </p:spPr>
        <p:txBody>
          <a:bodyPr wrap="square" lIns="27432" rIns="27432" tIns="27432" bIns="27432" anchor="ctr">
            <a:spAutoFit/>
          </a:bodyPr>
          <a:lstStyle/>
          <a:p>
            <a:pPr algn="l">
              <a:lnSpc>
                <a:spcPct val="108000"/>
              </a:lnSpc>
              <a:spcAft>
                <a:spcPts val="0"/>
              </a:spcAft>
            </a:pPr>
            <a:r>
              <a:rPr sz="2800" b="1">
                <a:solidFill>
                  <a:srgbClr val="1A2F37"/>
                </a:solidFill>
                <a:latin typeface="Aptos"/>
              </a:rPr>
              <a:t>Status dan batas yang perlu disampaikan</a:t>
            </a:r>
          </a:p>
        </p:txBody>
      </p:sp>
      <p:cxnSp>
        <p:nvCxnSpPr>
          <p:cNvPr id="5" name="Connector 4"/>
          <p:cNvCxnSpPr/>
          <p:nvPr/>
        </p:nvCxnSpPr>
        <p:spPr>
          <a:xfrm>
            <a:off x="676656" y="6492240"/>
            <a:ext cx="10799064" cy="0"/>
          </a:xfrm>
          <a:prstGeom prst="line">
            <a:avLst/>
          </a:prstGeom>
          <a:ln w="16510">
            <a:solidFill>
              <a:srgbClr val="DBE6E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76656" y="6537960"/>
            <a:ext cx="7132320" cy="164592"/>
          </a:xfrm>
          <a:prstGeom prst="rect">
            <a:avLst/>
          </a:prstGeom>
          <a:noFill/>
        </p:spPr>
        <p:txBody>
          <a:bodyPr wrap="square" lIns="27432" rIns="27432" tIns="27432" bIns="27432" anchor="ctr">
            <a:spAutoFit/>
          </a:bodyPr>
          <a:lstStyle/>
          <a:p>
            <a:pPr algn="l">
              <a:lnSpc>
                <a:spcPct val="108000"/>
              </a:lnSpc>
              <a:spcAft>
                <a:spcPts val="0"/>
              </a:spcAft>
            </a:pPr>
            <a:r>
              <a:rPr sz="850" b="0">
                <a:solidFill>
                  <a:srgbClr val="586C71"/>
                </a:solidFill>
                <a:latin typeface="Aptos"/>
              </a:rPr>
              <a:t>GOOGLE SHEET AI  ·  TINJAUAN APLIKASI</a:t>
            </a:r>
          </a:p>
        </p:txBody>
      </p:sp>
      <p:sp>
        <p:nvSpPr>
          <p:cNvPr id="7" name="TextBox 6"/>
          <p:cNvSpPr txBox="1"/>
          <p:nvPr/>
        </p:nvSpPr>
        <p:spPr>
          <a:xfrm>
            <a:off x="10972800" y="6519672"/>
            <a:ext cx="502920" cy="192024"/>
          </a:xfrm>
          <a:prstGeom prst="rect">
            <a:avLst/>
          </a:prstGeom>
          <a:noFill/>
        </p:spPr>
        <p:txBody>
          <a:bodyPr wrap="square" lIns="27432" rIns="27432" tIns="27432" bIns="27432" anchor="ctr">
            <a:spAutoFit/>
          </a:bodyPr>
          <a:lstStyle/>
          <a:p>
            <a:pPr algn="r">
              <a:lnSpc>
                <a:spcPct val="108000"/>
              </a:lnSpc>
              <a:spcAft>
                <a:spcPts val="0"/>
              </a:spcAft>
            </a:pPr>
            <a:r>
              <a:rPr sz="950" b="0">
                <a:solidFill>
                  <a:srgbClr val="586C71"/>
                </a:solidFill>
                <a:latin typeface="Aptos"/>
              </a:rPr>
              <a:t>14</a:t>
            </a:r>
          </a:p>
        </p:txBody>
      </p:sp>
      <p:sp>
        <p:nvSpPr>
          <p:cNvPr id="8" name="Rounded Rectangle 7"/>
          <p:cNvSpPr/>
          <p:nvPr/>
        </p:nvSpPr>
        <p:spPr>
          <a:xfrm>
            <a:off x="758952" y="1856231"/>
            <a:ext cx="5166360" cy="3383280"/>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58952" y="2057400"/>
            <a:ext cx="54864" cy="2980944"/>
          </a:xfrm>
          <a:prstGeom prst="roundRect">
            <a:avLst>
              <a:gd name="adj" fmla="val 18000"/>
            </a:avLst>
          </a:prstGeom>
          <a:solidFill>
            <a:srgbClr val="09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7" y="2039112"/>
            <a:ext cx="4745736" cy="475488"/>
          </a:xfrm>
          <a:prstGeom prst="rect">
            <a:avLst/>
          </a:prstGeom>
          <a:noFill/>
        </p:spPr>
        <p:txBody>
          <a:bodyPr wrap="square" lIns="27432" rIns="27432" tIns="27432" bIns="27432" anchor="ctr">
            <a:spAutoFit/>
          </a:bodyPr>
          <a:lstStyle/>
          <a:p>
            <a:pPr algn="l">
              <a:lnSpc>
                <a:spcPct val="108000"/>
              </a:lnSpc>
              <a:spcAft>
                <a:spcPts val="0"/>
              </a:spcAft>
            </a:pPr>
            <a:r>
              <a:rPr sz="2000" b="1">
                <a:solidFill>
                  <a:srgbClr val="1A2F37"/>
                </a:solidFill>
                <a:latin typeface="Aptos"/>
              </a:rPr>
              <a:t>Tersedia di aplikasi</a:t>
            </a:r>
          </a:p>
        </p:txBody>
      </p:sp>
      <p:sp>
        <p:nvSpPr>
          <p:cNvPr id="11" name="TextBox 10"/>
          <p:cNvSpPr txBox="1"/>
          <p:nvPr/>
        </p:nvSpPr>
        <p:spPr>
          <a:xfrm>
            <a:off x="978407" y="2569463"/>
            <a:ext cx="4727448" cy="2487168"/>
          </a:xfrm>
          <a:prstGeom prst="rect">
            <a:avLst/>
          </a:prstGeom>
          <a:noFill/>
        </p:spPr>
        <p:txBody>
          <a:bodyPr wrap="square" lIns="27432" rIns="27432" tIns="27432" bIns="27432" anchor="t">
            <a:spAutoFit/>
          </a:bodyPr>
          <a:lstStyle/>
          <a:p>
            <a:pPr algn="l">
              <a:lnSpc>
                <a:spcPct val="120000"/>
              </a:lnSpc>
              <a:spcAft>
                <a:spcPts val="0"/>
              </a:spcAft>
            </a:pPr>
            <a:r>
              <a:rPr sz="1400" b="0">
                <a:solidFill>
                  <a:srgbClr val="586C71"/>
                </a:solidFill>
                <a:latin typeface="Aptos"/>
              </a:rPr>
              <a:t>• Workflow sumber, master, taxonomy, ETL, import, dan dashboard</a:t>
            </a:r>
          </a:p>
          <a:p>
            <a:pPr algn="l">
              <a:lnSpc>
                <a:spcPct val="120000"/>
              </a:lnSpc>
              <a:spcAft>
                <a:spcPts val="0"/>
              </a:spcAft>
            </a:pPr>
            <a:r>
              <a:rPr sz="1400" b="0">
                <a:solidFill>
                  <a:srgbClr val="586C71"/>
                </a:solidFill>
                <a:latin typeface="Aptos"/>
              </a:rPr>
              <a:t>• Login, role, policy akses sumber, audit, dan AI helper</a:t>
            </a:r>
          </a:p>
          <a:p>
            <a:pPr algn="l">
              <a:lnSpc>
                <a:spcPct val="120000"/>
              </a:lnSpc>
              <a:spcAft>
                <a:spcPts val="0"/>
              </a:spcAft>
            </a:pPr>
            <a:r>
              <a:rPr sz="1400" b="0">
                <a:solidFill>
                  <a:srgbClr val="586C71"/>
                </a:solidFill>
                <a:latin typeface="Aptos"/>
              </a:rPr>
              <a:t>• Dokumentasi API, panduan pengguna, dan pengujian otomatis</a:t>
            </a:r>
          </a:p>
        </p:txBody>
      </p:sp>
      <p:sp>
        <p:nvSpPr>
          <p:cNvPr id="12" name="Rounded Rectangle 11"/>
          <p:cNvSpPr/>
          <p:nvPr/>
        </p:nvSpPr>
        <p:spPr>
          <a:xfrm>
            <a:off x="6263640" y="1856231"/>
            <a:ext cx="5166360" cy="3383280"/>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2057400"/>
            <a:ext cx="54864" cy="2980944"/>
          </a:xfrm>
          <a:prstGeom prst="roundRect">
            <a:avLst>
              <a:gd name="adj" fmla="val 18000"/>
            </a:avLst>
          </a:prstGeom>
          <a:solidFill>
            <a:srgbClr val="CF8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2039112"/>
            <a:ext cx="4745736" cy="475488"/>
          </a:xfrm>
          <a:prstGeom prst="rect">
            <a:avLst/>
          </a:prstGeom>
          <a:noFill/>
        </p:spPr>
        <p:txBody>
          <a:bodyPr wrap="square" lIns="27432" rIns="27432" tIns="27432" bIns="27432" anchor="ctr">
            <a:spAutoFit/>
          </a:bodyPr>
          <a:lstStyle/>
          <a:p>
            <a:pPr algn="l">
              <a:lnSpc>
                <a:spcPct val="108000"/>
              </a:lnSpc>
              <a:spcAft>
                <a:spcPts val="0"/>
              </a:spcAft>
            </a:pPr>
            <a:r>
              <a:rPr sz="2000" b="1">
                <a:solidFill>
                  <a:srgbClr val="1A2F37"/>
                </a:solidFill>
                <a:latin typeface="Aptos"/>
              </a:rPr>
              <a:t>Perlu verifikasi saat rollout</a:t>
            </a:r>
          </a:p>
        </p:txBody>
      </p:sp>
      <p:sp>
        <p:nvSpPr>
          <p:cNvPr id="15" name="TextBox 14"/>
          <p:cNvSpPr txBox="1"/>
          <p:nvPr/>
        </p:nvSpPr>
        <p:spPr>
          <a:xfrm>
            <a:off x="6483096" y="2569463"/>
            <a:ext cx="4727448" cy="2487168"/>
          </a:xfrm>
          <a:prstGeom prst="rect">
            <a:avLst/>
          </a:prstGeom>
          <a:noFill/>
        </p:spPr>
        <p:txBody>
          <a:bodyPr wrap="square" lIns="27432" rIns="27432" tIns="27432" bIns="27432" anchor="t">
            <a:spAutoFit/>
          </a:bodyPr>
          <a:lstStyle/>
          <a:p>
            <a:pPr algn="l">
              <a:lnSpc>
                <a:spcPct val="120000"/>
              </a:lnSpc>
              <a:spcAft>
                <a:spcPts val="0"/>
              </a:spcAft>
            </a:pPr>
            <a:r>
              <a:rPr sz="1400" b="0">
                <a:solidFill>
                  <a:srgbClr val="586C71"/>
                </a:solidFill>
                <a:latin typeface="Aptos"/>
              </a:rPr>
              <a:t>• Kredensial dan kuota Google / OpenAI pada lingkungan tujuan</a:t>
            </a:r>
          </a:p>
          <a:p>
            <a:pPr algn="l">
              <a:lnSpc>
                <a:spcPct val="120000"/>
              </a:lnSpc>
              <a:spcAft>
                <a:spcPts val="0"/>
              </a:spcAft>
            </a:pPr>
            <a:r>
              <a:rPr sz="1400" b="0">
                <a:solidFill>
                  <a:srgbClr val="586C71"/>
                </a:solidFill>
                <a:latin typeface="Aptos"/>
              </a:rPr>
              <a:t>• Review policy untuk sumber lama dan kontrol akses menyeluruh</a:t>
            </a:r>
          </a:p>
          <a:p>
            <a:pPr algn="l">
              <a:lnSpc>
                <a:spcPct val="120000"/>
              </a:lnSpc>
              <a:spcAft>
                <a:spcPts val="0"/>
              </a:spcAft>
            </a:pPr>
            <a:r>
              <a:rPr sz="1400" b="0">
                <a:solidFill>
                  <a:srgbClr val="586C71"/>
                </a:solidFill>
                <a:latin typeface="Aptos"/>
              </a:rPr>
              <a:t>• Uji end-to-end data nyata, performa, backup, dan keamanan produksi</a:t>
            </a:r>
          </a:p>
        </p:txBody>
      </p:sp>
      <p:sp>
        <p:nvSpPr>
          <p:cNvPr id="16" name="TextBox 15"/>
          <p:cNvSpPr txBox="1"/>
          <p:nvPr/>
        </p:nvSpPr>
        <p:spPr>
          <a:xfrm>
            <a:off x="1078992" y="5532120"/>
            <a:ext cx="10058400" cy="484632"/>
          </a:xfrm>
          <a:prstGeom prst="rect">
            <a:avLst/>
          </a:prstGeom>
          <a:noFill/>
        </p:spPr>
        <p:txBody>
          <a:bodyPr wrap="square" lIns="27432" rIns="27432" tIns="27432" bIns="27432" anchor="ctr">
            <a:spAutoFit/>
          </a:bodyPr>
          <a:lstStyle/>
          <a:p>
            <a:pPr algn="ctr">
              <a:lnSpc>
                <a:spcPct val="108000"/>
              </a:lnSpc>
              <a:spcAft>
                <a:spcPts val="0"/>
              </a:spcAft>
            </a:pPr>
            <a:r>
              <a:rPr sz="1400" b="1">
                <a:solidFill>
                  <a:srgbClr val="A54446"/>
                </a:solidFill>
                <a:latin typeface="Aptos"/>
              </a:rPr>
              <a:t>Keberhasilan build dan test lokal bukan pengganti uji integrasi serta penerimaan data di production.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38328"/>
            <a:ext cx="9601200" cy="256032"/>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096752"/>
                </a:solidFill>
                <a:latin typeface="Aptos"/>
              </a:rPr>
              <a:t>CONTOH FORM · 1/4</a:t>
            </a:r>
          </a:p>
        </p:txBody>
      </p:sp>
      <p:sp>
        <p:nvSpPr>
          <p:cNvPr id="4" name="TextBox 3"/>
          <p:cNvSpPr txBox="1"/>
          <p:nvPr/>
        </p:nvSpPr>
        <p:spPr>
          <a:xfrm>
            <a:off x="658368" y="713232"/>
            <a:ext cx="10835640" cy="621792"/>
          </a:xfrm>
          <a:prstGeom prst="rect">
            <a:avLst/>
          </a:prstGeom>
          <a:noFill/>
        </p:spPr>
        <p:txBody>
          <a:bodyPr wrap="square" lIns="27432" rIns="27432" tIns="27432" bIns="27432" anchor="ctr">
            <a:spAutoFit/>
          </a:bodyPr>
          <a:lstStyle/>
          <a:p>
            <a:pPr algn="l">
              <a:lnSpc>
                <a:spcPct val="108000"/>
              </a:lnSpc>
              <a:spcAft>
                <a:spcPts val="0"/>
              </a:spcAft>
            </a:pPr>
            <a:r>
              <a:rPr sz="2800" b="1">
                <a:solidFill>
                  <a:srgbClr val="1A2F37"/>
                </a:solidFill>
                <a:latin typeface="Aptos"/>
              </a:rPr>
              <a:t>Contoh isian: taxonomy Jenis Biaya</a:t>
            </a:r>
          </a:p>
        </p:txBody>
      </p:sp>
      <p:sp>
        <p:nvSpPr>
          <p:cNvPr id="5" name="TextBox 4"/>
          <p:cNvSpPr txBox="1"/>
          <p:nvPr/>
        </p:nvSpPr>
        <p:spPr>
          <a:xfrm>
            <a:off x="685800" y="1362456"/>
            <a:ext cx="10744200" cy="438912"/>
          </a:xfrm>
          <a:prstGeom prst="rect">
            <a:avLst/>
          </a:prstGeom>
          <a:noFill/>
        </p:spPr>
        <p:txBody>
          <a:bodyPr wrap="square" lIns="27432" rIns="27432" tIns="27432" bIns="27432" anchor="ctr">
            <a:spAutoFit/>
          </a:bodyPr>
          <a:lstStyle/>
          <a:p>
            <a:pPr algn="l">
              <a:lnSpc>
                <a:spcPct val="108000"/>
              </a:lnSpc>
              <a:spcAft>
                <a:spcPts val="0"/>
              </a:spcAft>
            </a:pPr>
            <a:r>
              <a:rPr sz="1300" b="0">
                <a:solidFill>
                  <a:srgbClr val="586C71"/>
                </a:solidFill>
                <a:latin typeface="Aptos"/>
              </a:rPr>
              <a:t>Contoh fiktif; kode dan label disesuaikan dengan istilah resmi organisasi.</a:t>
            </a:r>
          </a:p>
        </p:txBody>
      </p:sp>
      <p:cxnSp>
        <p:nvCxnSpPr>
          <p:cNvPr id="6" name="Connector 5"/>
          <p:cNvCxnSpPr/>
          <p:nvPr/>
        </p:nvCxnSpPr>
        <p:spPr>
          <a:xfrm>
            <a:off x="676656" y="6492240"/>
            <a:ext cx="10799064" cy="0"/>
          </a:xfrm>
          <a:prstGeom prst="line">
            <a:avLst/>
          </a:prstGeom>
          <a:ln w="16510">
            <a:solidFill>
              <a:srgbClr val="DBE6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 y="6537960"/>
            <a:ext cx="7132320" cy="164592"/>
          </a:xfrm>
          <a:prstGeom prst="rect">
            <a:avLst/>
          </a:prstGeom>
          <a:noFill/>
        </p:spPr>
        <p:txBody>
          <a:bodyPr wrap="square" lIns="27432" rIns="27432" tIns="27432" bIns="27432" anchor="ctr">
            <a:spAutoFit/>
          </a:bodyPr>
          <a:lstStyle/>
          <a:p>
            <a:pPr algn="l">
              <a:lnSpc>
                <a:spcPct val="108000"/>
              </a:lnSpc>
              <a:spcAft>
                <a:spcPts val="0"/>
              </a:spcAft>
            </a:pPr>
            <a:r>
              <a:rPr sz="850" b="0">
                <a:solidFill>
                  <a:srgbClr val="586C71"/>
                </a:solidFill>
                <a:latin typeface="Aptos"/>
              </a:rPr>
              <a:t>GOOGLE SHEET AI  ·  TINJAUAN APLIKASI</a:t>
            </a:r>
          </a:p>
        </p:txBody>
      </p:sp>
      <p:sp>
        <p:nvSpPr>
          <p:cNvPr id="8" name="TextBox 7"/>
          <p:cNvSpPr txBox="1"/>
          <p:nvPr/>
        </p:nvSpPr>
        <p:spPr>
          <a:xfrm>
            <a:off x="10972800" y="6519672"/>
            <a:ext cx="502920" cy="192024"/>
          </a:xfrm>
          <a:prstGeom prst="rect">
            <a:avLst/>
          </a:prstGeom>
          <a:noFill/>
        </p:spPr>
        <p:txBody>
          <a:bodyPr wrap="square" lIns="27432" rIns="27432" tIns="27432" bIns="27432" anchor="ctr">
            <a:spAutoFit/>
          </a:bodyPr>
          <a:lstStyle/>
          <a:p>
            <a:pPr algn="r">
              <a:lnSpc>
                <a:spcPct val="108000"/>
              </a:lnSpc>
              <a:spcAft>
                <a:spcPts val="0"/>
              </a:spcAft>
            </a:pPr>
            <a:r>
              <a:rPr sz="950" b="0">
                <a:solidFill>
                  <a:srgbClr val="586C71"/>
                </a:solidFill>
                <a:latin typeface="Aptos"/>
              </a:rPr>
              <a:t>15</a:t>
            </a:r>
          </a:p>
        </p:txBody>
      </p:sp>
      <p:sp>
        <p:nvSpPr>
          <p:cNvPr id="9" name="Rounded Rectangle 8"/>
          <p:cNvSpPr/>
          <p:nvPr/>
        </p:nvSpPr>
        <p:spPr>
          <a:xfrm>
            <a:off x="749808" y="1920240"/>
            <a:ext cx="3182112" cy="2340864"/>
          </a:xfrm>
          <a:prstGeom prst="roundRect">
            <a:avLst>
              <a:gd name="adj" fmla="val 18000"/>
            </a:avLst>
          </a:prstGeom>
          <a:solidFill>
            <a:srgbClr val="0C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157984"/>
            <a:ext cx="2670048" cy="320040"/>
          </a:xfrm>
          <a:prstGeom prst="rect">
            <a:avLst/>
          </a:prstGeom>
          <a:noFill/>
        </p:spPr>
        <p:txBody>
          <a:bodyPr wrap="square" lIns="27432" rIns="27432" tIns="27432" bIns="27432" anchor="ctr">
            <a:spAutoFit/>
          </a:bodyPr>
          <a:lstStyle/>
          <a:p>
            <a:pPr algn="l">
              <a:lnSpc>
                <a:spcPct val="108000"/>
              </a:lnSpc>
              <a:spcAft>
                <a:spcPts val="0"/>
              </a:spcAft>
            </a:pPr>
            <a:r>
              <a:rPr sz="1100" b="1">
                <a:solidFill>
                  <a:srgbClr val="CCEEE2"/>
                </a:solidFill>
                <a:latin typeface="Aptos"/>
              </a:rPr>
              <a:t>BUAT TAXONOMY</a:t>
            </a:r>
          </a:p>
        </p:txBody>
      </p:sp>
      <p:sp>
        <p:nvSpPr>
          <p:cNvPr id="11" name="TextBox 10"/>
          <p:cNvSpPr txBox="1"/>
          <p:nvPr/>
        </p:nvSpPr>
        <p:spPr>
          <a:xfrm>
            <a:off x="969264" y="2715768"/>
            <a:ext cx="2615184" cy="685800"/>
          </a:xfrm>
          <a:prstGeom prst="rect">
            <a:avLst/>
          </a:prstGeom>
          <a:noFill/>
        </p:spPr>
        <p:txBody>
          <a:bodyPr wrap="square" lIns="27432" rIns="27432" tIns="27432" bIns="27432" anchor="ctr">
            <a:spAutoFit/>
          </a:bodyPr>
          <a:lstStyle/>
          <a:p>
            <a:pPr algn="l">
              <a:lnSpc>
                <a:spcPct val="108000"/>
              </a:lnSpc>
              <a:spcAft>
                <a:spcPts val="0"/>
              </a:spcAft>
            </a:pPr>
            <a:r>
              <a:rPr sz="1700" b="1">
                <a:solidFill>
                  <a:srgbClr val="FFFFFF"/>
                </a:solidFill>
                <a:latin typeface="Aptos"/>
              </a:rPr>
              <a:t>Kode</a:t>
            </a:r>
          </a:p>
          <a:p>
            <a:pPr algn="l">
              <a:lnSpc>
                <a:spcPct val="108000"/>
              </a:lnSpc>
              <a:spcAft>
                <a:spcPts val="0"/>
              </a:spcAft>
            </a:pPr>
            <a:r>
              <a:rPr sz="1700" b="1">
                <a:solidFill>
                  <a:srgbClr val="FFFFFF"/>
                </a:solidFill>
                <a:latin typeface="Aptos"/>
              </a:rPr>
              <a:t>jenis_biaya</a:t>
            </a:r>
          </a:p>
        </p:txBody>
      </p:sp>
      <p:sp>
        <p:nvSpPr>
          <p:cNvPr id="12" name="TextBox 11"/>
          <p:cNvSpPr txBox="1"/>
          <p:nvPr/>
        </p:nvSpPr>
        <p:spPr>
          <a:xfrm>
            <a:off x="969264" y="3557016"/>
            <a:ext cx="2615184" cy="566928"/>
          </a:xfrm>
          <a:prstGeom prst="rect">
            <a:avLst/>
          </a:prstGeom>
          <a:noFill/>
        </p:spPr>
        <p:txBody>
          <a:bodyPr wrap="square" lIns="27432" rIns="27432" tIns="27432" bIns="27432" anchor="ctr">
            <a:spAutoFit/>
          </a:bodyPr>
          <a:lstStyle/>
          <a:p>
            <a:pPr algn="l">
              <a:lnSpc>
                <a:spcPct val="108000"/>
              </a:lnSpc>
              <a:spcAft>
                <a:spcPts val="0"/>
              </a:spcAft>
            </a:pPr>
            <a:r>
              <a:rPr sz="1600" b="1">
                <a:solidFill>
                  <a:srgbClr val="FFFFFF"/>
                </a:solidFill>
                <a:latin typeface="Aptos"/>
              </a:rPr>
              <a:t>Nama</a:t>
            </a:r>
          </a:p>
          <a:p>
            <a:pPr algn="l">
              <a:lnSpc>
                <a:spcPct val="108000"/>
              </a:lnSpc>
              <a:spcAft>
                <a:spcPts val="0"/>
              </a:spcAft>
            </a:pPr>
            <a:r>
              <a:rPr sz="1600" b="1">
                <a:solidFill>
                  <a:srgbClr val="FFFFFF"/>
                </a:solidFill>
                <a:latin typeface="Aptos"/>
              </a:rPr>
              <a:t>Jenis Biaya</a:t>
            </a:r>
          </a:p>
        </p:txBody>
      </p:sp>
      <p:sp>
        <p:nvSpPr>
          <p:cNvPr id="13" name="Chevron 12"/>
          <p:cNvSpPr/>
          <p:nvPr/>
        </p:nvSpPr>
        <p:spPr>
          <a:xfrm>
            <a:off x="4187952" y="2898648"/>
            <a:ext cx="283464" cy="283464"/>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690872" y="1883664"/>
            <a:ext cx="3200400" cy="235915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690872" y="2084832"/>
            <a:ext cx="54864" cy="1956816"/>
          </a:xfrm>
          <a:prstGeom prst="roundRect">
            <a:avLst>
              <a:gd name="adj" fmla="val 18000"/>
            </a:avLst>
          </a:prstGeom>
          <a:solidFill>
            <a:srgbClr val="09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10328" y="2066544"/>
            <a:ext cx="2779776" cy="475488"/>
          </a:xfrm>
          <a:prstGeom prst="rect">
            <a:avLst/>
          </a:prstGeom>
          <a:noFill/>
        </p:spPr>
        <p:txBody>
          <a:bodyPr wrap="square" lIns="27432" rIns="27432" tIns="27432" bIns="27432" anchor="ctr">
            <a:spAutoFit/>
          </a:bodyPr>
          <a:lstStyle/>
          <a:p>
            <a:pPr algn="l">
              <a:lnSpc>
                <a:spcPct val="108000"/>
              </a:lnSpc>
              <a:spcAft>
                <a:spcPts val="0"/>
              </a:spcAft>
            </a:pPr>
            <a:r>
              <a:rPr sz="1700" b="1">
                <a:solidFill>
                  <a:srgbClr val="1A2F37"/>
                </a:solidFill>
                <a:latin typeface="Aptos"/>
              </a:rPr>
              <a:t>Term 1 · operasional</a:t>
            </a:r>
          </a:p>
        </p:txBody>
      </p:sp>
      <p:sp>
        <p:nvSpPr>
          <p:cNvPr id="17" name="TextBox 16"/>
          <p:cNvSpPr txBox="1"/>
          <p:nvPr/>
        </p:nvSpPr>
        <p:spPr>
          <a:xfrm>
            <a:off x="4910328" y="2596896"/>
            <a:ext cx="2761488" cy="1463040"/>
          </a:xfrm>
          <a:prstGeom prst="rect">
            <a:avLst/>
          </a:prstGeom>
          <a:noFill/>
        </p:spPr>
        <p:txBody>
          <a:bodyPr wrap="square" lIns="27432" rIns="27432" tIns="27432" bIns="27432" anchor="t">
            <a:spAutoFit/>
          </a:bodyPr>
          <a:lstStyle/>
          <a:p>
            <a:pPr algn="l">
              <a:lnSpc>
                <a:spcPct val="120000"/>
              </a:lnSpc>
              <a:spcAft>
                <a:spcPts val="0"/>
              </a:spcAft>
            </a:pPr>
            <a:r>
              <a:rPr sz="1400" b="0">
                <a:solidFill>
                  <a:srgbClr val="586C71"/>
                </a:solidFill>
                <a:latin typeface="Aptos"/>
              </a:rPr>
              <a:t>Label: Biaya Operasional</a:t>
            </a:r>
          </a:p>
          <a:p>
            <a:pPr algn="l">
              <a:lnSpc>
                <a:spcPct val="120000"/>
              </a:lnSpc>
              <a:spcAft>
                <a:spcPts val="0"/>
              </a:spcAft>
            </a:pPr>
            <a:r>
              <a:rPr sz="1400" b="0">
                <a:solidFill>
                  <a:srgbClr val="586C71"/>
                </a:solidFill>
                <a:latin typeface="Aptos"/>
              </a:rPr>
              <a:t>Parent: Root</a:t>
            </a:r>
          </a:p>
          <a:p>
            <a:pPr algn="l">
              <a:lnSpc>
                <a:spcPct val="120000"/>
              </a:lnSpc>
              <a:spcAft>
                <a:spcPts val="0"/>
              </a:spcAft>
            </a:pPr>
            <a:r>
              <a:rPr sz="1400" b="0">
                <a:solidFill>
                  <a:srgbClr val="586C71"/>
                </a:solidFill>
                <a:latin typeface="Aptos"/>
              </a:rPr>
              <a:t>Alias: OPEX, biaya rutin</a:t>
            </a:r>
          </a:p>
        </p:txBody>
      </p:sp>
      <p:sp>
        <p:nvSpPr>
          <p:cNvPr id="18" name="Rounded Rectangle 17"/>
          <p:cNvSpPr/>
          <p:nvPr/>
        </p:nvSpPr>
        <p:spPr>
          <a:xfrm>
            <a:off x="8165592" y="1883664"/>
            <a:ext cx="3200400" cy="235915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165592" y="2084832"/>
            <a:ext cx="54864" cy="1956816"/>
          </a:xfrm>
          <a:prstGeom prst="roundRect">
            <a:avLst>
              <a:gd name="adj" fmla="val 18000"/>
            </a:avLst>
          </a:prstGeom>
          <a:solidFill>
            <a:srgbClr val="CF8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85048" y="2066544"/>
            <a:ext cx="2779776" cy="475488"/>
          </a:xfrm>
          <a:prstGeom prst="rect">
            <a:avLst/>
          </a:prstGeom>
          <a:noFill/>
        </p:spPr>
        <p:txBody>
          <a:bodyPr wrap="square" lIns="27432" rIns="27432" tIns="27432" bIns="27432" anchor="ctr">
            <a:spAutoFit/>
          </a:bodyPr>
          <a:lstStyle/>
          <a:p>
            <a:pPr algn="l">
              <a:lnSpc>
                <a:spcPct val="108000"/>
              </a:lnSpc>
              <a:spcAft>
                <a:spcPts val="0"/>
              </a:spcAft>
            </a:pPr>
            <a:r>
              <a:rPr sz="1700" b="1">
                <a:solidFill>
                  <a:srgbClr val="1A2F37"/>
                </a:solidFill>
                <a:latin typeface="Aptos"/>
              </a:rPr>
              <a:t>Term 2 · investasi</a:t>
            </a:r>
          </a:p>
        </p:txBody>
      </p:sp>
      <p:sp>
        <p:nvSpPr>
          <p:cNvPr id="21" name="TextBox 20"/>
          <p:cNvSpPr txBox="1"/>
          <p:nvPr/>
        </p:nvSpPr>
        <p:spPr>
          <a:xfrm>
            <a:off x="8385048" y="2596896"/>
            <a:ext cx="2761488" cy="1463040"/>
          </a:xfrm>
          <a:prstGeom prst="rect">
            <a:avLst/>
          </a:prstGeom>
          <a:noFill/>
        </p:spPr>
        <p:txBody>
          <a:bodyPr wrap="square" lIns="27432" rIns="27432" tIns="27432" bIns="27432" anchor="t">
            <a:spAutoFit/>
          </a:bodyPr>
          <a:lstStyle/>
          <a:p>
            <a:pPr algn="l">
              <a:lnSpc>
                <a:spcPct val="120000"/>
              </a:lnSpc>
              <a:spcAft>
                <a:spcPts val="0"/>
              </a:spcAft>
            </a:pPr>
            <a:r>
              <a:rPr sz="1400" b="0">
                <a:solidFill>
                  <a:srgbClr val="586C71"/>
                </a:solidFill>
                <a:latin typeface="Aptos"/>
              </a:rPr>
              <a:t>Label: Biaya Investasi</a:t>
            </a:r>
          </a:p>
          <a:p>
            <a:pPr algn="l">
              <a:lnSpc>
                <a:spcPct val="120000"/>
              </a:lnSpc>
              <a:spcAft>
                <a:spcPts val="0"/>
              </a:spcAft>
            </a:pPr>
            <a:r>
              <a:rPr sz="1400" b="0">
                <a:solidFill>
                  <a:srgbClr val="586C71"/>
                </a:solidFill>
                <a:latin typeface="Aptos"/>
              </a:rPr>
              <a:t>Parent: Root</a:t>
            </a:r>
          </a:p>
          <a:p>
            <a:pPr algn="l">
              <a:lnSpc>
                <a:spcPct val="120000"/>
              </a:lnSpc>
              <a:spcAft>
                <a:spcPts val="0"/>
              </a:spcAft>
            </a:pPr>
            <a:r>
              <a:rPr sz="1400" b="0">
                <a:solidFill>
                  <a:srgbClr val="586C71"/>
                </a:solidFill>
                <a:latin typeface="Aptos"/>
              </a:rPr>
              <a:t>Alias: CAPEX</a:t>
            </a:r>
          </a:p>
        </p:txBody>
      </p:sp>
      <p:sp>
        <p:nvSpPr>
          <p:cNvPr id="22" name="Rounded Rectangle 21"/>
          <p:cNvSpPr/>
          <p:nvPr/>
        </p:nvSpPr>
        <p:spPr>
          <a:xfrm>
            <a:off x="941832" y="4919472"/>
            <a:ext cx="10259568" cy="694944"/>
          </a:xfrm>
          <a:prstGeom prst="roundRect">
            <a:avLst>
              <a:gd name="adj" fmla="val 18000"/>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79576" y="5020056"/>
            <a:ext cx="9765792" cy="457200"/>
          </a:xfrm>
          <a:prstGeom prst="rect">
            <a:avLst/>
          </a:prstGeom>
          <a:noFill/>
        </p:spPr>
        <p:txBody>
          <a:bodyPr wrap="square" lIns="27432" rIns="27432" tIns="27432" bIns="27432" anchor="ctr">
            <a:spAutoFit/>
          </a:bodyPr>
          <a:lstStyle/>
          <a:p>
            <a:pPr algn="ctr">
              <a:lnSpc>
                <a:spcPct val="108000"/>
              </a:lnSpc>
              <a:spcAft>
                <a:spcPts val="0"/>
              </a:spcAft>
            </a:pPr>
            <a:r>
              <a:rPr sz="1600" b="1">
                <a:solidFill>
                  <a:srgbClr val="096752"/>
                </a:solidFill>
                <a:latin typeface="Aptos"/>
              </a:rPr>
              <a:t>Setujui taxonomy  →  pilih kolom “Jenis Biaya”  →  simpan &amp; setujui binding.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38328"/>
            <a:ext cx="9601200" cy="256032"/>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096752"/>
                </a:solidFill>
                <a:latin typeface="Aptos"/>
              </a:rPr>
              <a:t>CONTOH FORM · 2/4</a:t>
            </a:r>
          </a:p>
        </p:txBody>
      </p:sp>
      <p:sp>
        <p:nvSpPr>
          <p:cNvPr id="4" name="TextBox 3"/>
          <p:cNvSpPr txBox="1"/>
          <p:nvPr/>
        </p:nvSpPr>
        <p:spPr>
          <a:xfrm>
            <a:off x="658368" y="713232"/>
            <a:ext cx="10835640" cy="621792"/>
          </a:xfrm>
          <a:prstGeom prst="rect">
            <a:avLst/>
          </a:prstGeom>
          <a:noFill/>
        </p:spPr>
        <p:txBody>
          <a:bodyPr wrap="square" lIns="27432" rIns="27432" tIns="27432" bIns="27432" anchor="ctr">
            <a:spAutoFit/>
          </a:bodyPr>
          <a:lstStyle/>
          <a:p>
            <a:pPr algn="l">
              <a:lnSpc>
                <a:spcPct val="108000"/>
              </a:lnSpc>
              <a:spcAft>
                <a:spcPts val="0"/>
              </a:spcAft>
            </a:pPr>
            <a:r>
              <a:rPr sz="2800" b="1">
                <a:solidFill>
                  <a:srgbClr val="1A2F37"/>
                </a:solidFill>
                <a:latin typeface="Aptos"/>
              </a:rPr>
              <a:t>Contoh isian: atribut organisasi</a:t>
            </a:r>
          </a:p>
        </p:txBody>
      </p:sp>
      <p:sp>
        <p:nvSpPr>
          <p:cNvPr id="5" name="TextBox 4"/>
          <p:cNvSpPr txBox="1"/>
          <p:nvPr/>
        </p:nvSpPr>
        <p:spPr>
          <a:xfrm>
            <a:off x="685800" y="1362456"/>
            <a:ext cx="10744200" cy="438912"/>
          </a:xfrm>
          <a:prstGeom prst="rect">
            <a:avLst/>
          </a:prstGeom>
          <a:noFill/>
        </p:spPr>
        <p:txBody>
          <a:bodyPr wrap="square" lIns="27432" rIns="27432" tIns="27432" bIns="27432" anchor="ctr">
            <a:spAutoFit/>
          </a:bodyPr>
          <a:lstStyle/>
          <a:p>
            <a:pPr algn="l">
              <a:lnSpc>
                <a:spcPct val="108000"/>
              </a:lnSpc>
              <a:spcAft>
                <a:spcPts val="0"/>
              </a:spcAft>
            </a:pPr>
            <a:r>
              <a:rPr sz="1300" b="0">
                <a:solidFill>
                  <a:srgbClr val="586C71"/>
                </a:solidFill>
                <a:latin typeface="Aptos"/>
              </a:rPr>
              <a:t>Admin membuat jenis, kode, dan label; pilihan ini kemudian muncul pada form sumber dan akses.</a:t>
            </a:r>
          </a:p>
        </p:txBody>
      </p:sp>
      <p:cxnSp>
        <p:nvCxnSpPr>
          <p:cNvPr id="6" name="Connector 5"/>
          <p:cNvCxnSpPr/>
          <p:nvPr/>
        </p:nvCxnSpPr>
        <p:spPr>
          <a:xfrm>
            <a:off x="676656" y="6492240"/>
            <a:ext cx="10799064" cy="0"/>
          </a:xfrm>
          <a:prstGeom prst="line">
            <a:avLst/>
          </a:prstGeom>
          <a:ln w="16510">
            <a:solidFill>
              <a:srgbClr val="DBE6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 y="6537960"/>
            <a:ext cx="7132320" cy="164592"/>
          </a:xfrm>
          <a:prstGeom prst="rect">
            <a:avLst/>
          </a:prstGeom>
          <a:noFill/>
        </p:spPr>
        <p:txBody>
          <a:bodyPr wrap="square" lIns="27432" rIns="27432" tIns="27432" bIns="27432" anchor="ctr">
            <a:spAutoFit/>
          </a:bodyPr>
          <a:lstStyle/>
          <a:p>
            <a:pPr algn="l">
              <a:lnSpc>
                <a:spcPct val="108000"/>
              </a:lnSpc>
              <a:spcAft>
                <a:spcPts val="0"/>
              </a:spcAft>
            </a:pPr>
            <a:r>
              <a:rPr sz="850" b="0">
                <a:solidFill>
                  <a:srgbClr val="586C71"/>
                </a:solidFill>
                <a:latin typeface="Aptos"/>
              </a:rPr>
              <a:t>GOOGLE SHEET AI  ·  TINJAUAN APLIKASI</a:t>
            </a:r>
          </a:p>
        </p:txBody>
      </p:sp>
      <p:sp>
        <p:nvSpPr>
          <p:cNvPr id="8" name="TextBox 7"/>
          <p:cNvSpPr txBox="1"/>
          <p:nvPr/>
        </p:nvSpPr>
        <p:spPr>
          <a:xfrm>
            <a:off x="10972800" y="6519672"/>
            <a:ext cx="502920" cy="192024"/>
          </a:xfrm>
          <a:prstGeom prst="rect">
            <a:avLst/>
          </a:prstGeom>
          <a:noFill/>
        </p:spPr>
        <p:txBody>
          <a:bodyPr wrap="square" lIns="27432" rIns="27432" tIns="27432" bIns="27432" anchor="ctr">
            <a:spAutoFit/>
          </a:bodyPr>
          <a:lstStyle/>
          <a:p>
            <a:pPr algn="r">
              <a:lnSpc>
                <a:spcPct val="108000"/>
              </a:lnSpc>
              <a:spcAft>
                <a:spcPts val="0"/>
              </a:spcAft>
            </a:pPr>
            <a:r>
              <a:rPr sz="950" b="0">
                <a:solidFill>
                  <a:srgbClr val="586C71"/>
                </a:solidFill>
                <a:latin typeface="Aptos"/>
              </a:rPr>
              <a:t>16</a:t>
            </a:r>
          </a:p>
        </p:txBody>
      </p:sp>
      <p:sp>
        <p:nvSpPr>
          <p:cNvPr id="9" name="Rounded Rectangle 8"/>
          <p:cNvSpPr/>
          <p:nvPr/>
        </p:nvSpPr>
        <p:spPr>
          <a:xfrm>
            <a:off x="758952" y="1938528"/>
            <a:ext cx="3172968" cy="1600200"/>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23544" y="2121408"/>
            <a:ext cx="64008" cy="1234440"/>
          </a:xfrm>
          <a:prstGeom prst="roundRect">
            <a:avLst>
              <a:gd name="adj" fmla="val 18000"/>
            </a:avLst>
          </a:prstGeom>
          <a:solidFill>
            <a:srgbClr val="09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2093976"/>
            <a:ext cx="2587752" cy="301752"/>
          </a:xfrm>
          <a:prstGeom prst="rect">
            <a:avLst/>
          </a:prstGeom>
          <a:noFill/>
        </p:spPr>
        <p:txBody>
          <a:bodyPr wrap="square" lIns="27432" rIns="27432" tIns="27432" bIns="27432" anchor="ctr">
            <a:spAutoFit/>
          </a:bodyPr>
          <a:lstStyle/>
          <a:p>
            <a:pPr algn="l">
              <a:lnSpc>
                <a:spcPct val="108000"/>
              </a:lnSpc>
              <a:spcAft>
                <a:spcPts val="0"/>
              </a:spcAft>
            </a:pPr>
            <a:r>
              <a:rPr sz="1000" b="1">
                <a:solidFill>
                  <a:srgbClr val="096752"/>
                </a:solidFill>
                <a:latin typeface="Aptos"/>
              </a:rPr>
              <a:t>DEPARTMENT</a:t>
            </a:r>
          </a:p>
        </p:txBody>
      </p:sp>
      <p:sp>
        <p:nvSpPr>
          <p:cNvPr id="12" name="TextBox 11"/>
          <p:cNvSpPr txBox="1"/>
          <p:nvPr/>
        </p:nvSpPr>
        <p:spPr>
          <a:xfrm>
            <a:off x="1115568" y="2468880"/>
            <a:ext cx="2569464" cy="393192"/>
          </a:xfrm>
          <a:prstGeom prst="rect">
            <a:avLst/>
          </a:prstGeom>
          <a:noFill/>
        </p:spPr>
        <p:txBody>
          <a:bodyPr wrap="square" lIns="27432" rIns="27432" tIns="27432" bIns="27432" anchor="ctr">
            <a:spAutoFit/>
          </a:bodyPr>
          <a:lstStyle/>
          <a:p>
            <a:pPr algn="l">
              <a:lnSpc>
                <a:spcPct val="108000"/>
              </a:lnSpc>
              <a:spcAft>
                <a:spcPts val="0"/>
              </a:spcAft>
            </a:pPr>
            <a:r>
              <a:rPr sz="1600" b="1">
                <a:solidFill>
                  <a:srgbClr val="1A2F37"/>
                </a:solidFill>
                <a:latin typeface="Aptos"/>
              </a:rPr>
              <a:t>keuangan</a:t>
            </a:r>
          </a:p>
        </p:txBody>
      </p:sp>
      <p:sp>
        <p:nvSpPr>
          <p:cNvPr id="13" name="TextBox 12"/>
          <p:cNvSpPr txBox="1"/>
          <p:nvPr/>
        </p:nvSpPr>
        <p:spPr>
          <a:xfrm>
            <a:off x="1115568" y="2944368"/>
            <a:ext cx="2542032" cy="356616"/>
          </a:xfrm>
          <a:prstGeom prst="rect">
            <a:avLst/>
          </a:prstGeom>
          <a:noFill/>
        </p:spPr>
        <p:txBody>
          <a:bodyPr wrap="square" lIns="27432" rIns="27432" tIns="27432" bIns="27432" anchor="ctr">
            <a:spAutoFit/>
          </a:bodyPr>
          <a:lstStyle/>
          <a:p>
            <a:pPr algn="l">
              <a:lnSpc>
                <a:spcPct val="108000"/>
              </a:lnSpc>
              <a:spcAft>
                <a:spcPts val="0"/>
              </a:spcAft>
            </a:pPr>
            <a:r>
              <a:rPr sz="1250" b="0">
                <a:solidFill>
                  <a:srgbClr val="586C71"/>
                </a:solidFill>
                <a:latin typeface="Aptos"/>
              </a:rPr>
              <a:t>Departemen Keuangan</a:t>
            </a:r>
          </a:p>
        </p:txBody>
      </p:sp>
      <p:sp>
        <p:nvSpPr>
          <p:cNvPr id="14" name="Rounded Rectangle 13"/>
          <p:cNvSpPr/>
          <p:nvPr/>
        </p:nvSpPr>
        <p:spPr>
          <a:xfrm>
            <a:off x="4507992" y="1938528"/>
            <a:ext cx="3172968" cy="1600200"/>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672583" y="2121408"/>
            <a:ext cx="64008" cy="1234440"/>
          </a:xfrm>
          <a:prstGeom prst="roundRect">
            <a:avLst>
              <a:gd name="adj" fmla="val 18000"/>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64607" y="2093976"/>
            <a:ext cx="2587752" cy="301752"/>
          </a:xfrm>
          <a:prstGeom prst="rect">
            <a:avLst/>
          </a:prstGeom>
          <a:noFill/>
        </p:spPr>
        <p:txBody>
          <a:bodyPr wrap="square" lIns="27432" rIns="27432" tIns="27432" bIns="27432" anchor="ctr">
            <a:spAutoFit/>
          </a:bodyPr>
          <a:lstStyle/>
          <a:p>
            <a:pPr algn="l">
              <a:lnSpc>
                <a:spcPct val="108000"/>
              </a:lnSpc>
              <a:spcAft>
                <a:spcPts val="0"/>
              </a:spcAft>
            </a:pPr>
            <a:r>
              <a:rPr sz="1000" b="1">
                <a:solidFill>
                  <a:srgbClr val="11877A"/>
                </a:solidFill>
                <a:latin typeface="Aptos"/>
              </a:rPr>
              <a:t>BUSINESS_DOMAIN</a:t>
            </a:r>
          </a:p>
        </p:txBody>
      </p:sp>
      <p:sp>
        <p:nvSpPr>
          <p:cNvPr id="17" name="TextBox 16"/>
          <p:cNvSpPr txBox="1"/>
          <p:nvPr/>
        </p:nvSpPr>
        <p:spPr>
          <a:xfrm>
            <a:off x="4864607" y="2468880"/>
            <a:ext cx="2569464" cy="393192"/>
          </a:xfrm>
          <a:prstGeom prst="rect">
            <a:avLst/>
          </a:prstGeom>
          <a:noFill/>
        </p:spPr>
        <p:txBody>
          <a:bodyPr wrap="square" lIns="27432" rIns="27432" tIns="27432" bIns="27432" anchor="ctr">
            <a:spAutoFit/>
          </a:bodyPr>
          <a:lstStyle/>
          <a:p>
            <a:pPr algn="l">
              <a:lnSpc>
                <a:spcPct val="108000"/>
              </a:lnSpc>
              <a:spcAft>
                <a:spcPts val="0"/>
              </a:spcAft>
            </a:pPr>
            <a:r>
              <a:rPr sz="1600" b="1">
                <a:solidFill>
                  <a:srgbClr val="1A2F37"/>
                </a:solidFill>
                <a:latin typeface="Aptos"/>
              </a:rPr>
              <a:t>penjualan</a:t>
            </a:r>
          </a:p>
        </p:txBody>
      </p:sp>
      <p:sp>
        <p:nvSpPr>
          <p:cNvPr id="18" name="TextBox 17"/>
          <p:cNvSpPr txBox="1"/>
          <p:nvPr/>
        </p:nvSpPr>
        <p:spPr>
          <a:xfrm>
            <a:off x="4864607" y="2944368"/>
            <a:ext cx="2542032" cy="356616"/>
          </a:xfrm>
          <a:prstGeom prst="rect">
            <a:avLst/>
          </a:prstGeom>
          <a:noFill/>
        </p:spPr>
        <p:txBody>
          <a:bodyPr wrap="square" lIns="27432" rIns="27432" tIns="27432" bIns="27432" anchor="ctr">
            <a:spAutoFit/>
          </a:bodyPr>
          <a:lstStyle/>
          <a:p>
            <a:pPr algn="l">
              <a:lnSpc>
                <a:spcPct val="108000"/>
              </a:lnSpc>
              <a:spcAft>
                <a:spcPts val="0"/>
              </a:spcAft>
            </a:pPr>
            <a:r>
              <a:rPr sz="1250" b="0">
                <a:solidFill>
                  <a:srgbClr val="586C71"/>
                </a:solidFill>
                <a:latin typeface="Aptos"/>
              </a:rPr>
              <a:t>Penjualan</a:t>
            </a:r>
          </a:p>
        </p:txBody>
      </p:sp>
      <p:sp>
        <p:nvSpPr>
          <p:cNvPr id="19" name="Rounded Rectangle 18"/>
          <p:cNvSpPr/>
          <p:nvPr/>
        </p:nvSpPr>
        <p:spPr>
          <a:xfrm>
            <a:off x="8257031" y="1938528"/>
            <a:ext cx="3172968" cy="1600200"/>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421624" y="2121408"/>
            <a:ext cx="64008" cy="1234440"/>
          </a:xfrm>
          <a:prstGeom prst="roundRect">
            <a:avLst>
              <a:gd name="adj" fmla="val 18000"/>
            </a:avLst>
          </a:prstGeom>
          <a:solidFill>
            <a:srgbClr val="CF8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13648" y="2093976"/>
            <a:ext cx="2587752" cy="301752"/>
          </a:xfrm>
          <a:prstGeom prst="rect">
            <a:avLst/>
          </a:prstGeom>
          <a:noFill/>
        </p:spPr>
        <p:txBody>
          <a:bodyPr wrap="square" lIns="27432" rIns="27432" tIns="27432" bIns="27432" anchor="ctr">
            <a:spAutoFit/>
          </a:bodyPr>
          <a:lstStyle/>
          <a:p>
            <a:pPr algn="l">
              <a:lnSpc>
                <a:spcPct val="108000"/>
              </a:lnSpc>
              <a:spcAft>
                <a:spcPts val="0"/>
              </a:spcAft>
            </a:pPr>
            <a:r>
              <a:rPr sz="1000" b="1">
                <a:solidFill>
                  <a:srgbClr val="CF8B3A"/>
                </a:solidFill>
                <a:latin typeface="Aptos"/>
              </a:rPr>
              <a:t>JURISDICTION</a:t>
            </a:r>
          </a:p>
        </p:txBody>
      </p:sp>
      <p:sp>
        <p:nvSpPr>
          <p:cNvPr id="22" name="TextBox 21"/>
          <p:cNvSpPr txBox="1"/>
          <p:nvPr/>
        </p:nvSpPr>
        <p:spPr>
          <a:xfrm>
            <a:off x="8613648" y="2468880"/>
            <a:ext cx="2569464" cy="393192"/>
          </a:xfrm>
          <a:prstGeom prst="rect">
            <a:avLst/>
          </a:prstGeom>
          <a:noFill/>
        </p:spPr>
        <p:txBody>
          <a:bodyPr wrap="square" lIns="27432" rIns="27432" tIns="27432" bIns="27432" anchor="ctr">
            <a:spAutoFit/>
          </a:bodyPr>
          <a:lstStyle/>
          <a:p>
            <a:pPr algn="l">
              <a:lnSpc>
                <a:spcPct val="108000"/>
              </a:lnSpc>
              <a:spcAft>
                <a:spcPts val="0"/>
              </a:spcAft>
            </a:pPr>
            <a:r>
              <a:rPr sz="1600" b="1">
                <a:solidFill>
                  <a:srgbClr val="1A2F37"/>
                </a:solidFill>
                <a:latin typeface="Aptos"/>
              </a:rPr>
              <a:t>jatim</a:t>
            </a:r>
          </a:p>
        </p:txBody>
      </p:sp>
      <p:sp>
        <p:nvSpPr>
          <p:cNvPr id="23" name="TextBox 22"/>
          <p:cNvSpPr txBox="1"/>
          <p:nvPr/>
        </p:nvSpPr>
        <p:spPr>
          <a:xfrm>
            <a:off x="8613648" y="2944368"/>
            <a:ext cx="2542032" cy="356616"/>
          </a:xfrm>
          <a:prstGeom prst="rect">
            <a:avLst/>
          </a:prstGeom>
          <a:noFill/>
        </p:spPr>
        <p:txBody>
          <a:bodyPr wrap="square" lIns="27432" rIns="27432" tIns="27432" bIns="27432" anchor="ctr">
            <a:spAutoFit/>
          </a:bodyPr>
          <a:lstStyle/>
          <a:p>
            <a:pPr algn="l">
              <a:lnSpc>
                <a:spcPct val="108000"/>
              </a:lnSpc>
              <a:spcAft>
                <a:spcPts val="0"/>
              </a:spcAft>
            </a:pPr>
            <a:r>
              <a:rPr sz="1250" b="0">
                <a:solidFill>
                  <a:srgbClr val="586C71"/>
                </a:solidFill>
                <a:latin typeface="Aptos"/>
              </a:rPr>
              <a:t>Jawa Timur</a:t>
            </a:r>
          </a:p>
        </p:txBody>
      </p:sp>
      <p:sp>
        <p:nvSpPr>
          <p:cNvPr id="24" name="Rounded Rectangle 23"/>
          <p:cNvSpPr/>
          <p:nvPr/>
        </p:nvSpPr>
        <p:spPr>
          <a:xfrm>
            <a:off x="2624328" y="3922776"/>
            <a:ext cx="3172968" cy="1600200"/>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788920" y="4105656"/>
            <a:ext cx="64008" cy="1234440"/>
          </a:xfrm>
          <a:prstGeom prst="roundRect">
            <a:avLst>
              <a:gd name="adj" fmla="val 18000"/>
            </a:avLst>
          </a:prstGeom>
          <a:solidFill>
            <a:srgbClr val="09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80944" y="4078224"/>
            <a:ext cx="2587752" cy="301752"/>
          </a:xfrm>
          <a:prstGeom prst="rect">
            <a:avLst/>
          </a:prstGeom>
          <a:noFill/>
        </p:spPr>
        <p:txBody>
          <a:bodyPr wrap="square" lIns="27432" rIns="27432" tIns="27432" bIns="27432" anchor="ctr">
            <a:spAutoFit/>
          </a:bodyPr>
          <a:lstStyle/>
          <a:p>
            <a:pPr algn="l">
              <a:lnSpc>
                <a:spcPct val="108000"/>
              </a:lnSpc>
              <a:spcAft>
                <a:spcPts val="0"/>
              </a:spcAft>
            </a:pPr>
            <a:r>
              <a:rPr sz="1000" b="1">
                <a:solidFill>
                  <a:srgbClr val="096752"/>
                </a:solidFill>
                <a:latin typeface="Aptos"/>
              </a:rPr>
              <a:t>PURPOSE</a:t>
            </a:r>
          </a:p>
        </p:txBody>
      </p:sp>
      <p:sp>
        <p:nvSpPr>
          <p:cNvPr id="27" name="TextBox 26"/>
          <p:cNvSpPr txBox="1"/>
          <p:nvPr/>
        </p:nvSpPr>
        <p:spPr>
          <a:xfrm>
            <a:off x="2980944" y="4453128"/>
            <a:ext cx="2569464" cy="393192"/>
          </a:xfrm>
          <a:prstGeom prst="rect">
            <a:avLst/>
          </a:prstGeom>
          <a:noFill/>
        </p:spPr>
        <p:txBody>
          <a:bodyPr wrap="square" lIns="27432" rIns="27432" tIns="27432" bIns="27432" anchor="ctr">
            <a:spAutoFit/>
          </a:bodyPr>
          <a:lstStyle/>
          <a:p>
            <a:pPr algn="l">
              <a:lnSpc>
                <a:spcPct val="108000"/>
              </a:lnSpc>
              <a:spcAft>
                <a:spcPts val="0"/>
              </a:spcAft>
            </a:pPr>
            <a:r>
              <a:rPr sz="1600" b="1">
                <a:solidFill>
                  <a:srgbClr val="1A2F37"/>
                </a:solidFill>
                <a:latin typeface="Aptos"/>
              </a:rPr>
              <a:t>analitik_manajemen</a:t>
            </a:r>
          </a:p>
        </p:txBody>
      </p:sp>
      <p:sp>
        <p:nvSpPr>
          <p:cNvPr id="28" name="TextBox 27"/>
          <p:cNvSpPr txBox="1"/>
          <p:nvPr/>
        </p:nvSpPr>
        <p:spPr>
          <a:xfrm>
            <a:off x="2980944" y="4928616"/>
            <a:ext cx="2542032" cy="356616"/>
          </a:xfrm>
          <a:prstGeom prst="rect">
            <a:avLst/>
          </a:prstGeom>
          <a:noFill/>
        </p:spPr>
        <p:txBody>
          <a:bodyPr wrap="square" lIns="27432" rIns="27432" tIns="27432" bIns="27432" anchor="ctr">
            <a:spAutoFit/>
          </a:bodyPr>
          <a:lstStyle/>
          <a:p>
            <a:pPr algn="l">
              <a:lnSpc>
                <a:spcPct val="108000"/>
              </a:lnSpc>
              <a:spcAft>
                <a:spcPts val="0"/>
              </a:spcAft>
            </a:pPr>
            <a:r>
              <a:rPr sz="1250" b="0">
                <a:solidFill>
                  <a:srgbClr val="586C71"/>
                </a:solidFill>
                <a:latin typeface="Aptos"/>
              </a:rPr>
              <a:t>Analitik Manajemen</a:t>
            </a:r>
          </a:p>
        </p:txBody>
      </p:sp>
      <p:sp>
        <p:nvSpPr>
          <p:cNvPr id="29" name="Rounded Rectangle 28"/>
          <p:cNvSpPr/>
          <p:nvPr/>
        </p:nvSpPr>
        <p:spPr>
          <a:xfrm>
            <a:off x="6382512" y="3922776"/>
            <a:ext cx="3172968" cy="1600200"/>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547104" y="4105656"/>
            <a:ext cx="64008" cy="1234440"/>
          </a:xfrm>
          <a:prstGeom prst="roundRect">
            <a:avLst>
              <a:gd name="adj" fmla="val 18000"/>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39128" y="4078224"/>
            <a:ext cx="2587752" cy="301752"/>
          </a:xfrm>
          <a:prstGeom prst="rect">
            <a:avLst/>
          </a:prstGeom>
          <a:noFill/>
        </p:spPr>
        <p:txBody>
          <a:bodyPr wrap="square" lIns="27432" rIns="27432" tIns="27432" bIns="27432" anchor="ctr">
            <a:spAutoFit/>
          </a:bodyPr>
          <a:lstStyle/>
          <a:p>
            <a:pPr algn="l">
              <a:lnSpc>
                <a:spcPct val="108000"/>
              </a:lnSpc>
              <a:spcAft>
                <a:spcPts val="0"/>
              </a:spcAft>
            </a:pPr>
            <a:r>
              <a:rPr sz="1000" b="1">
                <a:solidFill>
                  <a:srgbClr val="11877A"/>
                </a:solidFill>
                <a:latin typeface="Aptos"/>
              </a:rPr>
              <a:t>CLEARANCE</a:t>
            </a:r>
          </a:p>
        </p:txBody>
      </p:sp>
      <p:sp>
        <p:nvSpPr>
          <p:cNvPr id="32" name="TextBox 31"/>
          <p:cNvSpPr txBox="1"/>
          <p:nvPr/>
        </p:nvSpPr>
        <p:spPr>
          <a:xfrm>
            <a:off x="6739128" y="4453128"/>
            <a:ext cx="2569464" cy="393192"/>
          </a:xfrm>
          <a:prstGeom prst="rect">
            <a:avLst/>
          </a:prstGeom>
          <a:noFill/>
        </p:spPr>
        <p:txBody>
          <a:bodyPr wrap="square" lIns="27432" rIns="27432" tIns="27432" bIns="27432" anchor="ctr">
            <a:spAutoFit/>
          </a:bodyPr>
          <a:lstStyle/>
          <a:p>
            <a:pPr algn="l">
              <a:lnSpc>
                <a:spcPct val="108000"/>
              </a:lnSpc>
              <a:spcAft>
                <a:spcPts val="0"/>
              </a:spcAft>
            </a:pPr>
            <a:r>
              <a:rPr sz="1600" b="1">
                <a:solidFill>
                  <a:srgbClr val="1A2F37"/>
                </a:solidFill>
                <a:latin typeface="Aptos"/>
              </a:rPr>
              <a:t>internal</a:t>
            </a:r>
          </a:p>
        </p:txBody>
      </p:sp>
      <p:sp>
        <p:nvSpPr>
          <p:cNvPr id="33" name="TextBox 32"/>
          <p:cNvSpPr txBox="1"/>
          <p:nvPr/>
        </p:nvSpPr>
        <p:spPr>
          <a:xfrm>
            <a:off x="6739128" y="4928616"/>
            <a:ext cx="2542032" cy="356616"/>
          </a:xfrm>
          <a:prstGeom prst="rect">
            <a:avLst/>
          </a:prstGeom>
          <a:noFill/>
        </p:spPr>
        <p:txBody>
          <a:bodyPr wrap="square" lIns="27432" rIns="27432" tIns="27432" bIns="27432" anchor="ctr">
            <a:spAutoFit/>
          </a:bodyPr>
          <a:lstStyle/>
          <a:p>
            <a:pPr algn="l">
              <a:lnSpc>
                <a:spcPct val="108000"/>
              </a:lnSpc>
              <a:spcAft>
                <a:spcPts val="0"/>
              </a:spcAft>
            </a:pPr>
            <a:r>
              <a:rPr sz="1250" b="0">
                <a:solidFill>
                  <a:srgbClr val="586C71"/>
                </a:solidFill>
                <a:latin typeface="Aptos"/>
              </a:rPr>
              <a:t>Internal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38328"/>
            <a:ext cx="9601200" cy="256032"/>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096752"/>
                </a:solidFill>
                <a:latin typeface="Aptos"/>
              </a:rPr>
              <a:t>CONTOH FORM · 3/4</a:t>
            </a:r>
          </a:p>
        </p:txBody>
      </p:sp>
      <p:sp>
        <p:nvSpPr>
          <p:cNvPr id="4" name="TextBox 3"/>
          <p:cNvSpPr txBox="1"/>
          <p:nvPr/>
        </p:nvSpPr>
        <p:spPr>
          <a:xfrm>
            <a:off x="658368" y="713232"/>
            <a:ext cx="10835640" cy="621792"/>
          </a:xfrm>
          <a:prstGeom prst="rect">
            <a:avLst/>
          </a:prstGeom>
          <a:noFill/>
        </p:spPr>
        <p:txBody>
          <a:bodyPr wrap="square" lIns="27432" rIns="27432" tIns="27432" bIns="27432" anchor="ctr">
            <a:spAutoFit/>
          </a:bodyPr>
          <a:lstStyle/>
          <a:p>
            <a:pPr algn="l">
              <a:lnSpc>
                <a:spcPct val="108000"/>
              </a:lnSpc>
              <a:spcAft>
                <a:spcPts val="0"/>
              </a:spcAft>
            </a:pPr>
            <a:r>
              <a:rPr sz="2800" b="1">
                <a:solidFill>
                  <a:srgbClr val="1A2F37"/>
                </a:solidFill>
                <a:latin typeface="Aptos"/>
              </a:rPr>
              <a:t>Contoh isian: sumber Google Sheet</a:t>
            </a:r>
          </a:p>
        </p:txBody>
      </p:sp>
      <p:sp>
        <p:nvSpPr>
          <p:cNvPr id="5" name="TextBox 4"/>
          <p:cNvSpPr txBox="1"/>
          <p:nvPr/>
        </p:nvSpPr>
        <p:spPr>
          <a:xfrm>
            <a:off x="685800" y="1362456"/>
            <a:ext cx="10744200" cy="438912"/>
          </a:xfrm>
          <a:prstGeom prst="rect">
            <a:avLst/>
          </a:prstGeom>
          <a:noFill/>
        </p:spPr>
        <p:txBody>
          <a:bodyPr wrap="square" lIns="27432" rIns="27432" tIns="27432" bIns="27432" anchor="ctr">
            <a:spAutoFit/>
          </a:bodyPr>
          <a:lstStyle/>
          <a:p>
            <a:pPr algn="l">
              <a:lnSpc>
                <a:spcPct val="108000"/>
              </a:lnSpc>
              <a:spcAft>
                <a:spcPts val="0"/>
              </a:spcAft>
            </a:pPr>
            <a:r>
              <a:rPr sz="1300" b="0">
                <a:solidFill>
                  <a:srgbClr val="586C71"/>
                </a:solidFill>
                <a:latin typeface="Aptos"/>
              </a:rPr>
              <a:t>Satu contoh pendaftaran; dropdown hanya menampilkan pilihan yang tersedia dan diizinkan.</a:t>
            </a:r>
          </a:p>
        </p:txBody>
      </p:sp>
      <p:cxnSp>
        <p:nvCxnSpPr>
          <p:cNvPr id="6" name="Connector 5"/>
          <p:cNvCxnSpPr/>
          <p:nvPr/>
        </p:nvCxnSpPr>
        <p:spPr>
          <a:xfrm>
            <a:off x="676656" y="6492240"/>
            <a:ext cx="10799064" cy="0"/>
          </a:xfrm>
          <a:prstGeom prst="line">
            <a:avLst/>
          </a:prstGeom>
          <a:ln w="16510">
            <a:solidFill>
              <a:srgbClr val="DBE6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 y="6537960"/>
            <a:ext cx="7132320" cy="164592"/>
          </a:xfrm>
          <a:prstGeom prst="rect">
            <a:avLst/>
          </a:prstGeom>
          <a:noFill/>
        </p:spPr>
        <p:txBody>
          <a:bodyPr wrap="square" lIns="27432" rIns="27432" tIns="27432" bIns="27432" anchor="ctr">
            <a:spAutoFit/>
          </a:bodyPr>
          <a:lstStyle/>
          <a:p>
            <a:pPr algn="l">
              <a:lnSpc>
                <a:spcPct val="108000"/>
              </a:lnSpc>
              <a:spcAft>
                <a:spcPts val="0"/>
              </a:spcAft>
            </a:pPr>
            <a:r>
              <a:rPr sz="850" b="0">
                <a:solidFill>
                  <a:srgbClr val="586C71"/>
                </a:solidFill>
                <a:latin typeface="Aptos"/>
              </a:rPr>
              <a:t>GOOGLE SHEET AI  ·  TINJAUAN APLIKASI</a:t>
            </a:r>
          </a:p>
        </p:txBody>
      </p:sp>
      <p:sp>
        <p:nvSpPr>
          <p:cNvPr id="8" name="TextBox 7"/>
          <p:cNvSpPr txBox="1"/>
          <p:nvPr/>
        </p:nvSpPr>
        <p:spPr>
          <a:xfrm>
            <a:off x="10972800" y="6519672"/>
            <a:ext cx="502920" cy="192024"/>
          </a:xfrm>
          <a:prstGeom prst="rect">
            <a:avLst/>
          </a:prstGeom>
          <a:noFill/>
        </p:spPr>
        <p:txBody>
          <a:bodyPr wrap="square" lIns="27432" rIns="27432" tIns="27432" bIns="27432" anchor="ctr">
            <a:spAutoFit/>
          </a:bodyPr>
          <a:lstStyle/>
          <a:p>
            <a:pPr algn="r">
              <a:lnSpc>
                <a:spcPct val="108000"/>
              </a:lnSpc>
              <a:spcAft>
                <a:spcPts val="0"/>
              </a:spcAft>
            </a:pPr>
            <a:r>
              <a:rPr sz="950" b="0">
                <a:solidFill>
                  <a:srgbClr val="586C71"/>
                </a:solidFill>
                <a:latin typeface="Aptos"/>
              </a:rPr>
              <a:t>17</a:t>
            </a:r>
          </a:p>
        </p:txBody>
      </p:sp>
      <p:sp>
        <p:nvSpPr>
          <p:cNvPr id="9" name="Rounded Rectangle 8"/>
          <p:cNvSpPr/>
          <p:nvPr/>
        </p:nvSpPr>
        <p:spPr>
          <a:xfrm>
            <a:off x="740664" y="1865376"/>
            <a:ext cx="5093208" cy="350215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40664" y="2066544"/>
            <a:ext cx="54864" cy="3099816"/>
          </a:xfrm>
          <a:prstGeom prst="roundRect">
            <a:avLst>
              <a:gd name="adj" fmla="val 18000"/>
            </a:avLst>
          </a:prstGeom>
          <a:solidFill>
            <a:srgbClr val="09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048256"/>
            <a:ext cx="4672584" cy="475488"/>
          </a:xfrm>
          <a:prstGeom prst="rect">
            <a:avLst/>
          </a:prstGeom>
          <a:noFill/>
        </p:spPr>
        <p:txBody>
          <a:bodyPr wrap="square" lIns="27432" rIns="27432" tIns="27432" bIns="27432" anchor="ctr">
            <a:spAutoFit/>
          </a:bodyPr>
          <a:lstStyle/>
          <a:p>
            <a:pPr algn="l">
              <a:lnSpc>
                <a:spcPct val="108000"/>
              </a:lnSpc>
              <a:spcAft>
                <a:spcPts val="0"/>
              </a:spcAft>
            </a:pPr>
            <a:r>
              <a:rPr sz="2000" b="1">
                <a:solidFill>
                  <a:srgbClr val="1A2F37"/>
                </a:solidFill>
                <a:latin typeface="Aptos"/>
              </a:rPr>
              <a:t>Identitas sumber</a:t>
            </a:r>
          </a:p>
        </p:txBody>
      </p:sp>
      <p:sp>
        <p:nvSpPr>
          <p:cNvPr id="12" name="TextBox 11"/>
          <p:cNvSpPr txBox="1"/>
          <p:nvPr/>
        </p:nvSpPr>
        <p:spPr>
          <a:xfrm>
            <a:off x="960120" y="2578608"/>
            <a:ext cx="4654296" cy="2606040"/>
          </a:xfrm>
          <a:prstGeom prst="rect">
            <a:avLst/>
          </a:prstGeom>
          <a:noFill/>
        </p:spPr>
        <p:txBody>
          <a:bodyPr wrap="square" lIns="27432" rIns="27432" tIns="27432" bIns="27432" anchor="t">
            <a:spAutoFit/>
          </a:bodyPr>
          <a:lstStyle/>
          <a:p>
            <a:pPr algn="l">
              <a:lnSpc>
                <a:spcPct val="120000"/>
              </a:lnSpc>
              <a:spcAft>
                <a:spcPts val="0"/>
              </a:spcAft>
            </a:pPr>
            <a:r>
              <a:rPr sz="1600" b="0">
                <a:solidFill>
                  <a:srgbClr val="586C71"/>
                </a:solidFill>
                <a:latin typeface="Aptos"/>
              </a:rPr>
              <a:t>Nama: Penjualan Cabang Jawa Timur</a:t>
            </a:r>
          </a:p>
          <a:p>
            <a:pPr algn="l">
              <a:lnSpc>
                <a:spcPct val="120000"/>
              </a:lnSpc>
              <a:spcAft>
                <a:spcPts val="0"/>
              </a:spcAft>
            </a:pPr>
            <a:r>
              <a:rPr sz="1600" b="0">
                <a:solidFill>
                  <a:srgbClr val="586C71"/>
                </a:solidFill>
                <a:latin typeface="Aptos"/>
              </a:rPr>
              <a:t>URL: tautan Google Sheet asli</a:t>
            </a:r>
          </a:p>
          <a:p>
            <a:pPr algn="l">
              <a:lnSpc>
                <a:spcPct val="120000"/>
              </a:lnSpc>
              <a:spcAft>
                <a:spcPts val="0"/>
              </a:spcAft>
            </a:pPr>
            <a:r>
              <a:rPr sz="1600" b="0">
                <a:solidFill>
                  <a:srgbClr val="586C71"/>
                </a:solidFill>
                <a:latin typeface="Aptos"/>
              </a:rPr>
              <a:t>Deskripsi: transaksi harian per cabang</a:t>
            </a:r>
          </a:p>
          <a:p>
            <a:pPr algn="l">
              <a:lnSpc>
                <a:spcPct val="120000"/>
              </a:lnSpc>
              <a:spcAft>
                <a:spcPts val="0"/>
              </a:spcAft>
            </a:pPr>
            <a:r>
              <a:rPr sz="1600" b="0">
                <a:solidFill>
                  <a:srgbClr val="586C71"/>
                </a:solidFill>
                <a:latin typeface="Aptos"/>
              </a:rPr>
              <a:t>Jadwal: Tanpa jadwal (awal)</a:t>
            </a:r>
          </a:p>
        </p:txBody>
      </p:sp>
      <p:sp>
        <p:nvSpPr>
          <p:cNvPr id="13" name="Rounded Rectangle 12"/>
          <p:cNvSpPr/>
          <p:nvPr/>
        </p:nvSpPr>
        <p:spPr>
          <a:xfrm>
            <a:off x="6236208" y="1865376"/>
            <a:ext cx="5184648" cy="350215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36208" y="2066544"/>
            <a:ext cx="54864" cy="3099816"/>
          </a:xfrm>
          <a:prstGeom prst="roundRect">
            <a:avLst>
              <a:gd name="adj" fmla="val 18000"/>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048256"/>
            <a:ext cx="4764024" cy="475488"/>
          </a:xfrm>
          <a:prstGeom prst="rect">
            <a:avLst/>
          </a:prstGeom>
          <a:noFill/>
        </p:spPr>
        <p:txBody>
          <a:bodyPr wrap="square" lIns="27432" rIns="27432" tIns="27432" bIns="27432" anchor="ctr">
            <a:spAutoFit/>
          </a:bodyPr>
          <a:lstStyle/>
          <a:p>
            <a:pPr algn="l">
              <a:lnSpc>
                <a:spcPct val="108000"/>
              </a:lnSpc>
              <a:spcAft>
                <a:spcPts val="0"/>
              </a:spcAft>
            </a:pPr>
            <a:r>
              <a:rPr sz="2000" b="1">
                <a:solidFill>
                  <a:srgbClr val="1A2F37"/>
                </a:solidFill>
                <a:latin typeface="Aptos"/>
              </a:rPr>
              <a:t>Konteks &amp; tanggung jawab</a:t>
            </a:r>
          </a:p>
        </p:txBody>
      </p:sp>
      <p:sp>
        <p:nvSpPr>
          <p:cNvPr id="16" name="TextBox 15"/>
          <p:cNvSpPr txBox="1"/>
          <p:nvPr/>
        </p:nvSpPr>
        <p:spPr>
          <a:xfrm>
            <a:off x="6455664" y="2578608"/>
            <a:ext cx="4745736" cy="2606040"/>
          </a:xfrm>
          <a:prstGeom prst="rect">
            <a:avLst/>
          </a:prstGeom>
          <a:noFill/>
        </p:spPr>
        <p:txBody>
          <a:bodyPr wrap="square" lIns="27432" rIns="27432" tIns="27432" bIns="27432" anchor="t">
            <a:spAutoFit/>
          </a:bodyPr>
          <a:lstStyle/>
          <a:p>
            <a:pPr algn="l">
              <a:lnSpc>
                <a:spcPct val="120000"/>
              </a:lnSpc>
              <a:spcAft>
                <a:spcPts val="0"/>
              </a:spcAft>
            </a:pPr>
            <a:r>
              <a:rPr sz="1450" b="0">
                <a:solidFill>
                  <a:srgbClr val="586C71"/>
                </a:solidFill>
                <a:latin typeface="Aptos"/>
              </a:rPr>
              <a:t>Unit: Departemen Keuangan</a:t>
            </a:r>
          </a:p>
          <a:p>
            <a:pPr algn="l">
              <a:lnSpc>
                <a:spcPct val="120000"/>
              </a:lnSpc>
              <a:spcAft>
                <a:spcPts val="0"/>
              </a:spcAft>
            </a:pPr>
            <a:r>
              <a:rPr sz="1450" b="0">
                <a:solidFill>
                  <a:srgbClr val="586C71"/>
                </a:solidFill>
                <a:latin typeface="Aptos"/>
              </a:rPr>
              <a:t>Domain: Penjualan · Yurisdiksi: Jawa Timur</a:t>
            </a:r>
          </a:p>
          <a:p>
            <a:pPr algn="l">
              <a:lnSpc>
                <a:spcPct val="120000"/>
              </a:lnSpc>
              <a:spcAft>
                <a:spcPts val="0"/>
              </a:spcAft>
            </a:pPr>
            <a:r>
              <a:rPr sz="1450" b="0">
                <a:solidFill>
                  <a:srgbClr val="586C71"/>
                </a:solidFill>
                <a:latin typeface="Aptos"/>
              </a:rPr>
              <a:t>Purpose: Analitik Manajemen</a:t>
            </a:r>
          </a:p>
          <a:p>
            <a:pPr algn="l">
              <a:lnSpc>
                <a:spcPct val="120000"/>
              </a:lnSpc>
              <a:spcAft>
                <a:spcPts val="0"/>
              </a:spcAft>
            </a:pPr>
            <a:r>
              <a:rPr sz="1450" b="0">
                <a:solidFill>
                  <a:srgbClr val="586C71"/>
                </a:solidFill>
                <a:latin typeface="Aptos"/>
              </a:rPr>
              <a:t>Owner &amp; steward: pilih akun yang tepat</a:t>
            </a:r>
          </a:p>
          <a:p>
            <a:pPr algn="l">
              <a:lnSpc>
                <a:spcPct val="120000"/>
              </a:lnSpc>
              <a:spcAft>
                <a:spcPts val="0"/>
              </a:spcAft>
            </a:pPr>
            <a:r>
              <a:rPr sz="1450" b="0">
                <a:solidFill>
                  <a:srgbClr val="586C71"/>
                </a:solidFill>
                <a:latin typeface="Aptos"/>
              </a:rPr>
              <a:t>Sensitivitas: LOW jika sesuai klasifikasi</a:t>
            </a:r>
          </a:p>
        </p:txBody>
      </p:sp>
      <p:sp>
        <p:nvSpPr>
          <p:cNvPr id="17" name="TextBox 16"/>
          <p:cNvSpPr txBox="1"/>
          <p:nvPr/>
        </p:nvSpPr>
        <p:spPr>
          <a:xfrm>
            <a:off x="859536" y="5641848"/>
            <a:ext cx="10881360" cy="411480"/>
          </a:xfrm>
          <a:prstGeom prst="rect">
            <a:avLst/>
          </a:prstGeom>
          <a:noFill/>
        </p:spPr>
        <p:txBody>
          <a:bodyPr wrap="square" lIns="27432" rIns="27432" tIns="27432" bIns="27432" anchor="ctr">
            <a:spAutoFit/>
          </a:bodyPr>
          <a:lstStyle/>
          <a:p>
            <a:pPr algn="ctr">
              <a:lnSpc>
                <a:spcPct val="108000"/>
              </a:lnSpc>
              <a:spcAft>
                <a:spcPts val="0"/>
              </a:spcAft>
            </a:pPr>
            <a:r>
              <a:rPr sz="1350" b="1">
                <a:solidFill>
                  <a:srgbClr val="096752"/>
                </a:solidFill>
                <a:latin typeface="Aptos"/>
              </a:rPr>
              <a:t>Kode sumber dan UUID dibuat sistem; spreadsheet harus dibagikan kepada service account sebagai Viewer.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38328"/>
            <a:ext cx="9601200" cy="256032"/>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096752"/>
                </a:solidFill>
                <a:latin typeface="Aptos"/>
              </a:rPr>
              <a:t>CONTOH FORM · 4/4</a:t>
            </a:r>
          </a:p>
        </p:txBody>
      </p:sp>
      <p:sp>
        <p:nvSpPr>
          <p:cNvPr id="4" name="TextBox 3"/>
          <p:cNvSpPr txBox="1"/>
          <p:nvPr/>
        </p:nvSpPr>
        <p:spPr>
          <a:xfrm>
            <a:off x="658368" y="713232"/>
            <a:ext cx="10835640" cy="621792"/>
          </a:xfrm>
          <a:prstGeom prst="rect">
            <a:avLst/>
          </a:prstGeom>
          <a:noFill/>
        </p:spPr>
        <p:txBody>
          <a:bodyPr wrap="square" lIns="27432" rIns="27432" tIns="27432" bIns="27432" anchor="ctr">
            <a:spAutoFit/>
          </a:bodyPr>
          <a:lstStyle/>
          <a:p>
            <a:pPr algn="l">
              <a:lnSpc>
                <a:spcPct val="108000"/>
              </a:lnSpc>
              <a:spcAft>
                <a:spcPts val="0"/>
              </a:spcAft>
            </a:pPr>
            <a:r>
              <a:rPr sz="2800" b="1">
                <a:solidFill>
                  <a:srgbClr val="1A2F37"/>
                </a:solidFill>
                <a:latin typeface="Aptos"/>
              </a:rPr>
              <a:t>Contoh isian: master hingga dashboard</a:t>
            </a:r>
          </a:p>
        </p:txBody>
      </p:sp>
      <p:cxnSp>
        <p:nvCxnSpPr>
          <p:cNvPr id="5" name="Connector 4"/>
          <p:cNvCxnSpPr/>
          <p:nvPr/>
        </p:nvCxnSpPr>
        <p:spPr>
          <a:xfrm>
            <a:off x="676656" y="6492240"/>
            <a:ext cx="10799064" cy="0"/>
          </a:xfrm>
          <a:prstGeom prst="line">
            <a:avLst/>
          </a:prstGeom>
          <a:ln w="16510">
            <a:solidFill>
              <a:srgbClr val="DBE6E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76656" y="6537960"/>
            <a:ext cx="7132320" cy="164592"/>
          </a:xfrm>
          <a:prstGeom prst="rect">
            <a:avLst/>
          </a:prstGeom>
          <a:noFill/>
        </p:spPr>
        <p:txBody>
          <a:bodyPr wrap="square" lIns="27432" rIns="27432" tIns="27432" bIns="27432" anchor="ctr">
            <a:spAutoFit/>
          </a:bodyPr>
          <a:lstStyle/>
          <a:p>
            <a:pPr algn="l">
              <a:lnSpc>
                <a:spcPct val="108000"/>
              </a:lnSpc>
              <a:spcAft>
                <a:spcPts val="0"/>
              </a:spcAft>
            </a:pPr>
            <a:r>
              <a:rPr sz="850" b="0">
                <a:solidFill>
                  <a:srgbClr val="586C71"/>
                </a:solidFill>
                <a:latin typeface="Aptos"/>
              </a:rPr>
              <a:t>GOOGLE SHEET AI  ·  TINJAUAN APLIKASI</a:t>
            </a:r>
          </a:p>
        </p:txBody>
      </p:sp>
      <p:sp>
        <p:nvSpPr>
          <p:cNvPr id="7" name="TextBox 6"/>
          <p:cNvSpPr txBox="1"/>
          <p:nvPr/>
        </p:nvSpPr>
        <p:spPr>
          <a:xfrm>
            <a:off x="10972800" y="6519672"/>
            <a:ext cx="502920" cy="192024"/>
          </a:xfrm>
          <a:prstGeom prst="rect">
            <a:avLst/>
          </a:prstGeom>
          <a:noFill/>
        </p:spPr>
        <p:txBody>
          <a:bodyPr wrap="square" lIns="27432" rIns="27432" tIns="27432" bIns="27432" anchor="ctr">
            <a:spAutoFit/>
          </a:bodyPr>
          <a:lstStyle/>
          <a:p>
            <a:pPr algn="r">
              <a:lnSpc>
                <a:spcPct val="108000"/>
              </a:lnSpc>
              <a:spcAft>
                <a:spcPts val="0"/>
              </a:spcAft>
            </a:pPr>
            <a:r>
              <a:rPr sz="950" b="0">
                <a:solidFill>
                  <a:srgbClr val="586C71"/>
                </a:solidFill>
                <a:latin typeface="Aptos"/>
              </a:rPr>
              <a:t>18</a:t>
            </a:r>
          </a:p>
        </p:txBody>
      </p:sp>
      <p:sp>
        <p:nvSpPr>
          <p:cNvPr id="8" name="Rounded Rectangle 7"/>
          <p:cNvSpPr/>
          <p:nvPr/>
        </p:nvSpPr>
        <p:spPr>
          <a:xfrm>
            <a:off x="731520" y="1828800"/>
            <a:ext cx="3163824" cy="2523744"/>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2029968"/>
            <a:ext cx="54864" cy="2121408"/>
          </a:xfrm>
          <a:prstGeom prst="roundRect">
            <a:avLst>
              <a:gd name="adj" fmla="val 18000"/>
            </a:avLst>
          </a:prstGeom>
          <a:solidFill>
            <a:srgbClr val="09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011680"/>
            <a:ext cx="2743200" cy="475488"/>
          </a:xfrm>
          <a:prstGeom prst="rect">
            <a:avLst/>
          </a:prstGeom>
          <a:noFill/>
        </p:spPr>
        <p:txBody>
          <a:bodyPr wrap="square" lIns="27432" rIns="27432" tIns="27432" bIns="27432" anchor="ctr">
            <a:spAutoFit/>
          </a:bodyPr>
          <a:lstStyle/>
          <a:p>
            <a:pPr algn="l">
              <a:lnSpc>
                <a:spcPct val="108000"/>
              </a:lnSpc>
              <a:spcAft>
                <a:spcPts val="0"/>
              </a:spcAft>
            </a:pPr>
            <a:r>
              <a:rPr sz="1800" b="1">
                <a:solidFill>
                  <a:srgbClr val="1A2F37"/>
                </a:solidFill>
                <a:latin typeface="Aptos"/>
              </a:rPr>
              <a:t>MASTER · Cabang</a:t>
            </a:r>
          </a:p>
        </p:txBody>
      </p:sp>
      <p:sp>
        <p:nvSpPr>
          <p:cNvPr id="11" name="TextBox 10"/>
          <p:cNvSpPr txBox="1"/>
          <p:nvPr/>
        </p:nvSpPr>
        <p:spPr>
          <a:xfrm>
            <a:off x="950976" y="2542032"/>
            <a:ext cx="2724912" cy="1627631"/>
          </a:xfrm>
          <a:prstGeom prst="rect">
            <a:avLst/>
          </a:prstGeom>
          <a:noFill/>
        </p:spPr>
        <p:txBody>
          <a:bodyPr wrap="square" lIns="27432" rIns="27432" tIns="27432" bIns="27432" anchor="t">
            <a:spAutoFit/>
          </a:bodyPr>
          <a:lstStyle/>
          <a:p>
            <a:pPr algn="l">
              <a:lnSpc>
                <a:spcPct val="120000"/>
              </a:lnSpc>
              <a:spcAft>
                <a:spcPts val="0"/>
              </a:spcAft>
            </a:pPr>
            <a:r>
              <a:rPr sz="1350" b="0">
                <a:solidFill>
                  <a:srgbClr val="586C71"/>
                </a:solidFill>
                <a:latin typeface="Aptos"/>
              </a:rPr>
              <a:t>Kode registry: cabang</a:t>
            </a:r>
          </a:p>
          <a:p>
            <a:pPr algn="l">
              <a:lnSpc>
                <a:spcPct val="120000"/>
              </a:lnSpc>
              <a:spcAft>
                <a:spcPts val="0"/>
              </a:spcAft>
            </a:pPr>
            <a:r>
              <a:rPr sz="1350" b="0">
                <a:solidFill>
                  <a:srgbClr val="586C71"/>
                </a:solidFill>
                <a:latin typeface="Aptos"/>
              </a:rPr>
              <a:t>Business key: kode_cabang</a:t>
            </a:r>
          </a:p>
          <a:p>
            <a:pPr algn="l">
              <a:lnSpc>
                <a:spcPct val="120000"/>
              </a:lnSpc>
              <a:spcAft>
                <a:spcPts val="0"/>
              </a:spcAft>
            </a:pPr>
            <a:r>
              <a:rPr sz="1350" b="0">
                <a:solidFill>
                  <a:srgbClr val="586C71"/>
                </a:solidFill>
                <a:latin typeface="Aptos"/>
              </a:rPr>
              <a:t>Label: nama_cabang</a:t>
            </a:r>
          </a:p>
          <a:p>
            <a:pPr algn="l">
              <a:lnSpc>
                <a:spcPct val="120000"/>
              </a:lnSpc>
              <a:spcAft>
                <a:spcPts val="0"/>
              </a:spcAft>
            </a:pPr>
            <a:r>
              <a:rPr sz="1350" b="0">
                <a:solidFill>
                  <a:srgbClr val="586C71"/>
                </a:solidFill>
                <a:latin typeface="Aptos"/>
              </a:rPr>
              <a:t>Contoh nilai: CBG01 / Malang</a:t>
            </a:r>
          </a:p>
        </p:txBody>
      </p:sp>
      <p:sp>
        <p:nvSpPr>
          <p:cNvPr id="12" name="Chevron 11"/>
          <p:cNvSpPr/>
          <p:nvPr/>
        </p:nvSpPr>
        <p:spPr>
          <a:xfrm>
            <a:off x="4105656" y="2907792"/>
            <a:ext cx="256032" cy="256032"/>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72000" y="1828800"/>
            <a:ext cx="3163824" cy="2523744"/>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72000" y="2029968"/>
            <a:ext cx="54864" cy="2121408"/>
          </a:xfrm>
          <a:prstGeom prst="roundRect">
            <a:avLst>
              <a:gd name="adj" fmla="val 18000"/>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456" y="2011680"/>
            <a:ext cx="2743200" cy="475488"/>
          </a:xfrm>
          <a:prstGeom prst="rect">
            <a:avLst/>
          </a:prstGeom>
          <a:noFill/>
        </p:spPr>
        <p:txBody>
          <a:bodyPr wrap="square" lIns="27432" rIns="27432" tIns="27432" bIns="27432" anchor="ctr">
            <a:spAutoFit/>
          </a:bodyPr>
          <a:lstStyle/>
          <a:p>
            <a:pPr algn="l">
              <a:lnSpc>
                <a:spcPct val="108000"/>
              </a:lnSpc>
              <a:spcAft>
                <a:spcPts val="0"/>
              </a:spcAft>
            </a:pPr>
            <a:r>
              <a:rPr sz="1800" b="1">
                <a:solidFill>
                  <a:srgbClr val="1A2F37"/>
                </a:solidFill>
                <a:latin typeface="Aptos"/>
              </a:rPr>
              <a:t>NON-MASTER · Penjualan</a:t>
            </a:r>
          </a:p>
        </p:txBody>
      </p:sp>
      <p:sp>
        <p:nvSpPr>
          <p:cNvPr id="16" name="TextBox 15"/>
          <p:cNvSpPr txBox="1"/>
          <p:nvPr/>
        </p:nvSpPr>
        <p:spPr>
          <a:xfrm>
            <a:off x="4791456" y="2542032"/>
            <a:ext cx="2724912" cy="1627631"/>
          </a:xfrm>
          <a:prstGeom prst="rect">
            <a:avLst/>
          </a:prstGeom>
          <a:noFill/>
        </p:spPr>
        <p:txBody>
          <a:bodyPr wrap="square" lIns="27432" rIns="27432" tIns="27432" bIns="27432" anchor="t">
            <a:spAutoFit/>
          </a:bodyPr>
          <a:lstStyle/>
          <a:p>
            <a:pPr algn="l">
              <a:lnSpc>
                <a:spcPct val="120000"/>
              </a:lnSpc>
              <a:spcAft>
                <a:spcPts val="0"/>
              </a:spcAft>
            </a:pPr>
            <a:r>
              <a:rPr sz="1350" b="0">
                <a:solidFill>
                  <a:srgbClr val="586C71"/>
                </a:solidFill>
                <a:latin typeface="Aptos"/>
              </a:rPr>
              <a:t>tanggal · kode_cabang</a:t>
            </a:r>
          </a:p>
          <a:p>
            <a:pPr algn="l">
              <a:lnSpc>
                <a:spcPct val="120000"/>
              </a:lnSpc>
              <a:spcAft>
                <a:spcPts val="0"/>
              </a:spcAft>
            </a:pPr>
            <a:r>
              <a:rPr sz="1350" b="0">
                <a:solidFill>
                  <a:srgbClr val="586C71"/>
                </a:solidFill>
                <a:latin typeface="Aptos"/>
              </a:rPr>
              <a:t>nomor_transaksi</a:t>
            </a:r>
          </a:p>
          <a:p>
            <a:pPr algn="l">
              <a:lnSpc>
                <a:spcPct val="120000"/>
              </a:lnSpc>
              <a:spcAft>
                <a:spcPts val="0"/>
              </a:spcAft>
            </a:pPr>
            <a:r>
              <a:rPr sz="1350" b="0">
                <a:solidFill>
                  <a:srgbClr val="586C71"/>
                </a:solidFill>
                <a:latin typeface="Aptos"/>
              </a:rPr>
              <a:t>nilai_penjualan</a:t>
            </a:r>
          </a:p>
          <a:p>
            <a:pPr algn="l">
              <a:lnSpc>
                <a:spcPct val="120000"/>
              </a:lnSpc>
              <a:spcAft>
                <a:spcPts val="0"/>
              </a:spcAft>
            </a:pPr>
            <a:r>
              <a:rPr sz="1350" b="0">
                <a:solidFill>
                  <a:srgbClr val="586C71"/>
                </a:solidFill>
                <a:latin typeface="Aptos"/>
              </a:rPr>
              <a:t>Contoh: 2026-10-01 / CBG01</a:t>
            </a:r>
          </a:p>
        </p:txBody>
      </p:sp>
      <p:sp>
        <p:nvSpPr>
          <p:cNvPr id="17" name="Chevron 16"/>
          <p:cNvSpPr/>
          <p:nvPr/>
        </p:nvSpPr>
        <p:spPr>
          <a:xfrm>
            <a:off x="7946136" y="2907792"/>
            <a:ext cx="256032" cy="256032"/>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403336" y="1828800"/>
            <a:ext cx="3063240" cy="2523744"/>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403336" y="2029968"/>
            <a:ext cx="54864" cy="2121408"/>
          </a:xfrm>
          <a:prstGeom prst="roundRect">
            <a:avLst>
              <a:gd name="adj" fmla="val 18000"/>
            </a:avLst>
          </a:prstGeom>
          <a:solidFill>
            <a:srgbClr val="CF8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2011680"/>
            <a:ext cx="2642616" cy="475488"/>
          </a:xfrm>
          <a:prstGeom prst="rect">
            <a:avLst/>
          </a:prstGeom>
          <a:noFill/>
        </p:spPr>
        <p:txBody>
          <a:bodyPr wrap="square" lIns="27432" rIns="27432" tIns="27432" bIns="27432" anchor="ctr">
            <a:spAutoFit/>
          </a:bodyPr>
          <a:lstStyle/>
          <a:p>
            <a:pPr algn="l">
              <a:lnSpc>
                <a:spcPct val="108000"/>
              </a:lnSpc>
              <a:spcAft>
                <a:spcPts val="0"/>
              </a:spcAft>
            </a:pPr>
            <a:r>
              <a:rPr sz="1800" b="1">
                <a:solidFill>
                  <a:srgbClr val="1A2F37"/>
                </a:solidFill>
                <a:latin typeface="Aptos"/>
              </a:rPr>
              <a:t>ANALITIK</a:t>
            </a:r>
          </a:p>
        </p:txBody>
      </p:sp>
      <p:sp>
        <p:nvSpPr>
          <p:cNvPr id="21" name="TextBox 20"/>
          <p:cNvSpPr txBox="1"/>
          <p:nvPr/>
        </p:nvSpPr>
        <p:spPr>
          <a:xfrm>
            <a:off x="8622792" y="2542032"/>
            <a:ext cx="2624328" cy="1627631"/>
          </a:xfrm>
          <a:prstGeom prst="rect">
            <a:avLst/>
          </a:prstGeom>
          <a:noFill/>
        </p:spPr>
        <p:txBody>
          <a:bodyPr wrap="square" lIns="27432" rIns="27432" tIns="27432" bIns="27432" anchor="t">
            <a:spAutoFit/>
          </a:bodyPr>
          <a:lstStyle/>
          <a:p>
            <a:pPr algn="l">
              <a:lnSpc>
                <a:spcPct val="120000"/>
              </a:lnSpc>
              <a:spcAft>
                <a:spcPts val="0"/>
              </a:spcAft>
            </a:pPr>
            <a:r>
              <a:rPr sz="1350" b="0">
                <a:solidFill>
                  <a:srgbClr val="586C71"/>
                </a:solidFill>
                <a:latin typeface="Aptos"/>
              </a:rPr>
              <a:t>Dimensi: tanggal, cabang</a:t>
            </a:r>
          </a:p>
          <a:p>
            <a:pPr algn="l">
              <a:lnSpc>
                <a:spcPct val="120000"/>
              </a:lnSpc>
              <a:spcAft>
                <a:spcPts val="0"/>
              </a:spcAft>
            </a:pPr>
            <a:r>
              <a:rPr sz="1350" b="0">
                <a:solidFill>
                  <a:srgbClr val="586C71"/>
                </a:solidFill>
                <a:latin typeface="Aptos"/>
              </a:rPr>
              <a:t>Metrik: total_penjualan</a:t>
            </a:r>
          </a:p>
          <a:p>
            <a:pPr algn="l">
              <a:lnSpc>
                <a:spcPct val="120000"/>
              </a:lnSpc>
              <a:spcAft>
                <a:spcPts val="0"/>
              </a:spcAft>
            </a:pPr>
            <a:r>
              <a:rPr sz="1350" b="0">
                <a:solidFill>
                  <a:srgbClr val="586C71"/>
                </a:solidFill>
                <a:latin typeface="Aptos"/>
              </a:rPr>
              <a:t>Tabel / chart sesuai izin</a:t>
            </a:r>
          </a:p>
        </p:txBody>
      </p:sp>
      <p:sp>
        <p:nvSpPr>
          <p:cNvPr id="22" name="Rounded Rectangle 21"/>
          <p:cNvSpPr/>
          <p:nvPr/>
        </p:nvSpPr>
        <p:spPr>
          <a:xfrm>
            <a:off x="1106424" y="4919472"/>
            <a:ext cx="9957816" cy="758952"/>
          </a:xfrm>
          <a:prstGeom prst="roundRect">
            <a:avLst>
              <a:gd name="adj" fmla="val 18000"/>
            </a:avLst>
          </a:prstGeom>
          <a:solidFill>
            <a:srgbClr val="0C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16736" y="5056632"/>
            <a:ext cx="9491472" cy="457200"/>
          </a:xfrm>
          <a:prstGeom prst="rect">
            <a:avLst/>
          </a:prstGeom>
          <a:noFill/>
        </p:spPr>
        <p:txBody>
          <a:bodyPr wrap="square" lIns="27432" rIns="27432" tIns="27432" bIns="27432" anchor="ctr">
            <a:spAutoFit/>
          </a:bodyPr>
          <a:lstStyle/>
          <a:p>
            <a:pPr algn="ctr">
              <a:lnSpc>
                <a:spcPct val="108000"/>
              </a:lnSpc>
              <a:spcAft>
                <a:spcPts val="0"/>
              </a:spcAft>
            </a:pPr>
            <a:r>
              <a:rPr sz="1900" b="1">
                <a:solidFill>
                  <a:srgbClr val="FFFFFF"/>
                </a:solidFill>
                <a:latin typeface="Aptos"/>
              </a:rPr>
              <a:t>“Tampilkan total penjualan per cabang bulan ini.”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38328"/>
            <a:ext cx="9601200" cy="256032"/>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096752"/>
                </a:solidFill>
                <a:latin typeface="Aptos"/>
              </a:rPr>
              <a:t>TATA KELOLA · KEPUTUSAN</a:t>
            </a:r>
          </a:p>
        </p:txBody>
      </p:sp>
      <p:sp>
        <p:nvSpPr>
          <p:cNvPr id="4" name="TextBox 3"/>
          <p:cNvSpPr txBox="1"/>
          <p:nvPr/>
        </p:nvSpPr>
        <p:spPr>
          <a:xfrm>
            <a:off x="658368" y="713232"/>
            <a:ext cx="10835640" cy="621792"/>
          </a:xfrm>
          <a:prstGeom prst="rect">
            <a:avLst/>
          </a:prstGeom>
          <a:noFill/>
        </p:spPr>
        <p:txBody>
          <a:bodyPr wrap="square" lIns="27432" rIns="27432" tIns="27432" bIns="27432" anchor="ctr">
            <a:spAutoFit/>
          </a:bodyPr>
          <a:lstStyle/>
          <a:p>
            <a:pPr algn="l">
              <a:lnSpc>
                <a:spcPct val="108000"/>
              </a:lnSpc>
              <a:spcAft>
                <a:spcPts val="0"/>
              </a:spcAft>
            </a:pPr>
            <a:r>
              <a:rPr sz="2800" b="1">
                <a:solidFill>
                  <a:srgbClr val="1A2F37"/>
                </a:solidFill>
                <a:latin typeface="Aptos"/>
              </a:rPr>
              <a:t>Akses multi-unit dan approver</a:t>
            </a:r>
          </a:p>
        </p:txBody>
      </p:sp>
      <p:sp>
        <p:nvSpPr>
          <p:cNvPr id="5" name="TextBox 4"/>
          <p:cNvSpPr txBox="1"/>
          <p:nvPr/>
        </p:nvSpPr>
        <p:spPr>
          <a:xfrm>
            <a:off x="685800" y="1362456"/>
            <a:ext cx="10744200" cy="438912"/>
          </a:xfrm>
          <a:prstGeom prst="rect">
            <a:avLst/>
          </a:prstGeom>
          <a:noFill/>
        </p:spPr>
        <p:txBody>
          <a:bodyPr wrap="square" lIns="27432" rIns="27432" tIns="27432" bIns="27432" anchor="ctr">
            <a:spAutoFit/>
          </a:bodyPr>
          <a:lstStyle/>
          <a:p>
            <a:pPr algn="l">
              <a:lnSpc>
                <a:spcPct val="108000"/>
              </a:lnSpc>
              <a:spcAft>
                <a:spcPts val="0"/>
              </a:spcAft>
            </a:pPr>
            <a:r>
              <a:rPr sz="1300" b="0">
                <a:solidFill>
                  <a:srgbClr val="586C71"/>
                </a:solidFill>
                <a:latin typeface="Aptos"/>
              </a:rPr>
              <a:t>Daftar unit untuk melihat data; daftar reviewer untuk keputusan pada sumber.</a:t>
            </a:r>
          </a:p>
        </p:txBody>
      </p:sp>
      <p:cxnSp>
        <p:nvCxnSpPr>
          <p:cNvPr id="6" name="Connector 5"/>
          <p:cNvCxnSpPr/>
          <p:nvPr/>
        </p:nvCxnSpPr>
        <p:spPr>
          <a:xfrm>
            <a:off x="676656" y="6492240"/>
            <a:ext cx="10799064" cy="0"/>
          </a:xfrm>
          <a:prstGeom prst="line">
            <a:avLst/>
          </a:prstGeom>
          <a:ln w="16510">
            <a:solidFill>
              <a:srgbClr val="DBE6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 y="6537960"/>
            <a:ext cx="7132320" cy="164592"/>
          </a:xfrm>
          <a:prstGeom prst="rect">
            <a:avLst/>
          </a:prstGeom>
          <a:noFill/>
        </p:spPr>
        <p:txBody>
          <a:bodyPr wrap="square" lIns="27432" rIns="27432" tIns="27432" bIns="27432" anchor="ctr">
            <a:spAutoFit/>
          </a:bodyPr>
          <a:lstStyle/>
          <a:p>
            <a:pPr algn="l">
              <a:lnSpc>
                <a:spcPct val="108000"/>
              </a:lnSpc>
              <a:spcAft>
                <a:spcPts val="0"/>
              </a:spcAft>
            </a:pPr>
            <a:r>
              <a:rPr sz="850" b="0">
                <a:solidFill>
                  <a:srgbClr val="586C71"/>
                </a:solidFill>
                <a:latin typeface="Aptos"/>
              </a:rPr>
              <a:t>GOOGLE SHEET AI  ·  TINJAUAN APLIKASI</a:t>
            </a:r>
          </a:p>
        </p:txBody>
      </p:sp>
      <p:sp>
        <p:nvSpPr>
          <p:cNvPr id="8" name="TextBox 7"/>
          <p:cNvSpPr txBox="1"/>
          <p:nvPr/>
        </p:nvSpPr>
        <p:spPr>
          <a:xfrm>
            <a:off x="10972800" y="6519672"/>
            <a:ext cx="502920" cy="192024"/>
          </a:xfrm>
          <a:prstGeom prst="rect">
            <a:avLst/>
          </a:prstGeom>
          <a:noFill/>
        </p:spPr>
        <p:txBody>
          <a:bodyPr wrap="square" lIns="27432" rIns="27432" tIns="27432" bIns="27432" anchor="ctr">
            <a:spAutoFit/>
          </a:bodyPr>
          <a:lstStyle/>
          <a:p>
            <a:pPr algn="r">
              <a:lnSpc>
                <a:spcPct val="108000"/>
              </a:lnSpc>
              <a:spcAft>
                <a:spcPts val="0"/>
              </a:spcAft>
            </a:pPr>
            <a:r>
              <a:rPr sz="950" b="0">
                <a:solidFill>
                  <a:srgbClr val="586C71"/>
                </a:solidFill>
                <a:latin typeface="Aptos"/>
              </a:rPr>
              <a:t>19</a:t>
            </a:r>
          </a:p>
        </p:txBody>
      </p:sp>
      <p:sp>
        <p:nvSpPr>
          <p:cNvPr id="9" name="Rounded Rectangle 8"/>
          <p:cNvSpPr/>
          <p:nvPr/>
        </p:nvSpPr>
        <p:spPr>
          <a:xfrm>
            <a:off x="658368" y="1892807"/>
            <a:ext cx="3246120" cy="336499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8" y="2093976"/>
            <a:ext cx="54864" cy="2962656"/>
          </a:xfrm>
          <a:prstGeom prst="roundRect">
            <a:avLst>
              <a:gd name="adj" fmla="val 18000"/>
            </a:avLst>
          </a:prstGeom>
          <a:solidFill>
            <a:srgbClr val="09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2075688"/>
            <a:ext cx="2825496" cy="475488"/>
          </a:xfrm>
          <a:prstGeom prst="rect">
            <a:avLst/>
          </a:prstGeom>
          <a:noFill/>
        </p:spPr>
        <p:txBody>
          <a:bodyPr wrap="square" lIns="27432" rIns="27432" tIns="27432" bIns="27432" anchor="ctr">
            <a:spAutoFit/>
          </a:bodyPr>
          <a:lstStyle/>
          <a:p>
            <a:pPr algn="l">
              <a:lnSpc>
                <a:spcPct val="108000"/>
              </a:lnSpc>
              <a:spcAft>
                <a:spcPts val="0"/>
              </a:spcAft>
            </a:pPr>
            <a:r>
              <a:rPr sz="1700" b="1">
                <a:solidFill>
                  <a:srgbClr val="1A2F37"/>
                </a:solidFill>
                <a:latin typeface="Aptos"/>
              </a:rPr>
              <a:t>Manajer Penjualan</a:t>
            </a:r>
          </a:p>
        </p:txBody>
      </p:sp>
      <p:sp>
        <p:nvSpPr>
          <p:cNvPr id="12" name="TextBox 11"/>
          <p:cNvSpPr txBox="1"/>
          <p:nvPr/>
        </p:nvSpPr>
        <p:spPr>
          <a:xfrm>
            <a:off x="877824" y="2606039"/>
            <a:ext cx="2807208" cy="2468880"/>
          </a:xfrm>
          <a:prstGeom prst="rect">
            <a:avLst/>
          </a:prstGeom>
          <a:noFill/>
        </p:spPr>
        <p:txBody>
          <a:bodyPr wrap="square" lIns="27432" rIns="27432" tIns="27432" bIns="27432" anchor="t">
            <a:spAutoFit/>
          </a:bodyPr>
          <a:lstStyle/>
          <a:p>
            <a:pPr algn="l">
              <a:lnSpc>
                <a:spcPct val="120000"/>
              </a:lnSpc>
              <a:spcAft>
                <a:spcPts val="0"/>
              </a:spcAft>
            </a:pPr>
            <a:r>
              <a:rPr sz="1450" b="0">
                <a:solidFill>
                  <a:srgbClr val="586C71"/>
                </a:solidFill>
                <a:latin typeface="Aptos"/>
              </a:rPr>
              <a:t>Unit yang dipilih admin:</a:t>
            </a:r>
          </a:p>
          <a:p>
            <a:pPr algn="l">
              <a:lnSpc>
                <a:spcPct val="120000"/>
              </a:lnSpc>
              <a:spcAft>
                <a:spcPts val="0"/>
              </a:spcAft>
            </a:pPr>
            <a:r>
              <a:rPr sz="1450" b="0">
                <a:solidFill>
                  <a:srgbClr val="586C71"/>
                </a:solidFill>
                <a:latin typeface="Aptos"/>
              </a:rPr>
              <a:t>• Penjualan Malang</a:t>
            </a:r>
          </a:p>
          <a:p>
            <a:pPr algn="l">
              <a:lnSpc>
                <a:spcPct val="120000"/>
              </a:lnSpc>
              <a:spcAft>
                <a:spcPts val="0"/>
              </a:spcAft>
            </a:pPr>
            <a:r>
              <a:rPr sz="1450" b="0">
                <a:solidFill>
                  <a:srgbClr val="586C71"/>
                </a:solidFill>
                <a:latin typeface="Aptos"/>
              </a:rPr>
              <a:t>• Penjualan Surabaya</a:t>
            </a:r>
          </a:p>
          <a:p>
            <a:pPr algn="l">
              <a:lnSpc>
                <a:spcPct val="120000"/>
              </a:lnSpc>
              <a:spcAft>
                <a:spcPts val="0"/>
              </a:spcAft>
            </a:pPr>
          </a:p>
          <a:p>
            <a:pPr algn="l">
              <a:lnSpc>
                <a:spcPct val="120000"/>
              </a:lnSpc>
              <a:spcAft>
                <a:spcPts val="0"/>
              </a:spcAft>
            </a:pPr>
            <a:r>
              <a:rPr sz="1450" b="0">
                <a:solidFill>
                  <a:srgbClr val="586C71"/>
                </a:solidFill>
                <a:latin typeface="Aptos"/>
              </a:rPr>
              <a:t>Induk organisasi tidak otomatis membuka unit bawahan.</a:t>
            </a:r>
          </a:p>
        </p:txBody>
      </p:sp>
      <p:sp>
        <p:nvSpPr>
          <p:cNvPr id="13" name="Chevron 12"/>
          <p:cNvSpPr/>
          <p:nvPr/>
        </p:nvSpPr>
        <p:spPr>
          <a:xfrm>
            <a:off x="4050791" y="3163824"/>
            <a:ext cx="246888" cy="246888"/>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07992" y="1892807"/>
            <a:ext cx="3246120" cy="336499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07992" y="2093976"/>
            <a:ext cx="54864" cy="2962656"/>
          </a:xfrm>
          <a:prstGeom prst="roundRect">
            <a:avLst>
              <a:gd name="adj" fmla="val 18000"/>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27448" y="2075688"/>
            <a:ext cx="2825496" cy="475488"/>
          </a:xfrm>
          <a:prstGeom prst="rect">
            <a:avLst/>
          </a:prstGeom>
          <a:noFill/>
        </p:spPr>
        <p:txBody>
          <a:bodyPr wrap="square" lIns="27432" rIns="27432" tIns="27432" bIns="27432" anchor="ctr">
            <a:spAutoFit/>
          </a:bodyPr>
          <a:lstStyle/>
          <a:p>
            <a:pPr algn="l">
              <a:lnSpc>
                <a:spcPct val="108000"/>
              </a:lnSpc>
              <a:spcAft>
                <a:spcPts val="0"/>
              </a:spcAft>
            </a:pPr>
            <a:r>
              <a:rPr sz="1700" b="1">
                <a:solidFill>
                  <a:srgbClr val="1A2F37"/>
                </a:solidFill>
                <a:latin typeface="Aptos"/>
              </a:rPr>
              <a:t>Sumber Penjualan Malang</a:t>
            </a:r>
          </a:p>
        </p:txBody>
      </p:sp>
      <p:sp>
        <p:nvSpPr>
          <p:cNvPr id="17" name="TextBox 16"/>
          <p:cNvSpPr txBox="1"/>
          <p:nvPr/>
        </p:nvSpPr>
        <p:spPr>
          <a:xfrm>
            <a:off x="4727448" y="2606039"/>
            <a:ext cx="2807208" cy="2468880"/>
          </a:xfrm>
          <a:prstGeom prst="rect">
            <a:avLst/>
          </a:prstGeom>
          <a:noFill/>
        </p:spPr>
        <p:txBody>
          <a:bodyPr wrap="square" lIns="27432" rIns="27432" tIns="27432" bIns="27432" anchor="t">
            <a:spAutoFit/>
          </a:bodyPr>
          <a:lstStyle/>
          <a:p>
            <a:pPr algn="l">
              <a:lnSpc>
                <a:spcPct val="120000"/>
              </a:lnSpc>
              <a:spcAft>
                <a:spcPts val="0"/>
              </a:spcAft>
            </a:pPr>
            <a:r>
              <a:rPr sz="1450" b="0">
                <a:solidFill>
                  <a:srgbClr val="586C71"/>
                </a:solidFill>
                <a:latin typeface="Aptos"/>
              </a:rPr>
              <a:t>Metadata unit pemilik + domain + yurisdiksi</a:t>
            </a:r>
          </a:p>
          <a:p>
            <a:pPr algn="l">
              <a:lnSpc>
                <a:spcPct val="120000"/>
              </a:lnSpc>
              <a:spcAft>
                <a:spcPts val="0"/>
              </a:spcAft>
            </a:pPr>
            <a:r>
              <a:rPr sz="1450" b="0">
                <a:solidFill>
                  <a:srgbClr val="586C71"/>
                </a:solidFill>
                <a:latin typeface="Aptos"/>
              </a:rPr>
              <a:t>Policy aktif menentukan aksi baca/query</a:t>
            </a:r>
          </a:p>
          <a:p>
            <a:pPr algn="l">
              <a:lnSpc>
                <a:spcPct val="120000"/>
              </a:lnSpc>
              <a:spcAft>
                <a:spcPts val="0"/>
              </a:spcAft>
            </a:pPr>
            <a:r>
              <a:rPr sz="1450" b="0">
                <a:solidFill>
                  <a:srgbClr val="586C71"/>
                </a:solidFill>
                <a:latin typeface="Aptos"/>
              </a:rPr>
              <a:t>Penunjukan reviewer tidak membuka data.</a:t>
            </a:r>
          </a:p>
        </p:txBody>
      </p:sp>
      <p:sp>
        <p:nvSpPr>
          <p:cNvPr id="18" name="Chevron 17"/>
          <p:cNvSpPr/>
          <p:nvPr/>
        </p:nvSpPr>
        <p:spPr>
          <a:xfrm>
            <a:off x="7882127" y="3163824"/>
            <a:ext cx="246888" cy="246888"/>
          </a:xfrm>
          <a:prstGeom prst="chevron">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39327" y="1892807"/>
            <a:ext cx="3191256" cy="336499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339327" y="2093976"/>
            <a:ext cx="54864" cy="2962656"/>
          </a:xfrm>
          <a:prstGeom prst="roundRect">
            <a:avLst>
              <a:gd name="adj" fmla="val 18000"/>
            </a:avLst>
          </a:prstGeom>
          <a:solidFill>
            <a:srgbClr val="CF8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58784" y="2075688"/>
            <a:ext cx="2770632" cy="475488"/>
          </a:xfrm>
          <a:prstGeom prst="rect">
            <a:avLst/>
          </a:prstGeom>
          <a:noFill/>
        </p:spPr>
        <p:txBody>
          <a:bodyPr wrap="square" lIns="27432" rIns="27432" tIns="27432" bIns="27432" anchor="ctr">
            <a:spAutoFit/>
          </a:bodyPr>
          <a:lstStyle/>
          <a:p>
            <a:pPr algn="l">
              <a:lnSpc>
                <a:spcPct val="108000"/>
              </a:lnSpc>
              <a:spcAft>
                <a:spcPts val="0"/>
              </a:spcAft>
            </a:pPr>
            <a:r>
              <a:rPr sz="1700" b="1">
                <a:solidFill>
                  <a:srgbClr val="1A2F37"/>
                </a:solidFill>
                <a:latin typeface="Aptos"/>
              </a:rPr>
              <a:t>Reviewer ditunjuk</a:t>
            </a:r>
          </a:p>
        </p:txBody>
      </p:sp>
      <p:sp>
        <p:nvSpPr>
          <p:cNvPr id="22" name="TextBox 21"/>
          <p:cNvSpPr txBox="1"/>
          <p:nvPr/>
        </p:nvSpPr>
        <p:spPr>
          <a:xfrm>
            <a:off x="8558784" y="2606039"/>
            <a:ext cx="2752344" cy="2468880"/>
          </a:xfrm>
          <a:prstGeom prst="rect">
            <a:avLst/>
          </a:prstGeom>
          <a:noFill/>
        </p:spPr>
        <p:txBody>
          <a:bodyPr wrap="square" lIns="27432" rIns="27432" tIns="27432" bIns="27432" anchor="t">
            <a:spAutoFit/>
          </a:bodyPr>
          <a:lstStyle/>
          <a:p>
            <a:pPr algn="l">
              <a:lnSpc>
                <a:spcPct val="120000"/>
              </a:lnSpc>
              <a:spcAft>
                <a:spcPts val="0"/>
              </a:spcAft>
            </a:pPr>
            <a:r>
              <a:rPr sz="1450" b="0">
                <a:solidFill>
                  <a:srgbClr val="586C71"/>
                </a:solidFill>
                <a:latin typeface="Aptos"/>
              </a:rPr>
              <a:t>Metadata: Manajer A</a:t>
            </a:r>
          </a:p>
          <a:p>
            <a:pPr algn="l">
              <a:lnSpc>
                <a:spcPct val="120000"/>
              </a:lnSpc>
              <a:spcAft>
                <a:spcPts val="0"/>
              </a:spcAft>
            </a:pPr>
            <a:r>
              <a:rPr sz="1450" b="0">
                <a:solidFill>
                  <a:srgbClr val="586C71"/>
                </a:solidFill>
                <a:latin typeface="Aptos"/>
              </a:rPr>
              <a:t>Konfigurasi: Manajer A</a:t>
            </a:r>
          </a:p>
          <a:p>
            <a:pPr algn="l">
              <a:lnSpc>
                <a:spcPct val="120000"/>
              </a:lnSpc>
              <a:spcAft>
                <a:spcPts val="0"/>
              </a:spcAft>
            </a:pPr>
            <a:r>
              <a:rPr sz="1450" b="0">
                <a:solidFill>
                  <a:srgbClr val="586C71"/>
                </a:solidFill>
                <a:latin typeface="Aptos"/>
              </a:rPr>
              <a:t>Batch import: Manajer B</a:t>
            </a:r>
          </a:p>
          <a:p>
            <a:pPr algn="l">
              <a:lnSpc>
                <a:spcPct val="120000"/>
              </a:lnSpc>
              <a:spcAft>
                <a:spcPts val="0"/>
              </a:spcAft>
            </a:pPr>
          </a:p>
          <a:p>
            <a:pPr algn="l">
              <a:lnSpc>
                <a:spcPct val="120000"/>
              </a:lnSpc>
              <a:spcAft>
                <a:spcPts val="0"/>
              </a:spcAft>
            </a:pPr>
            <a:r>
              <a:rPr sz="1450" b="0">
                <a:solidFill>
                  <a:srgbClr val="586C71"/>
                </a:solidFill>
                <a:latin typeface="Aptos"/>
              </a:rPr>
              <a:t>Reviewer berbeda dari pengaju.</a:t>
            </a:r>
          </a:p>
        </p:txBody>
      </p:sp>
      <p:sp>
        <p:nvSpPr>
          <p:cNvPr id="23" name="TextBox 22"/>
          <p:cNvSpPr txBox="1"/>
          <p:nvPr/>
        </p:nvSpPr>
        <p:spPr>
          <a:xfrm>
            <a:off x="768096" y="5596128"/>
            <a:ext cx="10789920" cy="438912"/>
          </a:xfrm>
          <a:prstGeom prst="rect">
            <a:avLst/>
          </a:prstGeom>
          <a:noFill/>
        </p:spPr>
        <p:txBody>
          <a:bodyPr wrap="square" lIns="27432" rIns="27432" tIns="27432" bIns="27432" anchor="ctr">
            <a:spAutoFit/>
          </a:bodyPr>
          <a:lstStyle/>
          <a:p>
            <a:pPr algn="ctr">
              <a:lnSpc>
                <a:spcPct val="108000"/>
              </a:lnSpc>
              <a:spcAft>
                <a:spcPts val="0"/>
              </a:spcAft>
            </a:pPr>
            <a:r>
              <a:rPr sz="1500" b="1">
                <a:solidFill>
                  <a:srgbClr val="096752"/>
                </a:solidFill>
                <a:latin typeface="Aptos"/>
              </a:rPr>
              <a:t>Akses = unit eksplisit + policy  |  Approval = reviewer aktif + jenis keputusan + pemisahan tugas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38328"/>
            <a:ext cx="9601200" cy="256032"/>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096752"/>
                </a:solidFill>
                <a:latin typeface="Aptos"/>
              </a:rPr>
              <a:t>TATA KELOLA · GATE RILIS</a:t>
            </a:r>
          </a:p>
        </p:txBody>
      </p:sp>
      <p:sp>
        <p:nvSpPr>
          <p:cNvPr id="4" name="TextBox 3"/>
          <p:cNvSpPr txBox="1"/>
          <p:nvPr/>
        </p:nvSpPr>
        <p:spPr>
          <a:xfrm>
            <a:off x="658368" y="713232"/>
            <a:ext cx="10835640" cy="621792"/>
          </a:xfrm>
          <a:prstGeom prst="rect">
            <a:avLst/>
          </a:prstGeom>
          <a:noFill/>
        </p:spPr>
        <p:txBody>
          <a:bodyPr wrap="square" lIns="27432" rIns="27432" tIns="27432" bIns="27432" anchor="ctr">
            <a:spAutoFit/>
          </a:bodyPr>
          <a:lstStyle/>
          <a:p>
            <a:pPr algn="l">
              <a:lnSpc>
                <a:spcPct val="108000"/>
              </a:lnSpc>
              <a:spcAft>
                <a:spcPts val="0"/>
              </a:spcAft>
            </a:pPr>
            <a:r>
              <a:rPr sz="2800" b="1">
                <a:solidFill>
                  <a:srgbClr val="1A2F37"/>
                </a:solidFill>
                <a:latin typeface="Aptos"/>
              </a:rPr>
              <a:t>Persetujuan sebelum data tayang</a:t>
            </a:r>
          </a:p>
        </p:txBody>
      </p:sp>
      <p:sp>
        <p:nvSpPr>
          <p:cNvPr id="5" name="TextBox 4"/>
          <p:cNvSpPr txBox="1"/>
          <p:nvPr/>
        </p:nvSpPr>
        <p:spPr>
          <a:xfrm>
            <a:off x="685800" y="1362456"/>
            <a:ext cx="10744200" cy="438912"/>
          </a:xfrm>
          <a:prstGeom prst="rect">
            <a:avLst/>
          </a:prstGeom>
          <a:noFill/>
        </p:spPr>
        <p:txBody>
          <a:bodyPr wrap="square" lIns="27432" rIns="27432" tIns="27432" bIns="27432" anchor="ctr">
            <a:spAutoFit/>
          </a:bodyPr>
          <a:lstStyle/>
          <a:p>
            <a:pPr algn="l">
              <a:lnSpc>
                <a:spcPct val="108000"/>
              </a:lnSpc>
              <a:spcAft>
                <a:spcPts val="0"/>
              </a:spcAft>
            </a:pPr>
            <a:r>
              <a:rPr sz="1300" b="0">
                <a:solidFill>
                  <a:srgbClr val="586C71"/>
                </a:solidFill>
                <a:latin typeface="Aptos"/>
              </a:rPr>
              <a:t>Contoh sumber gabungan: IT dan semua unit terkait menyetujui versi konfigurasi yang sama.</a:t>
            </a:r>
          </a:p>
        </p:txBody>
      </p:sp>
      <p:cxnSp>
        <p:nvCxnSpPr>
          <p:cNvPr id="6" name="Connector 5"/>
          <p:cNvCxnSpPr/>
          <p:nvPr/>
        </p:nvCxnSpPr>
        <p:spPr>
          <a:xfrm>
            <a:off x="676656" y="6492240"/>
            <a:ext cx="10799064" cy="0"/>
          </a:xfrm>
          <a:prstGeom prst="line">
            <a:avLst/>
          </a:prstGeom>
          <a:ln w="16510">
            <a:solidFill>
              <a:srgbClr val="DBE6E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 y="6537960"/>
            <a:ext cx="7132320" cy="164592"/>
          </a:xfrm>
          <a:prstGeom prst="rect">
            <a:avLst/>
          </a:prstGeom>
          <a:noFill/>
        </p:spPr>
        <p:txBody>
          <a:bodyPr wrap="square" lIns="27432" rIns="27432" tIns="27432" bIns="27432" anchor="ctr">
            <a:spAutoFit/>
          </a:bodyPr>
          <a:lstStyle/>
          <a:p>
            <a:pPr algn="l">
              <a:lnSpc>
                <a:spcPct val="108000"/>
              </a:lnSpc>
              <a:spcAft>
                <a:spcPts val="0"/>
              </a:spcAft>
            </a:pPr>
            <a:r>
              <a:rPr sz="850" b="0">
                <a:solidFill>
                  <a:srgbClr val="586C71"/>
                </a:solidFill>
                <a:latin typeface="Aptos"/>
              </a:rPr>
              <a:t>GOOGLE SHEET AI  ·  TINJAUAN APLIKASI</a:t>
            </a:r>
          </a:p>
        </p:txBody>
      </p:sp>
      <p:sp>
        <p:nvSpPr>
          <p:cNvPr id="8" name="TextBox 7"/>
          <p:cNvSpPr txBox="1"/>
          <p:nvPr/>
        </p:nvSpPr>
        <p:spPr>
          <a:xfrm>
            <a:off x="10972800" y="6519672"/>
            <a:ext cx="502920" cy="192024"/>
          </a:xfrm>
          <a:prstGeom prst="rect">
            <a:avLst/>
          </a:prstGeom>
          <a:noFill/>
        </p:spPr>
        <p:txBody>
          <a:bodyPr wrap="square" lIns="27432" rIns="27432" tIns="27432" bIns="27432" anchor="ctr">
            <a:spAutoFit/>
          </a:bodyPr>
          <a:lstStyle/>
          <a:p>
            <a:pPr algn="r">
              <a:lnSpc>
                <a:spcPct val="108000"/>
              </a:lnSpc>
              <a:spcAft>
                <a:spcPts val="0"/>
              </a:spcAft>
            </a:pPr>
            <a:r>
              <a:rPr sz="950" b="0">
                <a:solidFill>
                  <a:srgbClr val="586C71"/>
                </a:solidFill>
                <a:latin typeface="Aptos"/>
              </a:rPr>
              <a:t>20</a:t>
            </a:r>
          </a:p>
        </p:txBody>
      </p:sp>
      <p:sp>
        <p:nvSpPr>
          <p:cNvPr id="9" name="Rounded Rectangle 8"/>
          <p:cNvSpPr/>
          <p:nvPr/>
        </p:nvSpPr>
        <p:spPr>
          <a:xfrm>
            <a:off x="859536" y="1993392"/>
            <a:ext cx="10497312" cy="557784"/>
          </a:xfrm>
          <a:prstGeom prst="roundRect">
            <a:avLst>
              <a:gd name="adj" fmla="val 18000"/>
            </a:avLst>
          </a:prstGeom>
          <a:solidFill>
            <a:srgbClr val="0C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 y="2103120"/>
            <a:ext cx="9930384" cy="338328"/>
          </a:xfrm>
          <a:prstGeom prst="rect">
            <a:avLst/>
          </a:prstGeom>
          <a:noFill/>
        </p:spPr>
        <p:txBody>
          <a:bodyPr wrap="square" lIns="27432" rIns="27432" tIns="27432" bIns="27432" anchor="ctr">
            <a:spAutoFit/>
          </a:bodyPr>
          <a:lstStyle/>
          <a:p>
            <a:pPr algn="ctr">
              <a:lnSpc>
                <a:spcPct val="108000"/>
              </a:lnSpc>
              <a:spcAft>
                <a:spcPts val="0"/>
              </a:spcAft>
            </a:pPr>
            <a:r>
              <a:rPr sz="1700" b="1">
                <a:solidFill>
                  <a:srgbClr val="FFFFFF"/>
                </a:solidFill>
                <a:latin typeface="Aptos"/>
              </a:rPr>
              <a:t>Konfigurasi ETL versi 2 approved dan siap diperiksa</a:t>
            </a:r>
          </a:p>
        </p:txBody>
      </p:sp>
      <p:sp>
        <p:nvSpPr>
          <p:cNvPr id="11" name="Rounded Rectangle 10"/>
          <p:cNvSpPr/>
          <p:nvPr/>
        </p:nvSpPr>
        <p:spPr>
          <a:xfrm>
            <a:off x="731520" y="2688336"/>
            <a:ext cx="3218688" cy="199339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2889504"/>
            <a:ext cx="54864" cy="1591056"/>
          </a:xfrm>
          <a:prstGeom prst="roundRect">
            <a:avLst>
              <a:gd name="adj" fmla="val 18000"/>
            </a:avLst>
          </a:prstGeom>
          <a:solidFill>
            <a:srgbClr val="096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0976" y="2871216"/>
            <a:ext cx="2798064" cy="475488"/>
          </a:xfrm>
          <a:prstGeom prst="rect">
            <a:avLst/>
          </a:prstGeom>
          <a:noFill/>
        </p:spPr>
        <p:txBody>
          <a:bodyPr wrap="square" lIns="27432" rIns="27432" tIns="27432" bIns="27432" anchor="ctr">
            <a:spAutoFit/>
          </a:bodyPr>
          <a:lstStyle/>
          <a:p>
            <a:pPr algn="l">
              <a:lnSpc>
                <a:spcPct val="108000"/>
              </a:lnSpc>
              <a:spcAft>
                <a:spcPts val="0"/>
              </a:spcAft>
            </a:pPr>
            <a:r>
              <a:rPr sz="1700" b="1">
                <a:solidFill>
                  <a:srgbClr val="1A2F37"/>
                </a:solidFill>
                <a:latin typeface="Aptos"/>
              </a:rPr>
              <a:t>IT · teknis</a:t>
            </a:r>
          </a:p>
        </p:txBody>
      </p:sp>
      <p:sp>
        <p:nvSpPr>
          <p:cNvPr id="14" name="TextBox 13"/>
          <p:cNvSpPr txBox="1"/>
          <p:nvPr/>
        </p:nvSpPr>
        <p:spPr>
          <a:xfrm>
            <a:off x="950976" y="3401568"/>
            <a:ext cx="2779776" cy="1097280"/>
          </a:xfrm>
          <a:prstGeom prst="rect">
            <a:avLst/>
          </a:prstGeom>
          <a:noFill/>
        </p:spPr>
        <p:txBody>
          <a:bodyPr wrap="square" lIns="27432" rIns="27432" tIns="27432" bIns="27432" anchor="t">
            <a:spAutoFit/>
          </a:bodyPr>
          <a:lstStyle/>
          <a:p>
            <a:pPr algn="l">
              <a:lnSpc>
                <a:spcPct val="120000"/>
              </a:lnSpc>
              <a:spcAft>
                <a:spcPts val="0"/>
              </a:spcAft>
            </a:pPr>
            <a:r>
              <a:rPr sz="1400" b="0">
                <a:solidFill>
                  <a:srgbClr val="586C71"/>
                </a:solidFill>
                <a:latin typeface="Aptos"/>
              </a:rPr>
              <a:t>Skema, DQ, keamanan,</a:t>
            </a:r>
          </a:p>
          <a:p>
            <a:pPr algn="l">
              <a:lnSpc>
                <a:spcPct val="120000"/>
              </a:lnSpc>
              <a:spcAft>
                <a:spcPts val="0"/>
              </a:spcAft>
            </a:pPr>
            <a:r>
              <a:rPr sz="1400" b="0">
                <a:solidFill>
                  <a:srgbClr val="586C71"/>
                </a:solidFill>
                <a:latin typeface="Aptos"/>
              </a:rPr>
              <a:t>hasil dry-run</a:t>
            </a:r>
          </a:p>
          <a:p>
            <a:pPr algn="l">
              <a:lnSpc>
                <a:spcPct val="120000"/>
              </a:lnSpc>
              <a:spcAft>
                <a:spcPts val="0"/>
              </a:spcAft>
            </a:pPr>
            <a:r>
              <a:rPr sz="1400" b="0">
                <a:solidFill>
                  <a:srgbClr val="586C71"/>
                </a:solidFill>
                <a:latin typeface="Aptos"/>
              </a:rPr>
              <a:t>Pemeriksa: approver.it</a:t>
            </a:r>
          </a:p>
        </p:txBody>
      </p:sp>
      <p:sp>
        <p:nvSpPr>
          <p:cNvPr id="15" name="Rounded Rectangle 14"/>
          <p:cNvSpPr/>
          <p:nvPr/>
        </p:nvSpPr>
        <p:spPr>
          <a:xfrm>
            <a:off x="4480560" y="2688336"/>
            <a:ext cx="3218688" cy="199339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480560" y="2889504"/>
            <a:ext cx="54864" cy="1591056"/>
          </a:xfrm>
          <a:prstGeom prst="roundRect">
            <a:avLst>
              <a:gd name="adj" fmla="val 18000"/>
            </a:avLst>
          </a:prstGeom>
          <a:solidFill>
            <a:srgbClr val="118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0016" y="2871216"/>
            <a:ext cx="2798064" cy="475488"/>
          </a:xfrm>
          <a:prstGeom prst="rect">
            <a:avLst/>
          </a:prstGeom>
          <a:noFill/>
        </p:spPr>
        <p:txBody>
          <a:bodyPr wrap="square" lIns="27432" rIns="27432" tIns="27432" bIns="27432" anchor="ctr">
            <a:spAutoFit/>
          </a:bodyPr>
          <a:lstStyle/>
          <a:p>
            <a:pPr algn="l">
              <a:lnSpc>
                <a:spcPct val="108000"/>
              </a:lnSpc>
              <a:spcAft>
                <a:spcPts val="0"/>
              </a:spcAft>
            </a:pPr>
            <a:r>
              <a:rPr sz="1700" b="1">
                <a:solidFill>
                  <a:srgbClr val="1A2F37"/>
                </a:solidFill>
                <a:latin typeface="Aptos"/>
              </a:rPr>
              <a:t>Penjualan Malang</a:t>
            </a:r>
          </a:p>
        </p:txBody>
      </p:sp>
      <p:sp>
        <p:nvSpPr>
          <p:cNvPr id="18" name="TextBox 17"/>
          <p:cNvSpPr txBox="1"/>
          <p:nvPr/>
        </p:nvSpPr>
        <p:spPr>
          <a:xfrm>
            <a:off x="4700016" y="3401568"/>
            <a:ext cx="2779776" cy="1097280"/>
          </a:xfrm>
          <a:prstGeom prst="rect">
            <a:avLst/>
          </a:prstGeom>
          <a:noFill/>
        </p:spPr>
        <p:txBody>
          <a:bodyPr wrap="square" lIns="27432" rIns="27432" tIns="27432" bIns="27432" anchor="t">
            <a:spAutoFit/>
          </a:bodyPr>
          <a:lstStyle/>
          <a:p>
            <a:pPr algn="l">
              <a:lnSpc>
                <a:spcPct val="120000"/>
              </a:lnSpc>
              <a:spcAft>
                <a:spcPts val="0"/>
              </a:spcAft>
            </a:pPr>
            <a:r>
              <a:rPr sz="1400" b="0">
                <a:solidFill>
                  <a:srgbClr val="586C71"/>
                </a:solidFill>
                <a:latin typeface="Aptos"/>
              </a:rPr>
              <a:t>Definisi bisnis, metrik,</a:t>
            </a:r>
          </a:p>
          <a:p>
            <a:pPr algn="l">
              <a:lnSpc>
                <a:spcPct val="120000"/>
              </a:lnSpc>
              <a:spcAft>
                <a:spcPts val="0"/>
              </a:spcAft>
            </a:pPr>
            <a:r>
              <a:rPr sz="1400" b="0">
                <a:solidFill>
                  <a:srgbClr val="586C71"/>
                </a:solidFill>
                <a:latin typeface="Aptos"/>
              </a:rPr>
              <a:t>lingkup unit</a:t>
            </a:r>
          </a:p>
          <a:p>
            <a:pPr algn="l">
              <a:lnSpc>
                <a:spcPct val="120000"/>
              </a:lnSpc>
              <a:spcAft>
                <a:spcPts val="0"/>
              </a:spcAft>
            </a:pPr>
            <a:r>
              <a:rPr sz="1400" b="0">
                <a:solidFill>
                  <a:srgbClr val="586C71"/>
                </a:solidFill>
                <a:latin typeface="Aptos"/>
              </a:rPr>
              <a:t>Pemeriksa: manajer.penjualan</a:t>
            </a:r>
          </a:p>
        </p:txBody>
      </p:sp>
      <p:sp>
        <p:nvSpPr>
          <p:cNvPr id="19" name="Rounded Rectangle 18"/>
          <p:cNvSpPr/>
          <p:nvPr/>
        </p:nvSpPr>
        <p:spPr>
          <a:xfrm>
            <a:off x="8229600" y="2688336"/>
            <a:ext cx="3218688" cy="1993392"/>
          </a:xfrm>
          <a:prstGeom prst="roundRect">
            <a:avLst>
              <a:gd name="adj" fmla="val 18000"/>
            </a:avLst>
          </a:prstGeom>
          <a:solidFill>
            <a:srgbClr val="FFFFFF"/>
          </a:solidFill>
          <a:ln w="10160">
            <a:solidFill>
              <a:srgbClr val="DB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29600" y="2889504"/>
            <a:ext cx="54864" cy="1591056"/>
          </a:xfrm>
          <a:prstGeom prst="roundRect">
            <a:avLst>
              <a:gd name="adj" fmla="val 18000"/>
            </a:avLst>
          </a:prstGeom>
          <a:solidFill>
            <a:srgbClr val="CF8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49056" y="2871216"/>
            <a:ext cx="2798064" cy="475488"/>
          </a:xfrm>
          <a:prstGeom prst="rect">
            <a:avLst/>
          </a:prstGeom>
          <a:noFill/>
        </p:spPr>
        <p:txBody>
          <a:bodyPr wrap="square" lIns="27432" rIns="27432" tIns="27432" bIns="27432" anchor="ctr">
            <a:spAutoFit/>
          </a:bodyPr>
          <a:lstStyle/>
          <a:p>
            <a:pPr algn="l">
              <a:lnSpc>
                <a:spcPct val="108000"/>
              </a:lnSpc>
              <a:spcAft>
                <a:spcPts val="0"/>
              </a:spcAft>
            </a:pPr>
            <a:r>
              <a:rPr sz="1700" b="1">
                <a:solidFill>
                  <a:srgbClr val="1A2F37"/>
                </a:solidFill>
                <a:latin typeface="Aptos"/>
              </a:rPr>
              <a:t>Keuangan Surabaya</a:t>
            </a:r>
          </a:p>
        </p:txBody>
      </p:sp>
      <p:sp>
        <p:nvSpPr>
          <p:cNvPr id="22" name="TextBox 21"/>
          <p:cNvSpPr txBox="1"/>
          <p:nvPr/>
        </p:nvSpPr>
        <p:spPr>
          <a:xfrm>
            <a:off x="8449056" y="3401568"/>
            <a:ext cx="2779776" cy="1097280"/>
          </a:xfrm>
          <a:prstGeom prst="rect">
            <a:avLst/>
          </a:prstGeom>
          <a:noFill/>
        </p:spPr>
        <p:txBody>
          <a:bodyPr wrap="square" lIns="27432" rIns="27432" tIns="27432" bIns="27432" anchor="t">
            <a:spAutoFit/>
          </a:bodyPr>
          <a:lstStyle/>
          <a:p>
            <a:pPr algn="l">
              <a:lnSpc>
                <a:spcPct val="120000"/>
              </a:lnSpc>
              <a:spcAft>
                <a:spcPts val="0"/>
              </a:spcAft>
            </a:pPr>
            <a:r>
              <a:rPr sz="1400" b="0">
                <a:solidFill>
                  <a:srgbClr val="586C71"/>
                </a:solidFill>
                <a:latin typeface="Aptos"/>
              </a:rPr>
              <a:t>Kesesuaian data lintas unit</a:t>
            </a:r>
          </a:p>
          <a:p>
            <a:pPr algn="l">
              <a:lnSpc>
                <a:spcPct val="120000"/>
              </a:lnSpc>
              <a:spcAft>
                <a:spcPts val="0"/>
              </a:spcAft>
            </a:pPr>
            <a:r>
              <a:rPr sz="1400" b="0">
                <a:solidFill>
                  <a:srgbClr val="586C71"/>
                </a:solidFill>
                <a:latin typeface="Aptos"/>
              </a:rPr>
              <a:t>dan aturan pemakaian</a:t>
            </a:r>
          </a:p>
          <a:p>
            <a:pPr algn="l">
              <a:lnSpc>
                <a:spcPct val="120000"/>
              </a:lnSpc>
              <a:spcAft>
                <a:spcPts val="0"/>
              </a:spcAft>
            </a:pPr>
            <a:r>
              <a:rPr sz="1400" b="0">
                <a:solidFill>
                  <a:srgbClr val="586C71"/>
                </a:solidFill>
                <a:latin typeface="Aptos"/>
              </a:rPr>
              <a:t>Pemeriksa: manajer.keuangan</a:t>
            </a:r>
          </a:p>
        </p:txBody>
      </p:sp>
      <p:sp>
        <p:nvSpPr>
          <p:cNvPr id="23" name="TextBox 22"/>
          <p:cNvSpPr txBox="1"/>
          <p:nvPr/>
        </p:nvSpPr>
        <p:spPr>
          <a:xfrm>
            <a:off x="4078224" y="3392424"/>
            <a:ext cx="310896" cy="457200"/>
          </a:xfrm>
          <a:prstGeom prst="rect">
            <a:avLst/>
          </a:prstGeom>
          <a:noFill/>
        </p:spPr>
        <p:txBody>
          <a:bodyPr wrap="square" lIns="27432" rIns="27432" tIns="27432" bIns="27432" anchor="ctr">
            <a:spAutoFit/>
          </a:bodyPr>
          <a:lstStyle/>
          <a:p>
            <a:pPr algn="ctr">
              <a:lnSpc>
                <a:spcPct val="108000"/>
              </a:lnSpc>
              <a:spcAft>
                <a:spcPts val="0"/>
              </a:spcAft>
            </a:pPr>
            <a:r>
              <a:rPr sz="2300" b="1">
                <a:solidFill>
                  <a:srgbClr val="096752"/>
                </a:solidFill>
                <a:latin typeface="Aptos"/>
              </a:rPr>
              <a:t>+</a:t>
            </a:r>
          </a:p>
        </p:txBody>
      </p:sp>
      <p:sp>
        <p:nvSpPr>
          <p:cNvPr id="24" name="TextBox 23"/>
          <p:cNvSpPr txBox="1"/>
          <p:nvPr/>
        </p:nvSpPr>
        <p:spPr>
          <a:xfrm>
            <a:off x="7827264" y="3392424"/>
            <a:ext cx="310896" cy="457200"/>
          </a:xfrm>
          <a:prstGeom prst="rect">
            <a:avLst/>
          </a:prstGeom>
          <a:noFill/>
        </p:spPr>
        <p:txBody>
          <a:bodyPr wrap="square" lIns="27432" rIns="27432" tIns="27432" bIns="27432" anchor="ctr">
            <a:spAutoFit/>
          </a:bodyPr>
          <a:lstStyle/>
          <a:p>
            <a:pPr algn="ctr">
              <a:lnSpc>
                <a:spcPct val="108000"/>
              </a:lnSpc>
              <a:spcAft>
                <a:spcPts val="0"/>
              </a:spcAft>
            </a:pPr>
            <a:r>
              <a:rPr sz="2300" b="1">
                <a:solidFill>
                  <a:srgbClr val="096752"/>
                </a:solidFill>
                <a:latin typeface="Aptos"/>
              </a:rPr>
              <a:t>+</a:t>
            </a:r>
          </a:p>
        </p:txBody>
      </p:sp>
      <p:sp>
        <p:nvSpPr>
          <p:cNvPr id="25" name="Rounded Rectangle 24"/>
          <p:cNvSpPr/>
          <p:nvPr/>
        </p:nvSpPr>
        <p:spPr>
          <a:xfrm>
            <a:off x="1426464" y="5166360"/>
            <a:ext cx="9308592" cy="713232"/>
          </a:xfrm>
          <a:prstGeom prst="roundRect">
            <a:avLst>
              <a:gd name="adj" fmla="val 18000"/>
            </a:avLst>
          </a:prstGeom>
          <a:solidFill>
            <a:srgbClr val="CC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0" y="5330952"/>
            <a:ext cx="8887968" cy="384048"/>
          </a:xfrm>
          <a:prstGeom prst="rect">
            <a:avLst/>
          </a:prstGeom>
          <a:noFill/>
        </p:spPr>
        <p:txBody>
          <a:bodyPr wrap="square" lIns="27432" rIns="27432" tIns="27432" bIns="27432" anchor="ctr">
            <a:spAutoFit/>
          </a:bodyPr>
          <a:lstStyle/>
          <a:p>
            <a:pPr algn="ctr">
              <a:lnSpc>
                <a:spcPct val="108000"/>
              </a:lnSpc>
              <a:spcAft>
                <a:spcPts val="0"/>
              </a:spcAft>
            </a:pPr>
            <a:r>
              <a:rPr sz="1540" b="1">
                <a:solidFill>
                  <a:srgbClr val="096752"/>
                </a:solidFill>
                <a:latin typeface="Aptos"/>
              </a:rPr>
              <a:t>Semua setuju pada revisi yang sama  →  deploy  →  data tersedia sesuai policy akses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235440" y="-1097280"/>
            <a:ext cx="4023360" cy="4023360"/>
          </a:xfrm>
          <a:prstGeom prst="ellipse">
            <a:avLst/>
          </a:prstGeom>
          <a:solidFill>
            <a:srgbClr val="122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97280" y="5303520"/>
            <a:ext cx="2926080" cy="2926080"/>
          </a:xfrm>
          <a:prstGeom prst="ellipse">
            <a:avLst/>
          </a:prstGeom>
          <a:solidFill>
            <a:srgbClr val="122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338328"/>
            <a:ext cx="9601200" cy="256032"/>
          </a:xfrm>
          <a:prstGeom prst="rect">
            <a:avLst/>
          </a:prstGeom>
          <a:noFill/>
        </p:spPr>
        <p:txBody>
          <a:bodyPr wrap="square" lIns="27432" rIns="27432" tIns="27432" bIns="27432" anchor="ctr">
            <a:spAutoFit/>
          </a:bodyPr>
          <a:lstStyle/>
          <a:p>
            <a:pPr algn="l">
              <a:lnSpc>
                <a:spcPct val="108000"/>
              </a:lnSpc>
              <a:spcAft>
                <a:spcPts val="0"/>
              </a:spcAft>
            </a:pPr>
            <a:r>
              <a:rPr sz="1050" b="1">
                <a:solidFill>
                  <a:srgbClr val="CCEEE2"/>
                </a:solidFill>
                <a:latin typeface="Aptos"/>
              </a:rPr>
              <a:t>PENUTUP</a:t>
            </a:r>
          </a:p>
        </p:txBody>
      </p:sp>
      <p:sp>
        <p:nvSpPr>
          <p:cNvPr id="6" name="TextBox 5"/>
          <p:cNvSpPr txBox="1"/>
          <p:nvPr/>
        </p:nvSpPr>
        <p:spPr>
          <a:xfrm>
            <a:off x="658368" y="713232"/>
            <a:ext cx="10835640" cy="621792"/>
          </a:xfrm>
          <a:prstGeom prst="rect">
            <a:avLst/>
          </a:prstGeom>
          <a:noFill/>
        </p:spPr>
        <p:txBody>
          <a:bodyPr wrap="square" lIns="27432" rIns="27432" tIns="27432" bIns="27432" anchor="ctr">
            <a:spAutoFit/>
          </a:bodyPr>
          <a:lstStyle/>
          <a:p>
            <a:pPr algn="l">
              <a:lnSpc>
                <a:spcPct val="108000"/>
              </a:lnSpc>
              <a:spcAft>
                <a:spcPts val="0"/>
              </a:spcAft>
            </a:pPr>
            <a:r>
              <a:rPr sz="2800" b="1">
                <a:solidFill>
                  <a:srgbClr val="FFFFFF"/>
                </a:solidFill>
                <a:latin typeface="Aptos"/>
              </a:rPr>
              <a:t>Pesan utama</a:t>
            </a:r>
          </a:p>
        </p:txBody>
      </p:sp>
      <p:cxnSp>
        <p:nvCxnSpPr>
          <p:cNvPr id="7" name="Connector 6"/>
          <p:cNvCxnSpPr/>
          <p:nvPr/>
        </p:nvCxnSpPr>
        <p:spPr>
          <a:xfrm>
            <a:off x="676656" y="6492240"/>
            <a:ext cx="10799064" cy="0"/>
          </a:xfrm>
          <a:prstGeom prst="line">
            <a:avLst/>
          </a:prstGeom>
          <a:ln w="16510">
            <a:solidFill>
              <a:srgbClr val="4D686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76656" y="6537960"/>
            <a:ext cx="7132320" cy="164592"/>
          </a:xfrm>
          <a:prstGeom prst="rect">
            <a:avLst/>
          </a:prstGeom>
          <a:noFill/>
        </p:spPr>
        <p:txBody>
          <a:bodyPr wrap="square" lIns="27432" rIns="27432" tIns="27432" bIns="27432" anchor="ctr">
            <a:spAutoFit/>
          </a:bodyPr>
          <a:lstStyle/>
          <a:p>
            <a:pPr algn="l">
              <a:lnSpc>
                <a:spcPct val="108000"/>
              </a:lnSpc>
              <a:spcAft>
                <a:spcPts val="0"/>
              </a:spcAft>
            </a:pPr>
            <a:r>
              <a:rPr sz="850" b="0">
                <a:solidFill>
                  <a:srgbClr val="CCEEE2"/>
                </a:solidFill>
                <a:latin typeface="Aptos"/>
              </a:rPr>
              <a:t>GOOGLE SHEET AI  ·  TINJAUAN APLIKASI</a:t>
            </a:r>
          </a:p>
        </p:txBody>
      </p:sp>
      <p:sp>
        <p:nvSpPr>
          <p:cNvPr id="9" name="TextBox 8"/>
          <p:cNvSpPr txBox="1"/>
          <p:nvPr/>
        </p:nvSpPr>
        <p:spPr>
          <a:xfrm>
            <a:off x="10972800" y="6519672"/>
            <a:ext cx="502920" cy="192024"/>
          </a:xfrm>
          <a:prstGeom prst="rect">
            <a:avLst/>
          </a:prstGeom>
          <a:noFill/>
        </p:spPr>
        <p:txBody>
          <a:bodyPr wrap="square" lIns="27432" rIns="27432" tIns="27432" bIns="27432" anchor="ctr">
            <a:spAutoFit/>
          </a:bodyPr>
          <a:lstStyle/>
          <a:p>
            <a:pPr algn="r">
              <a:lnSpc>
                <a:spcPct val="108000"/>
              </a:lnSpc>
              <a:spcAft>
                <a:spcPts val="0"/>
              </a:spcAft>
            </a:pPr>
            <a:r>
              <a:rPr sz="950" b="0">
                <a:solidFill>
                  <a:srgbClr val="CCEEE2"/>
                </a:solidFill>
                <a:latin typeface="Aptos"/>
              </a:rPr>
              <a:t>21</a:t>
            </a:r>
          </a:p>
        </p:txBody>
      </p:sp>
      <p:sp>
        <p:nvSpPr>
          <p:cNvPr id="10" name="TextBox 9"/>
          <p:cNvSpPr txBox="1"/>
          <p:nvPr/>
        </p:nvSpPr>
        <p:spPr>
          <a:xfrm>
            <a:off x="777240" y="1874519"/>
            <a:ext cx="9738360" cy="1472184"/>
          </a:xfrm>
          <a:prstGeom prst="rect">
            <a:avLst/>
          </a:prstGeom>
          <a:noFill/>
        </p:spPr>
        <p:txBody>
          <a:bodyPr wrap="square" lIns="27432" rIns="27432" tIns="27432" bIns="27432" anchor="t">
            <a:spAutoFit/>
          </a:bodyPr>
          <a:lstStyle/>
          <a:p>
            <a:pPr algn="l">
              <a:lnSpc>
                <a:spcPct val="108000"/>
              </a:lnSpc>
              <a:spcAft>
                <a:spcPts val="0"/>
              </a:spcAft>
            </a:pPr>
            <a:r>
              <a:rPr sz="3000" b="1">
                <a:solidFill>
                  <a:srgbClr val="FFFFFF"/>
                </a:solidFill>
                <a:latin typeface="Aptos"/>
              </a:rPr>
              <a:t>Google Sheet tetap menjadi titik awal.</a:t>
            </a:r>
          </a:p>
          <a:p>
            <a:pPr algn="l">
              <a:lnSpc>
                <a:spcPct val="108000"/>
              </a:lnSpc>
              <a:spcAft>
                <a:spcPts val="0"/>
              </a:spcAft>
            </a:pPr>
            <a:r>
              <a:rPr sz="3000" b="1">
                <a:solidFill>
                  <a:srgbClr val="FFFFFF"/>
                </a:solidFill>
                <a:latin typeface="Aptos"/>
              </a:rPr>
              <a:t>Kepercayaan dibangun melalui proses.</a:t>
            </a:r>
          </a:p>
        </p:txBody>
      </p:sp>
      <p:sp>
        <p:nvSpPr>
          <p:cNvPr id="11" name="TextBox 10"/>
          <p:cNvSpPr txBox="1"/>
          <p:nvPr/>
        </p:nvSpPr>
        <p:spPr>
          <a:xfrm>
            <a:off x="832104" y="3895344"/>
            <a:ext cx="10515600" cy="731520"/>
          </a:xfrm>
          <a:prstGeom prst="rect">
            <a:avLst/>
          </a:prstGeom>
          <a:noFill/>
        </p:spPr>
        <p:txBody>
          <a:bodyPr wrap="square" lIns="27432" rIns="27432" tIns="27432" bIns="27432" anchor="ctr">
            <a:spAutoFit/>
          </a:bodyPr>
          <a:lstStyle/>
          <a:p>
            <a:pPr algn="l">
              <a:lnSpc>
                <a:spcPct val="108000"/>
              </a:lnSpc>
              <a:spcAft>
                <a:spcPts val="0"/>
              </a:spcAft>
            </a:pPr>
            <a:r>
              <a:rPr sz="2000" b="1">
                <a:solidFill>
                  <a:srgbClr val="CCEEE2"/>
                </a:solidFill>
                <a:latin typeface="Aptos"/>
              </a:rPr>
              <a:t>Daftarkan  →  Maknai  →  Validasi  →  Setujui  →  Gunakan</a:t>
            </a:r>
          </a:p>
        </p:txBody>
      </p:sp>
      <p:sp>
        <p:nvSpPr>
          <p:cNvPr id="12" name="TextBox 11"/>
          <p:cNvSpPr txBox="1"/>
          <p:nvPr/>
        </p:nvSpPr>
        <p:spPr>
          <a:xfrm>
            <a:off x="832104" y="5193792"/>
            <a:ext cx="10241280" cy="576072"/>
          </a:xfrm>
          <a:prstGeom prst="rect">
            <a:avLst/>
          </a:prstGeom>
          <a:noFill/>
        </p:spPr>
        <p:txBody>
          <a:bodyPr wrap="square" lIns="27432" rIns="27432" tIns="27432" bIns="27432" anchor="ctr">
            <a:spAutoFit/>
          </a:bodyPr>
          <a:lstStyle/>
          <a:p>
            <a:pPr algn="l">
              <a:lnSpc>
                <a:spcPct val="108000"/>
              </a:lnSpc>
              <a:spcAft>
                <a:spcPts val="0"/>
              </a:spcAft>
            </a:pPr>
            <a:r>
              <a:rPr sz="1000" b="0">
                <a:solidFill>
                  <a:srgbClr val="CCEEE2"/>
                </a:solidFill>
                <a:latin typeface="Aptos"/>
              </a:rPr>
              <a:t>Sumber: USER_GUIDE_END_TO_END.md · ACCESS_JURISDICTION_BE16.md ·</a:t>
            </a:r>
          </a:p>
          <a:p>
            <a:pPr algn="l">
              <a:lnSpc>
                <a:spcPct val="108000"/>
              </a:lnSpc>
              <a:spcAft>
                <a:spcPts val="0"/>
              </a:spcAft>
            </a:pPr>
            <a:r>
              <a:rPr sz="1000" b="0">
                <a:solidFill>
                  <a:srgbClr val="CCEEE2"/>
                </a:solidFill>
                <a:latin typeface="Aptos"/>
              </a:rPr>
              <a:t>MASTER_DATA_DAN_VALIDASI_IMPORT.md · CONTOH_ISIAN_APLIKASI.md · AI_USER_HELP.md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Google Sheet AI — Gambaran bisnis dan proses aplikasi</dc:title>
  <dc:subject>Latar belakang, tujuan, syarat, fungsi, proses, dan diagram aplikasi</dc:subject>
  <dc:creator>Google Sheet AI Project</dc:creator>
  <cp:keywords>Google Sheets, ETL, master data, taxonomy, NL2SQL, dashboard</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