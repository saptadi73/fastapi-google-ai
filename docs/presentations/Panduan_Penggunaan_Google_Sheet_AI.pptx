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Keluhan</c:v>
                </c:pt>
              </c:strCache>
            </c:strRef>
          </c:tx>
          <c:spPr>
            <a:solidFill>
              <a:srgbClr val="075E4B"/>
            </a:solidFill>
            <a:ln>
              <a:noFill/>
            </a:ln>
          </c:spPr>
          <c:cat>
            <c:strRef>
              <c:f>Sheet1!$A$2:$A$4</c:f>
              <c:strCache>
                <c:ptCount val="3"/>
                <c:pt idx="0">
                  <c:v>Jan</c:v>
                </c:pt>
                <c:pt idx="1">
                  <c:v>Feb</c:v>
                </c:pt>
                <c:pt idx="2">
                  <c:v>Mar</c:v>
                </c:pt>
              </c:strCache>
            </c:strRef>
          </c:cat>
          <c:val>
            <c:numRef>
              <c:f>Sheet1!$B$2:$B$4</c:f>
              <c:numCache>
                <c:formatCode>General</c:formatCode>
                <c:ptCount val="3"/>
                <c:pt idx="0">
                  <c:v>32</c:v>
                </c:pt>
                <c:pt idx="1">
                  <c:v>40</c:v>
                </c:pt>
                <c:pt idx="2">
                  <c:v>36</c:v>
                </c:pt>
              </c:numCache>
            </c:numRef>
          </c:val>
        </c:ser>
        <c:ser>
          <c:idx val="1"/>
          <c:order val="1"/>
          <c:tx>
            <c:strRef>
              <c:f>Sheet1!$C$1</c:f>
              <c:strCache>
                <c:ptCount val="1"/>
                <c:pt idx="0">
                  <c:v>Lewat SLA</c:v>
                </c:pt>
              </c:strCache>
            </c:strRef>
          </c:tx>
          <c:spPr>
            <a:solidFill>
              <a:srgbClr val="D6A246"/>
            </a:solidFill>
            <a:ln>
              <a:noFill/>
            </a:ln>
          </c:spPr>
          <c:cat>
            <c:strRef>
              <c:f>Sheet1!$A$2:$A$4</c:f>
              <c:strCache>
                <c:ptCount val="3"/>
                <c:pt idx="0">
                  <c:v>Jan</c:v>
                </c:pt>
                <c:pt idx="1">
                  <c:v>Feb</c:v>
                </c:pt>
                <c:pt idx="2">
                  <c:v>Mar</c:v>
                </c:pt>
              </c:strCache>
            </c:strRef>
          </c:cat>
          <c:val>
            <c:numRef>
              <c:f>Sheet1!$C$2:$C$4</c:f>
              <c:numCache>
                <c:formatCode>General</c:formatCode>
                <c:ptCount val="3"/>
                <c:pt idx="0">
                  <c:v>12</c:v>
                </c:pt>
                <c:pt idx="1">
                  <c:v>8</c:v>
                </c:pt>
                <c:pt idx="2">
                  <c:v>3</c:v>
                </c:pt>
              </c:numCache>
            </c:numRef>
          </c:val>
        </c:ser>
        <c:dLbls>
          <c:txPr>
            <a:bodyPr/>
            <a:lstStyle/>
            <a:p>
              <a:pPr>
                <a:defRPr sz="1300">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400">
                <a:latin typeface="Calibri"/>
              </a:defRPr>
            </a:pPr>
          </a:p>
        </c:txPr>
        <c:crossAx val="-2113994440"/>
        <c:crosses val="autoZero"/>
        <c:auto val="1"/>
        <c:lblAlgn val="ctr"/>
        <c:lblOffset val="100"/>
        <c:noMultiLvlLbl val="0"/>
      </c:catAx>
      <c:valAx>
        <c:axId val="-2113994440"/>
        <c:scaling>
          <c:max val="50.0"/>
          <c:min val="0.0"/>
        </c:scaling>
        <c:delete val="0"/>
        <c:axPos val="l"/>
        <c:majorGridlines/>
        <c:majorTickMark val="out"/>
        <c:minorTickMark val="none"/>
        <c:tickLblPos val="nextTo"/>
        <c:txPr>
          <a:bodyPr/>
          <a:lstStyle/>
          <a:p>
            <a:pPr>
              <a:defRPr sz="1300">
                <a:latin typeface="Calibri"/>
              </a:defRPr>
            </a:pPr>
          </a:p>
        </c:txPr>
        <c:crossAx val="-2068027336"/>
        <c:crosses val="autoZero"/>
        <c:majorUnit val="10.0"/>
      </c:valAx>
    </c:plotArea>
    <c:legend>
      <c:legendPos val="b"/>
      <c:overlay val="0"/>
      <c:txPr>
        <a:bodyPr/>
        <a:lstStyle/>
        <a:p>
          <a:pPr>
            <a:defRPr sz="13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lineChart>
        <c:grouping val="standard"/>
        <c:varyColors val="0"/>
        <c:ser>
          <c:idx val="0"/>
          <c:order val="0"/>
          <c:tx>
            <c:strRef>
              <c:f>Sheet1!$B$1</c:f>
              <c:strCache>
                <c:ptCount val="1"/>
                <c:pt idx="0">
                  <c:v>Rasio (%)</c:v>
                </c:pt>
              </c:strCache>
            </c:strRef>
          </c:tx>
          <c:spPr>
            <a:ln w="38100">
              <a:solidFill>
                <a:srgbClr val="286B9D"/>
              </a:solidFill>
            </a:ln>
          </c:spPr>
          <c:cat>
            <c:strRef>
              <c:f>Sheet1!$A$2:$A$4</c:f>
              <c:strCache>
                <c:ptCount val="3"/>
                <c:pt idx="0">
                  <c:v>Jan</c:v>
                </c:pt>
                <c:pt idx="1">
                  <c:v>Feb</c:v>
                </c:pt>
                <c:pt idx="2">
                  <c:v>Mar</c:v>
                </c:pt>
              </c:strCache>
            </c:strRef>
          </c:cat>
          <c:val>
            <c:numRef>
              <c:f>Sheet1!$B$2:$B$4</c:f>
              <c:numCache>
                <c:formatCode>General</c:formatCode>
                <c:ptCount val="3"/>
                <c:pt idx="0">
                  <c:v>37.5</c:v>
                </c:pt>
                <c:pt idx="1">
                  <c:v>20</c:v>
                </c:pt>
                <c:pt idx="2">
                  <c:v>8.333333333333334</c:v>
                </c:pt>
              </c:numCache>
            </c:numRef>
          </c:val>
          <c:smooth val="0"/>
        </c:ser>
        <c:dLbls>
          <c:numFmt formatCode="0.0&quot;%&quot;" sourceLinked="0"/>
          <c:txPr>
            <a:bodyPr/>
            <a:lstStyle/>
            <a:p>
              <a:pPr>
                <a:defRPr sz="1300">
                  <a:latin typeface="Calibr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400">
                <a:latin typeface="Calibri"/>
              </a:defRPr>
            </a:pPr>
          </a:p>
        </c:txPr>
        <c:crossAx val="2140495176"/>
        <c:crosses val="autoZero"/>
        <c:auto val="1"/>
        <c:lblAlgn val="ctr"/>
        <c:lblOffset val="100"/>
        <c:noMultiLvlLbl val="0"/>
      </c:catAx>
      <c:valAx>
        <c:axId val="2140495176"/>
        <c:scaling>
          <c:max val="50.0"/>
          <c:min val="0.0"/>
        </c:scaling>
        <c:delete val="0"/>
        <c:axPos val="l"/>
        <c:majorGridlines/>
        <c:numFmt formatCode="0&quot;%&quot;" sourceLinked="0"/>
        <c:majorTickMark val="out"/>
        <c:minorTickMark val="none"/>
        <c:tickLblPos val="nextTo"/>
        <c:txPr>
          <a:bodyPr/>
          <a:lstStyle/>
          <a:p>
            <a:pPr>
              <a:defRPr sz="1300">
                <a:latin typeface="Calibri"/>
              </a:defRPr>
            </a:pPr>
          </a:p>
        </c:txPr>
        <c:crossAx val="2118791784"/>
        <c:crosses val="autoZero"/>
        <c:majorUnit val="1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dengan kebutuhan bisnis: mengubah pencatatan yang tersebar menjadi informasi yang dapat dipercaya. Presentasi ini dapat digunakan untuk pelatihan 45–60 menit. Sesuaikan tempo dan sisipkan demo menggunakan data contoh, bukan sumber production aktif.</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peserta menyebut satu keputusan yang ingin diperbaiki. Misalnya unit mana perlu perbaikan SLA. Jelaskan bahwa AI tidak menggantikan definisi indikator, data yang benar, atau review keputusan oleh pemilik bisnis.</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Tabel/chart tersedia di Dashboard melalui query builder atau pertanyaan bahasa alami. Backend aturan action plan telah tersedia, tetapi impor, preview, approval dan evaluate saat ini dilakukan melalui API. Jangan menyebut adanya tombol action plan otomatis di wizard atau chat. Output action plan adalah usulan, bukan pelaksanaan.</a:t>
            </a:r>
          </a:p>
          <a:p/>
          <a:p>
            <a:r>
              <a:t>Rujukan aplikasi: docs/PANDUAN_ATURAN_ANALITIK.md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action plan yang baik memerlukan baseline dan follow-up dengan definisi/metode sebanding. Korelasi atau tren menurun bukan otomatis bukti bahwa tindakan tertentu menyebabkan perubahan.</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teknis tidak otomatis memberikan hak membaca semua data. Admin menyiapkan assignment dan policy; approver harus ditunjuk untuk sumber. Pemilik bisnis memverifikasi target dan manfaat tindakan. Gate IT serta unit berlaku jika aturan siap tayang diaktifkan.</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dan taxonomy diperlukan bila ada rujukan atau kategori yang perlu dibakukan. Deploy menyiapkan struktur dan mengaktifkan konfigurasi; pemuatan data tetap tahap terpisah. Aturan action plan mempunyai alur approval tersendiri melalui API.</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nama file: Keluhan Pelanggan KAN Jabung 2026. Contoh tab: Keluhan_Data. Nama yang dihasilkan tidak menggantikan deskripsi bisnis dan grain. Dua tab kontrol aturan/formula perlu dikecualikan dari ETL dan diimpor lewat API setelah produk utamanya aktif.</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key complaint_id harus unik dan stabil. Contoh berikut adalah ilustrasi struktur, bukan cuplikan production. Gunakan header tunggal dan unik; hindari merged cells, judul menumpuk, baris kosong serta footer total di range data. Rekap dapat berada pada tab terpisah dengan grain berbeda.</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Kebutuhan kolom bergantung pada grain. Jangan menambah tanggal kejadian fiktif ke data rekap. Untuk data periodik, awal/akhir periode bisnis wajib eksplisit. Identitas atau kontak pribadi harus dilindungi dan tidak dijadikan dimensi analitik sensitif.</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period_start 2026-01-01 dan period_end 2026-01-31 mencakup Januari. collected_at 2026-02-02T09:00:00+07:00 adalah waktu pengambilan. Jika source berupa teks ISO, pilih date + parse_date_id + TEXT + %Y-%m-%d. Jika native tanggal Sheets dibaca sebagai serial, pilih format Serial Google Sheets; 46023 = 2026-01-01. Bigint biasa tidak boleh diasumsikan serial tanggal.</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perbedaan master produk/unit dengan taxonomy jenis keluhan atau prioritas. Dropdown di Sheets membantu input, tetapi tidak menggantikan binding dan validasi aplikasi. Alias harus diverifikasi; AI tidak otomatis berhak memilih relasi yang ambigu.</a:t>
            </a:r>
          </a:p>
          <a:p/>
          <a:p>
            <a:r>
              <a:t>Rujukan aplikasi: docs/ISTILAH_TEKNIS.md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Ilustrasi survei: A memiliki 9 puas dari 10 valid, B memiliki 9 puas dari 90 valid. Rata-rata 90% dan 10% adalah 50%, tetapi CSAT gabungan adalah 18/100 = 18%. Rumus persentase perlu pembilang dan penyebut, bukan hanya kolom persentase. Skor 1–5 dan rasio 0–1 merupakan skala yang berbeda.</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Jika sumber masih Excel, upload ke Google Drive lalu buka atau konversi menjadi Google Sheets. Periksa hasil formula, jumlah baris dan tanggal setelah konversi. Service account backend diberi Viewer menggunakan email yang disediakan admin. Aplikasi membaca dan tidak menulis ulang Sheet. Gunakan contoh fiktif saat latihan.</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sumber mencakup unit pemilik, domain bisnis, yurisdiksi, purpose, data owner/steward dan sensitivitas. Opsi unit/domain/yurisdiksi mengikuti assignment aktif pengguna. Jika kosong, hubungi admin, bukan memilih scope sembarang. Hubungkan &amp; profiling mendaftarkan sumber dan memulai job discovery/profiling. Pantau job sampai sukses; sumber dapat tetap tercatat meskipun job gagal.</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Pilih MASTER untuk rujukan stabil dan NON_MASTER untuk kejadian, aktivitas, pengukuran atau rekap. Dikecualikan dipakai untuk petunjuk dan dua tab kontrol analitik. Setelah tab baru atau rename, jalankan Temukan tab / discovery ulang dan profiling ulang pada sumber yang sama. Profiling memberi gambaran awal, bukan jaminan seluruh record valid.</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Nama bagian mengikuti wizard aktual. Identitas dataset menentukan grain. Kolom dan sensitivitas menentukan mapping, tipe, nullable, key, PII dan referensi. Cleansing menentukan transformasi. Kualitas data menentukan aturan dan tindakan gagal. Pemuatan memilih target/strategi. Analitik dan akses menentukan dimensi/metrik/role. Validasi dan persetujuan menguji, meninjau perubahan schema dan menyelesaikan review.</a:t>
            </a:r>
          </a:p>
          <a:p/>
          <a:p>
            <a:r>
              <a:t>Rujukan aplikasi: docs/PANDUAN_REVIEW_ETL.md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mapping adalah ilustrasi. complaint_id text wajib terisi dan key. event_date date adalah tanggal bisnis. Jika input merupakan ISO text gunakan parse_date_id/TEXT/%Y-%m-%d; jika serial gunakan pilihan Serial Google Sheets. completed_at boleh kosong ketika belum selesai; jangan membuat nol/tanggal palsu. Numeric merupakan pilihan angka uang/pengukuran. Kolom identitas pribadi perlu sensitivitas dan akses yang sesuai.</a:t>
            </a:r>
          </a:p>
          <a:p/>
          <a:p>
            <a:r>
              <a:t>Rujukan aplikasi: docs/PANDUAN_REVIEW_ETL.md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Trim otomatis hanya membuang spasi awal/akhir untuk text/varchar. Spasi di tengah, huruf dan nol depan dipertahankan. Spasi saja menjadi kosong/NULL dan tetap gagal bila kolom wajib. Tambahan transformasi harus direview. DQ dapat WARN, REJECT_ROW, STOP_BATCH atau REQUIRE_REVIEW. Jangan menganggap semua pemeriksaan lintas kolom atau overlap waktu otomatis tersedia.</a:t>
            </a:r>
          </a:p>
          <a:p/>
          <a:p>
            <a:r>
              <a:t>Rujukan aplikasi: docs/PANDUAN_REVIEW_ETL.md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 untuk catatan baru; sync ulang kejadian lama tanpa kontrol bisa menggandakan data. UPSERT memperbarui berdasarkan business key stabil. FULL_REFRESH mengganti snapshot lengkap dan tetap menggunakan review batch, tidak jalur sync langsung NON_MASTER. Jangan menerapkan FULL_REFRESH pada sumber parsial.</a:t>
            </a:r>
          </a:p>
          <a:p/>
          <a:p>
            <a:r>
              <a:t>Rujukan aplikasi: docs/PANDUAN_REVIEW_ETL.md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manual dapat memiliki metrics kosong; tambahkan metrik sebelum berharap analitik angka bekerja. Contoh SUM complaint_count menghasilkan jumlah keluhan. Dimensi digunakan untuk kelompok/filter. Definisi, unit, sinonim dan periode membantu AI memilih metrik. Agregasi editor dibatasi sum/count/avg/min/max/count_distinct; formula gabungan menggunakan backend aturan atau hasil perhitungan Sheet yang direview. Kolom sensitif MEDIUM/HIGH tidak dijadikan dimensi/metrik.</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Dry-run menampilkan baris valid/bermasalah, sebelum-sesudah dan blocker. Preview schema memuat kolom tambahan, tipe, nullability, key, dampak view/dependency dan konversi tanggal. Reviewer berbeda menilai mapping dan schema pada revisi yang sama. Approval gabungan dapat menyetujui metadata dan mengaktifkan policy SOURCE yang sudah APPROVED. Gate IT/unit tetap berlaku bila diwajibkan. Perubahan schema yang didukung dieksekusi worker saat Deploy dalam transaksi; perubahan yang tidak aman diblokir.</a:t>
            </a:r>
          </a:p>
          <a:p/>
          <a:p>
            <a:r>
              <a:t>Rujukan aplikasi: docs/PANDUAN_REVIEW_ETL.md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menyiapkan/menyesuaikan struktur target dan semantic view. Jalankan Sync manual di Workspace atau Sumber &amp; tracking. NON_MASTER ACTIVE yang seluruh validasi/gate-nya lolos dapat dimuat langsung; master, FULL_REFRESH, jadwal/batch biasa tetap preview/approval/Apply. Job induk sukses belum berarti semua tab sukses. Muat ulang hanya membaca status, tidak menjalankan sync.</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SOURCE_READ_FAILED memiliki beberapa kemungkinan termasuk nama tab/range; SOURCE_ACCESS_DENIED berkaitan izin service account. REVIEW_STALE berarti snapshot berubah sejak review. NEEDS_INPUT adalah status menunggu tindakan, bukan worker sedang jalan. Belum muncul di katalog dapat berasal dari akses atau data belum dimuat. Muat ulang tidak memulai discovery/profiling/sync.</a:t>
            </a:r>
          </a:p>
          <a:p/>
          <a:p>
            <a:r>
              <a:t>Rujukan aplikasi: docs/ERROR_RESPONSES.md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Konfigurasi aktif dan policy disetujui merupakan gate berbeda. Pembaca harus memiliki assignment dan policy source/product yang tepat serta role yang diizinkan. Periksa sumber/tab dan waktu dimuat di katalog atau detail hasil ETL. Versi aktif lama dapat tetap terlihat selama revisi jika akses masih sah; baca freshness dan status terbaru.</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pertanyaan contoh dan pastikan metriknya sudah tersedia. Query builder memberi kontrol eksplisit dimensi, metrik, filter, sort, serta join approved. AI dapat meminta klarifikasi, misalnya untuk periode ambigu. Query hasil data mengikuti izin pembaca. Jangan menuntut chart atas metrik yang belum didefinisikan.</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chart ini ilustrasi editable PowerPoint, bukan screenshot atau data production. Januari 32 keluhan dan 12 pelanggaran, Februari 40 dan 8, Maret 36 dan 3. Rasio 37,5%, 20% dan 8,3%. Perubahan rasio adalah pola deskriptif; tidak membuktikan penyebab atau efek tindakan. Pilihan chart aplikasi mengikuti field/metrik hasil query.</a:t>
            </a:r>
          </a:p>
          <a:p/>
          <a:p>
            <a:r>
              <a:t>Rujukan aplikasi: docs/USER_GUIDE_END_TO_END.md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paket template yang tersedia di aplikasi. Seluruh data dan target fiktif. Marketing ATL tidak diberi angka atribusi palsu jika tidak terukur. CSAT bukan NPS. Competitiveness menormalkan ukuran kemasan dan membatasi keterbandingan. KPI memakai HIGHER/LOWER sesuai indikator. Master identik cukup dimuat sekali dan digunakan ulang.</a:t>
            </a:r>
          </a:p>
          <a:p/>
          <a:p>
            <a:r>
              <a:t>Rujukan aplikasi: docs/CONTOH_DATA_ANALITIK.md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Formula_Analitik memuat formula_code, expression, output_unit, description. Aturan_Action_Plan memuat rule_code, formula_code, operator, threshold, threshold_upper, action_description, owner_team_code, priority, due_days. Header harus sesuai template. Formula menggunakan kode metrik yang tersedia dan + - * / serta kurung, tanpa awalan =Excel. Aturan mengacu formula dan angka ambang. 50% pada RATIO = 0.50. Impor dari sumber yang sama dengan produk, preview, reviewer sumber berbeda approves hash, lalu evaluate. Pengeditan tab/semantic memerlukan draft dan review baru; REVOKE menghentikan aturan approved.</a:t>
            </a:r>
          </a:p>
          <a:p/>
          <a:p>
            <a:r>
              <a:t>Rujukan aplikasi: docs/PANDUAN_ATURAN_ANALITIK.md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Ilustrasi Januari memiliki 32 keluhan dan 12 pelanggaran. Formula 12/32 = 0.375, lebih besar dari threshold 0.10. Evaluasi memberi usulan review antrean/shift, tim TEAM-CS, tenggat tujuh hari dari tanggal evaluasi UTC dan cause_status UNVERIFIED. Backend tidak menjalankan tindakan, menulis Sheet, mengirim notifikasi atau memberi hak akses berdasarkan owner_team_code. NULL atau denominator nol memberi blocker dan tidak memicu aturan terkait.</a:t>
            </a:r>
          </a:p>
          <a:p/>
          <a:p>
            <a:r>
              <a:t>Rujukan aplikasi: docs/PANDUAN_ATURAN_ANALITIK.md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Pemilik bisnis menentukan apakah usulan masuk akal dan menambah rencana pelaksanaan yang terukur. Catat baseline, target, owner, due_date, completed_at, periode follow-up, followup_value dan evidence_ref. Bandingkan metode serta populasi yang sebanding dan catat intervensi lain. Backend aturan hanya menghitung usulan; pemantauan pelaksanaan saat ini dicatat manusia, misalnya melalui tab Action_Plan. Kosong bukan hasil nol.</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Jadikan checklist ini acceptance criteria untuk pilot. Hindari janji angka peningkatan yang belum diukur. Target manfaat ditetapkan bisnis dan dievaluasi pada periode follow-up. Kepercayaan analitik tidak cukup dengan job sukses; kualitas, akses, definisi dan cakupan juga harus benar.</a:t>
            </a:r>
          </a:p>
          <a:p/>
          <a:p>
            <a:r>
              <a:t>Rujukan aplikasi: docs/PANDUAN_FORMAT_GOOGLE_SHEET.md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menggunakan file Keluhan Pelanggan dalam paket. Urutan demo: cek BACA_DULU/Kamus_Data/Rencana_ETL, konversi ke Sheets, hubungkan dan profiling, klasifikasikan tab, isi tujuh bagian konfigurasi, review/deploy, sync dan validasi per tab, buka katalog dan query/chart. Demonstrasikan aturan action plan lewat API terpisah bila peserta teknis tersedia. Jangan mengubah sumber production aktif dengan data contoh. Tautan dalam slide dapat diklik. Catatan pembicara setiap slide memuat referensi dan penjelasan tambahan.</a:t>
            </a:r>
          </a:p>
          <a:p/>
          <a:p>
            <a:r>
              <a:t>Rujukan aplikasi: docs/CONTOH_DATA_ANALITIK.md</a:t>
            </a:r>
          </a:p>
          <a:p>
            <a:r>
              <a:t>Materi sesuai dokumentasi dan implementasi per 12 Oktober 2026. Semua angka ilustrasi dalam presentasi adalah simulasi, bukan data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1.xml"/><Relationship Id="rId4" Type="http://schemas.openxmlformats.org/officeDocument/2006/relationships/chart" Target="../charts/char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google.kanjabung.web.id/guide" TargetMode="External"/><Relationship Id="rId4" Type="http://schemas.openxmlformats.org/officeDocument/2006/relationships/hyperlink" Target="https://google.kanjabung.web.id/examples/analytics/Paket_5_Contoh_Analitik.zip" TargetMode="External"/><Relationship Id="rId5" Type="http://schemas.openxmlformats.org/officeDocument/2006/relationships/hyperlink" Target="https://google.kanjabung.web.id/examples/analytics/PANDUAN_ATURAN_ANALITIK.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5E4B"/>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
            </a:r>
          </a:p>
        </p:txBody>
      </p:sp>
      <p:sp>
        <p:nvSpPr>
          <p:cNvPr id="5" name="Rectangle 4"/>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7" name="TextBox 6"/>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01</a:t>
            </a:r>
          </a:p>
        </p:txBody>
      </p:sp>
      <p:sp>
        <p:nvSpPr>
          <p:cNvPr id="8" name="TextBox 7"/>
          <p:cNvSpPr txBox="1"/>
          <p:nvPr/>
        </p:nvSpPr>
        <p:spPr>
          <a:xfrm>
            <a:off x="640080" y="658368"/>
            <a:ext cx="8229600" cy="411480"/>
          </a:xfrm>
          <a:prstGeom prst="rect">
            <a:avLst/>
          </a:prstGeom>
          <a:noFill/>
        </p:spPr>
        <p:txBody>
          <a:bodyPr wrap="square" lIns="0" rIns="0" tIns="0" bIns="0" anchor="t">
            <a:spAutoFit/>
          </a:bodyPr>
          <a:lstStyle/>
          <a:p>
            <a:pPr algn="l">
              <a:lnSpc>
                <a:spcPct val="108000"/>
              </a:lnSpc>
              <a:spcAft>
                <a:spcPts val="700"/>
              </a:spcAft>
            </a:pPr>
            <a:r>
              <a:rPr sz="1500" b="1">
                <a:solidFill>
                  <a:srgbClr val="AEE0CA"/>
                </a:solidFill>
                <a:latin typeface="Calibri"/>
              </a:rPr>
              <a:t>PANDUAN PENGGUNAAN • UNTUK TIM BISNIS</a:t>
            </a:r>
          </a:p>
        </p:txBody>
      </p:sp>
      <p:sp>
        <p:nvSpPr>
          <p:cNvPr id="9" name="TextBox 8"/>
          <p:cNvSpPr txBox="1"/>
          <p:nvPr/>
        </p:nvSpPr>
        <p:spPr>
          <a:xfrm>
            <a:off x="640080" y="1499616"/>
            <a:ext cx="7498079" cy="2331720"/>
          </a:xfrm>
          <a:prstGeom prst="rect">
            <a:avLst/>
          </a:prstGeom>
          <a:noFill/>
        </p:spPr>
        <p:txBody>
          <a:bodyPr wrap="square" lIns="0" rIns="0" tIns="0" bIns="0" anchor="t">
            <a:spAutoFit/>
          </a:bodyPr>
          <a:lstStyle/>
          <a:p>
            <a:pPr algn="l">
              <a:lnSpc>
                <a:spcPct val="108000"/>
              </a:lnSpc>
              <a:spcAft>
                <a:spcPts val="700"/>
              </a:spcAft>
            </a:pPr>
            <a:r>
              <a:rPr sz="4300" b="1">
                <a:solidFill>
                  <a:srgbClr val="FFFFFF"/>
                </a:solidFill>
                <a:latin typeface="Calibri"/>
              </a:rPr>
              <a:t>Dari Google Sheets</a:t>
            </a:r>
          </a:p>
          <a:p>
            <a:pPr algn="l">
              <a:lnSpc>
                <a:spcPct val="108000"/>
              </a:lnSpc>
              <a:spcAft>
                <a:spcPts val="700"/>
              </a:spcAft>
            </a:pPr>
            <a:r>
              <a:rPr sz="4300" b="1">
                <a:solidFill>
                  <a:srgbClr val="FFFFFF"/>
                </a:solidFill>
                <a:latin typeface="Calibri"/>
              </a:rPr>
              <a:t>ke Analitik</a:t>
            </a:r>
          </a:p>
          <a:p>
            <a:pPr algn="l">
              <a:lnSpc>
                <a:spcPct val="108000"/>
              </a:lnSpc>
              <a:spcAft>
                <a:spcPts val="700"/>
              </a:spcAft>
            </a:pPr>
            <a:r>
              <a:rPr sz="4300" b="1">
                <a:solidFill>
                  <a:srgbClr val="FFFFFF"/>
                </a:solidFill>
                <a:latin typeface="Calibri"/>
              </a:rPr>
              <a:t>dan Action Plan</a:t>
            </a:r>
          </a:p>
        </p:txBody>
      </p:sp>
      <p:sp>
        <p:nvSpPr>
          <p:cNvPr id="10" name="TextBox 9"/>
          <p:cNvSpPr txBox="1"/>
          <p:nvPr/>
        </p:nvSpPr>
        <p:spPr>
          <a:xfrm>
            <a:off x="667512" y="4206240"/>
            <a:ext cx="7223760" cy="1024128"/>
          </a:xfrm>
          <a:prstGeom prst="rect">
            <a:avLst/>
          </a:prstGeom>
          <a:noFill/>
        </p:spPr>
        <p:txBody>
          <a:bodyPr wrap="square" lIns="0" rIns="0" tIns="0" bIns="0" anchor="t">
            <a:spAutoFit/>
          </a:bodyPr>
          <a:lstStyle/>
          <a:p>
            <a:pPr algn="l">
              <a:lnSpc>
                <a:spcPct val="108000"/>
              </a:lnSpc>
              <a:spcAft>
                <a:spcPts val="700"/>
              </a:spcAft>
            </a:pPr>
            <a:r>
              <a:rPr sz="2300" b="0">
                <a:solidFill>
                  <a:srgbClr val="D9EFE6"/>
                </a:solidFill>
                <a:latin typeface="Calibri"/>
              </a:rPr>
              <a:t>Siapkan sumber yang rapi. Review definisinya.</a:t>
            </a:r>
          </a:p>
          <a:p>
            <a:pPr algn="l">
              <a:lnSpc>
                <a:spcPct val="108000"/>
              </a:lnSpc>
              <a:spcAft>
                <a:spcPts val="700"/>
              </a:spcAft>
            </a:pPr>
            <a:r>
              <a:rPr sz="2300" b="0">
                <a:solidFill>
                  <a:srgbClr val="D9EFE6"/>
                </a:solidFill>
                <a:latin typeface="Calibri"/>
              </a:rPr>
              <a:t>Baca hasilnya. Putuskan tindakan berdasarkan bukti.</a:t>
            </a:r>
          </a:p>
        </p:txBody>
      </p:sp>
      <p:sp>
        <p:nvSpPr>
          <p:cNvPr id="11" name="Rounded Rectangle 10"/>
          <p:cNvSpPr/>
          <p:nvPr/>
        </p:nvSpPr>
        <p:spPr>
          <a:xfrm>
            <a:off x="8366760" y="1508760"/>
            <a:ext cx="3108960" cy="1060704"/>
          </a:xfrm>
          <a:prstGeom prst="roundRect">
            <a:avLst>
              <a:gd name="adj" fmla="val 12000"/>
            </a:avLst>
          </a:prstGeom>
          <a:solidFill>
            <a:srgbClr val="0C7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1691640"/>
            <a:ext cx="2651760" cy="365760"/>
          </a:xfrm>
          <a:prstGeom prst="rect">
            <a:avLst/>
          </a:prstGeom>
          <a:noFill/>
        </p:spPr>
        <p:txBody>
          <a:bodyPr wrap="square" lIns="0" rIns="0" tIns="0" bIns="0" anchor="t">
            <a:spAutoFit/>
          </a:bodyPr>
          <a:lstStyle/>
          <a:p>
            <a:pPr algn="l">
              <a:lnSpc>
                <a:spcPct val="108000"/>
              </a:lnSpc>
              <a:spcAft>
                <a:spcPts val="700"/>
              </a:spcAft>
            </a:pPr>
            <a:r>
              <a:rPr sz="2300" b="1">
                <a:solidFill>
                  <a:srgbClr val="FFFFFF"/>
                </a:solidFill>
                <a:latin typeface="Calibri"/>
              </a:rPr>
              <a:t>DATA</a:t>
            </a:r>
          </a:p>
        </p:txBody>
      </p:sp>
      <p:sp>
        <p:nvSpPr>
          <p:cNvPr id="13" name="TextBox 12"/>
          <p:cNvSpPr txBox="1"/>
          <p:nvPr/>
        </p:nvSpPr>
        <p:spPr>
          <a:xfrm>
            <a:off x="8595360" y="2176272"/>
            <a:ext cx="2651760" cy="274320"/>
          </a:xfrm>
          <a:prstGeom prst="rect">
            <a:avLst/>
          </a:prstGeom>
          <a:noFill/>
        </p:spPr>
        <p:txBody>
          <a:bodyPr wrap="square" lIns="0" rIns="0" tIns="0" bIns="0" anchor="t">
            <a:spAutoFit/>
          </a:bodyPr>
          <a:lstStyle/>
          <a:p>
            <a:pPr algn="l">
              <a:lnSpc>
                <a:spcPct val="108000"/>
              </a:lnSpc>
              <a:spcAft>
                <a:spcPts val="700"/>
              </a:spcAft>
            </a:pPr>
            <a:r>
              <a:rPr sz="1500" b="0">
                <a:solidFill>
                  <a:srgbClr val="D9EFE6"/>
                </a:solidFill>
                <a:latin typeface="Calibri"/>
              </a:rPr>
              <a:t>Kolom • kode • periode</a:t>
            </a:r>
          </a:p>
        </p:txBody>
      </p:sp>
      <p:sp>
        <p:nvSpPr>
          <p:cNvPr id="14" name="Rounded Rectangle 13"/>
          <p:cNvSpPr/>
          <p:nvPr/>
        </p:nvSpPr>
        <p:spPr>
          <a:xfrm>
            <a:off x="8366760" y="2834639"/>
            <a:ext cx="3108960" cy="1060704"/>
          </a:xfrm>
          <a:prstGeom prst="roundRect">
            <a:avLst>
              <a:gd name="adj" fmla="val 12000"/>
            </a:avLst>
          </a:prstGeom>
          <a:solidFill>
            <a:srgbClr val="0C7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3017520"/>
            <a:ext cx="2651760" cy="365760"/>
          </a:xfrm>
          <a:prstGeom prst="rect">
            <a:avLst/>
          </a:prstGeom>
          <a:noFill/>
        </p:spPr>
        <p:txBody>
          <a:bodyPr wrap="square" lIns="0" rIns="0" tIns="0" bIns="0" anchor="t">
            <a:spAutoFit/>
          </a:bodyPr>
          <a:lstStyle/>
          <a:p>
            <a:pPr algn="l">
              <a:lnSpc>
                <a:spcPct val="108000"/>
              </a:lnSpc>
              <a:spcAft>
                <a:spcPts val="700"/>
              </a:spcAft>
            </a:pPr>
            <a:r>
              <a:rPr sz="2300" b="1">
                <a:solidFill>
                  <a:srgbClr val="FFFFFF"/>
                </a:solidFill>
                <a:latin typeface="Calibri"/>
              </a:rPr>
              <a:t>ANALITIK</a:t>
            </a:r>
          </a:p>
        </p:txBody>
      </p:sp>
      <p:sp>
        <p:nvSpPr>
          <p:cNvPr id="16" name="TextBox 15"/>
          <p:cNvSpPr txBox="1"/>
          <p:nvPr/>
        </p:nvSpPr>
        <p:spPr>
          <a:xfrm>
            <a:off x="8595360" y="3502152"/>
            <a:ext cx="2651760" cy="274320"/>
          </a:xfrm>
          <a:prstGeom prst="rect">
            <a:avLst/>
          </a:prstGeom>
          <a:noFill/>
        </p:spPr>
        <p:txBody>
          <a:bodyPr wrap="square" lIns="0" rIns="0" tIns="0" bIns="0" anchor="t">
            <a:spAutoFit/>
          </a:bodyPr>
          <a:lstStyle/>
          <a:p>
            <a:pPr algn="l">
              <a:lnSpc>
                <a:spcPct val="108000"/>
              </a:lnSpc>
              <a:spcAft>
                <a:spcPts val="700"/>
              </a:spcAft>
            </a:pPr>
            <a:r>
              <a:rPr sz="1500" b="0">
                <a:solidFill>
                  <a:srgbClr val="D9EFE6"/>
                </a:solidFill>
                <a:latin typeface="Calibri"/>
              </a:rPr>
              <a:t>Metrik • tabel • chart</a:t>
            </a:r>
          </a:p>
        </p:txBody>
      </p:sp>
      <p:sp>
        <p:nvSpPr>
          <p:cNvPr id="17" name="Rounded Rectangle 16"/>
          <p:cNvSpPr/>
          <p:nvPr/>
        </p:nvSpPr>
        <p:spPr>
          <a:xfrm>
            <a:off x="8366760" y="4160520"/>
            <a:ext cx="3108960" cy="1060704"/>
          </a:xfrm>
          <a:prstGeom prst="roundRect">
            <a:avLst>
              <a:gd name="adj" fmla="val 12000"/>
            </a:avLst>
          </a:prstGeom>
          <a:solidFill>
            <a:srgbClr val="0C7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4343400"/>
            <a:ext cx="2651760" cy="365760"/>
          </a:xfrm>
          <a:prstGeom prst="rect">
            <a:avLst/>
          </a:prstGeom>
          <a:noFill/>
        </p:spPr>
        <p:txBody>
          <a:bodyPr wrap="square" lIns="0" rIns="0" tIns="0" bIns="0" anchor="t">
            <a:spAutoFit/>
          </a:bodyPr>
          <a:lstStyle/>
          <a:p>
            <a:pPr algn="l">
              <a:lnSpc>
                <a:spcPct val="108000"/>
              </a:lnSpc>
              <a:spcAft>
                <a:spcPts val="700"/>
              </a:spcAft>
            </a:pPr>
            <a:r>
              <a:rPr sz="2300" b="1">
                <a:solidFill>
                  <a:srgbClr val="FFFFFF"/>
                </a:solidFill>
                <a:latin typeface="Calibri"/>
              </a:rPr>
              <a:t>TINDAKAN</a:t>
            </a:r>
          </a:p>
        </p:txBody>
      </p:sp>
      <p:sp>
        <p:nvSpPr>
          <p:cNvPr id="19" name="TextBox 18"/>
          <p:cNvSpPr txBox="1"/>
          <p:nvPr/>
        </p:nvSpPr>
        <p:spPr>
          <a:xfrm>
            <a:off x="8595360" y="4828031"/>
            <a:ext cx="2651760" cy="274320"/>
          </a:xfrm>
          <a:prstGeom prst="rect">
            <a:avLst/>
          </a:prstGeom>
          <a:noFill/>
        </p:spPr>
        <p:txBody>
          <a:bodyPr wrap="square" lIns="0" rIns="0" tIns="0" bIns="0" anchor="t">
            <a:spAutoFit/>
          </a:bodyPr>
          <a:lstStyle/>
          <a:p>
            <a:pPr algn="l">
              <a:lnSpc>
                <a:spcPct val="108000"/>
              </a:lnSpc>
              <a:spcAft>
                <a:spcPts val="700"/>
              </a:spcAft>
            </a:pPr>
            <a:r>
              <a:rPr sz="1500" b="0">
                <a:solidFill>
                  <a:srgbClr val="D9EFE6"/>
                </a:solidFill>
                <a:latin typeface="Calibri"/>
              </a:rPr>
              <a:t>Aturan • pemilik • evaluasi</a:t>
            </a:r>
          </a:p>
        </p:txBody>
      </p:sp>
      <p:sp>
        <p:nvSpPr>
          <p:cNvPr id="20" name="TextBox 19"/>
          <p:cNvSpPr txBox="1"/>
          <p:nvPr/>
        </p:nvSpPr>
        <p:spPr>
          <a:xfrm>
            <a:off x="667512" y="5852160"/>
            <a:ext cx="8229600" cy="347472"/>
          </a:xfrm>
          <a:prstGeom prst="rect">
            <a:avLst/>
          </a:prstGeom>
          <a:noFill/>
        </p:spPr>
        <p:txBody>
          <a:bodyPr wrap="square" lIns="0" rIns="0" tIns="0" bIns="0" anchor="t">
            <a:spAutoFit/>
          </a:bodyPr>
          <a:lstStyle/>
          <a:p>
            <a:pPr algn="l">
              <a:lnSpc>
                <a:spcPct val="108000"/>
              </a:lnSpc>
              <a:spcAft>
                <a:spcPts val="700"/>
              </a:spcAft>
            </a:pPr>
            <a:r>
              <a:rPr sz="1500" b="0">
                <a:solidFill>
                  <a:srgbClr val="D9EFE6"/>
                </a:solidFill>
                <a:latin typeface="Calibri"/>
              </a:rPr>
              <a:t>Google Sheet AI  |  Panduan praktis  |  12 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Tujuan: keputusan yang bisa dijelaskan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Ukuran keberhasilan dimulai dari mutu data dan definisi bisnis.</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02</a:t>
            </a:r>
          </a:p>
        </p:txBody>
      </p:sp>
      <p:sp>
        <p:nvSpPr>
          <p:cNvPr id="9" name="Rounded Rectangle 8"/>
          <p:cNvSpPr/>
          <p:nvPr/>
        </p:nvSpPr>
        <p:spPr>
          <a:xfrm>
            <a:off x="594360" y="2103120"/>
            <a:ext cx="534924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164592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Satu bahasa bisnis</a:t>
            </a:r>
          </a:p>
        </p:txBody>
      </p:sp>
      <p:sp>
        <p:nvSpPr>
          <p:cNvPr id="12" name="TextBox 11"/>
          <p:cNvSpPr txBox="1"/>
          <p:nvPr/>
        </p:nvSpPr>
        <p:spPr>
          <a:xfrm>
            <a:off x="804672" y="2916936"/>
            <a:ext cx="4928616" cy="713232"/>
          </a:xfrm>
          <a:prstGeom prst="rect">
            <a:avLst/>
          </a:prstGeom>
          <a:noFill/>
        </p:spPr>
        <p:txBody>
          <a:bodyPr wrap="square" lIns="0" rIns="0" tIns="0" bIns="0" anchor="t">
            <a:spAutoFit/>
          </a:bodyPr>
          <a:lstStyle/>
          <a:p>
            <a:pPr algn="l">
              <a:lnSpc>
                <a:spcPct val="108000"/>
              </a:lnSpc>
              <a:spcAft>
                <a:spcPts val="700"/>
              </a:spcAft>
            </a:pPr>
            <a:r>
              <a:rPr sz="1700" b="0">
                <a:solidFill>
                  <a:srgbClr val="173B36"/>
                </a:solidFill>
                <a:latin typeface="Calibri"/>
              </a:rPr>
              <a:t>Nama produk, unit, kategori, satuan dan periode dipahami dengan arti yang sama.</a:t>
            </a:r>
          </a:p>
        </p:txBody>
      </p:sp>
      <p:sp>
        <p:nvSpPr>
          <p:cNvPr id="13" name="Rounded Rectangle 12"/>
          <p:cNvSpPr/>
          <p:nvPr/>
        </p:nvSpPr>
        <p:spPr>
          <a:xfrm>
            <a:off x="6172200" y="2103120"/>
            <a:ext cx="534924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164592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Angka bisa ditelusuri</a:t>
            </a:r>
          </a:p>
        </p:txBody>
      </p:sp>
      <p:sp>
        <p:nvSpPr>
          <p:cNvPr id="16" name="TextBox 15"/>
          <p:cNvSpPr txBox="1"/>
          <p:nvPr/>
        </p:nvSpPr>
        <p:spPr>
          <a:xfrm>
            <a:off x="6382512" y="2916936"/>
            <a:ext cx="4928616" cy="713232"/>
          </a:xfrm>
          <a:prstGeom prst="rect">
            <a:avLst/>
          </a:prstGeom>
          <a:noFill/>
        </p:spPr>
        <p:txBody>
          <a:bodyPr wrap="square" lIns="0" rIns="0" tIns="0" bIns="0" anchor="t">
            <a:spAutoFit/>
          </a:bodyPr>
          <a:lstStyle/>
          <a:p>
            <a:pPr algn="l">
              <a:lnSpc>
                <a:spcPct val="108000"/>
              </a:lnSpc>
              <a:spcAft>
                <a:spcPts val="700"/>
              </a:spcAft>
            </a:pPr>
            <a:r>
              <a:rPr sz="1700" b="0">
                <a:solidFill>
                  <a:srgbClr val="173B36"/>
                </a:solidFill>
                <a:latin typeface="Calibri"/>
              </a:rPr>
              <a:t>Jawaban memiliki sumber, rumus, cakupan periode dan status pemuatan.</a:t>
            </a:r>
          </a:p>
        </p:txBody>
      </p:sp>
      <p:sp>
        <p:nvSpPr>
          <p:cNvPr id="17" name="Rounded Rectangle 16"/>
          <p:cNvSpPr/>
          <p:nvPr/>
        </p:nvSpPr>
        <p:spPr>
          <a:xfrm>
            <a:off x="594360" y="3931920"/>
            <a:ext cx="534924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931920"/>
            <a:ext cx="45720" cy="164592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1148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Akses sesuai kebutuhan</a:t>
            </a:r>
          </a:p>
        </p:txBody>
      </p:sp>
      <p:sp>
        <p:nvSpPr>
          <p:cNvPr id="20" name="TextBox 19"/>
          <p:cNvSpPr txBox="1"/>
          <p:nvPr/>
        </p:nvSpPr>
        <p:spPr>
          <a:xfrm>
            <a:off x="804672" y="4745736"/>
            <a:ext cx="4928616" cy="713232"/>
          </a:xfrm>
          <a:prstGeom prst="rect">
            <a:avLst/>
          </a:prstGeom>
          <a:noFill/>
        </p:spPr>
        <p:txBody>
          <a:bodyPr wrap="square" lIns="0" rIns="0" tIns="0" bIns="0" anchor="t">
            <a:spAutoFit/>
          </a:bodyPr>
          <a:lstStyle/>
          <a:p>
            <a:pPr algn="l">
              <a:lnSpc>
                <a:spcPct val="108000"/>
              </a:lnSpc>
              <a:spcAft>
                <a:spcPts val="700"/>
              </a:spcAft>
            </a:pPr>
            <a:r>
              <a:rPr sz="1700" b="0">
                <a:solidFill>
                  <a:srgbClr val="173B36"/>
                </a:solidFill>
                <a:latin typeface="Calibri"/>
              </a:rPr>
              <a:t>Pembaca hanya melihat produk, kolom dan baris yang diizinkan.</a:t>
            </a:r>
          </a:p>
        </p:txBody>
      </p:sp>
      <p:sp>
        <p:nvSpPr>
          <p:cNvPr id="21" name="Rounded Rectangle 20"/>
          <p:cNvSpPr/>
          <p:nvPr/>
        </p:nvSpPr>
        <p:spPr>
          <a:xfrm>
            <a:off x="6172200" y="3931920"/>
            <a:ext cx="534924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931920"/>
            <a:ext cx="45720" cy="164592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41148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Perbaikan terukur</a:t>
            </a:r>
          </a:p>
        </p:txBody>
      </p:sp>
      <p:sp>
        <p:nvSpPr>
          <p:cNvPr id="24" name="TextBox 23"/>
          <p:cNvSpPr txBox="1"/>
          <p:nvPr/>
        </p:nvSpPr>
        <p:spPr>
          <a:xfrm>
            <a:off x="6382512" y="4745736"/>
            <a:ext cx="4928616" cy="713232"/>
          </a:xfrm>
          <a:prstGeom prst="rect">
            <a:avLst/>
          </a:prstGeom>
          <a:noFill/>
        </p:spPr>
        <p:txBody>
          <a:bodyPr wrap="square" lIns="0" rIns="0" tIns="0" bIns="0" anchor="t">
            <a:spAutoFit/>
          </a:bodyPr>
          <a:lstStyle/>
          <a:p>
            <a:pPr algn="l">
              <a:lnSpc>
                <a:spcPct val="108000"/>
              </a:lnSpc>
              <a:spcAft>
                <a:spcPts val="700"/>
              </a:spcAft>
            </a:pPr>
            <a:r>
              <a:rPr sz="1700" b="0">
                <a:solidFill>
                  <a:srgbClr val="173B36"/>
                </a:solidFill>
                <a:latin typeface="Calibri"/>
              </a:rPr>
              <a:t>Usulan tindakan punya pemilik, tenggat, baseline dan bukti evaluasi.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Output yang tersedia di aplikasi</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Pisahkan hasil analisis, usulan tindakan, dan keputusan pelaksanaannya.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PANDUAN_ATURAN_ANALITIK.md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03</a:t>
            </a:r>
          </a:p>
        </p:txBody>
      </p:sp>
      <p:graphicFrame>
        <p:nvGraphicFramePr>
          <p:cNvPr id="9" name="Table 8"/>
          <p:cNvGraphicFramePr>
            <a:graphicFrameLocks noGrp="1"/>
          </p:cNvGraphicFramePr>
          <p:nvPr/>
        </p:nvGraphicFramePr>
        <p:xfrm>
          <a:off x="594360" y="2121408"/>
          <a:ext cx="10972798" cy="3319272"/>
        </p:xfrm>
        <a:graphic>
          <a:graphicData uri="http://schemas.openxmlformats.org/drawingml/2006/table">
            <a:tbl>
              <a:tblPr firstRow="1" bandRow="1">
                <a:tableStyleId>{5C22544A-7EE6-4342-B048-85BDC9FD1C3A}</a:tableStyleId>
              </a:tblPr>
              <a:tblGrid>
                <a:gridCol w="1874519"/>
                <a:gridCol w="5349240"/>
                <a:gridCol w="3749039"/>
              </a:tblGrid>
              <a:tr h="663854">
                <a:tc>
                  <a:txBody>
                    <a:bodyPr/>
                    <a:lstStyle/>
                    <a:p>
                      <a:pPr>
                        <a:lnSpc>
                          <a:spcPct val="105000"/>
                        </a:lnSpc>
                        <a:spcAft>
                          <a:spcPts val="0"/>
                        </a:spcAft>
                      </a:pPr>
                      <a:r>
                        <a:rPr sz="1700" b="1">
                          <a:solidFill>
                            <a:srgbClr val="FFFFFF"/>
                          </a:solidFill>
                          <a:latin typeface="Calibri"/>
                        </a:rPr>
                        <a:t>Output</a:t>
                      </a:r>
                    </a:p>
                  </a:txBody>
                  <a:tcPr marL="128016" marR="128016" marT="91440" marB="91440" anchor="ctr">
                    <a:solidFill>
                      <a:srgbClr val="075E4B"/>
                    </a:solidFill>
                  </a:tcPr>
                </a:tc>
                <a:tc>
                  <a:txBody>
                    <a:bodyPr/>
                    <a:lstStyle/>
                    <a:p>
                      <a:pPr>
                        <a:lnSpc>
                          <a:spcPct val="105000"/>
                        </a:lnSpc>
                        <a:spcAft>
                          <a:spcPts val="0"/>
                        </a:spcAft>
                      </a:pPr>
                      <a:r>
                        <a:rPr sz="1700" b="1">
                          <a:solidFill>
                            <a:srgbClr val="FFFFFF"/>
                          </a:solidFill>
                          <a:latin typeface="Calibri"/>
                        </a:rPr>
                        <a:t>Isi yang dihasilkan</a:t>
                      </a:r>
                    </a:p>
                  </a:txBody>
                  <a:tcPr marL="128016" marR="128016" marT="91440" marB="91440" anchor="ctr">
                    <a:solidFill>
                      <a:srgbClr val="075E4B"/>
                    </a:solidFill>
                  </a:tcPr>
                </a:tc>
                <a:tc>
                  <a:txBody>
                    <a:bodyPr/>
                    <a:lstStyle/>
                    <a:p>
                      <a:pPr>
                        <a:lnSpc>
                          <a:spcPct val="105000"/>
                        </a:lnSpc>
                        <a:spcAft>
                          <a:spcPts val="0"/>
                        </a:spcAft>
                      </a:pPr>
                      <a:r>
                        <a:rPr sz="1700" b="1">
                          <a:solidFill>
                            <a:srgbClr val="FFFFFF"/>
                          </a:solidFill>
                          <a:latin typeface="Calibri"/>
                        </a:rPr>
                        <a:t>Cara mengakses</a:t>
                      </a:r>
                    </a:p>
                  </a:txBody>
                  <a:tcPr marL="128016" marR="128016" marT="91440" marB="91440" anchor="ctr">
                    <a:solidFill>
                      <a:srgbClr val="075E4B"/>
                    </a:solidFill>
                  </a:tcPr>
                </a:tc>
              </a:tr>
              <a:tr h="663854">
                <a:tc>
                  <a:txBody>
                    <a:bodyPr/>
                    <a:lstStyle/>
                    <a:p>
                      <a:pPr>
                        <a:lnSpc>
                          <a:spcPct val="105000"/>
                        </a:lnSpc>
                        <a:spcAft>
                          <a:spcPts val="0"/>
                        </a:spcAft>
                      </a:pPr>
                      <a:r>
                        <a:rPr sz="1700" b="0">
                          <a:solidFill>
                            <a:srgbClr val="173B36"/>
                          </a:solidFill>
                          <a:latin typeface="Calibri"/>
                        </a:rPr>
                        <a:t>Data product</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Data hasil ETL, definisi kolom, metrik dan sumber</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Katalog data</a:t>
                      </a:r>
                    </a:p>
                  </a:txBody>
                  <a:tcPr marL="128016" marR="128016" marT="91440" marB="91440" anchor="ctr">
                    <a:solidFill>
                      <a:srgbClr val="FFFFFF"/>
                    </a:solidFill>
                  </a:tcPr>
                </a:tc>
              </a:tr>
              <a:tr h="663854">
                <a:tc>
                  <a:txBody>
                    <a:bodyPr/>
                    <a:lstStyle/>
                    <a:p>
                      <a:pPr>
                        <a:lnSpc>
                          <a:spcPct val="105000"/>
                        </a:lnSpc>
                        <a:spcAft>
                          <a:spcPts val="0"/>
                        </a:spcAft>
                      </a:pPr>
                      <a:r>
                        <a:rPr sz="1700" b="0">
                          <a:solidFill>
                            <a:srgbClr val="173B36"/>
                          </a:solidFill>
                          <a:latin typeface="Calibri"/>
                        </a:rPr>
                        <a:t>Analitik</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Jawaban angka per produk / unit / periode</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Dashboard • query builder • pertanyaan AI</a:t>
                      </a:r>
                    </a:p>
                  </a:txBody>
                  <a:tcPr marL="128016" marR="128016" marT="91440" marB="91440" anchor="ctr">
                    <a:solidFill>
                      <a:srgbClr val="E7F2ED"/>
                    </a:solidFill>
                  </a:tcPr>
                </a:tc>
              </a:tr>
              <a:tr h="663854">
                <a:tc>
                  <a:txBody>
                    <a:bodyPr/>
                    <a:lstStyle/>
                    <a:p>
                      <a:pPr>
                        <a:lnSpc>
                          <a:spcPct val="105000"/>
                        </a:lnSpc>
                        <a:spcAft>
                          <a:spcPts val="0"/>
                        </a:spcAft>
                      </a:pPr>
                      <a:r>
                        <a:rPr sz="1700" b="0">
                          <a:solidFill>
                            <a:srgbClr val="173B36"/>
                          </a:solidFill>
                          <a:latin typeface="Calibri"/>
                        </a:rPr>
                        <a:t>Chart</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Visualisasi hasil query sesuai metrik dan dimensi</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Pilihan chart pada hasil analitik</a:t>
                      </a:r>
                    </a:p>
                  </a:txBody>
                  <a:tcPr marL="128016" marR="128016" marT="91440" marB="91440" anchor="ctr">
                    <a:solidFill>
                      <a:srgbClr val="FFFFFF"/>
                    </a:solidFill>
                  </a:tcPr>
                </a:tc>
              </a:tr>
              <a:tr h="663856">
                <a:tc>
                  <a:txBody>
                    <a:bodyPr/>
                    <a:lstStyle/>
                    <a:p>
                      <a:pPr>
                        <a:lnSpc>
                          <a:spcPct val="105000"/>
                        </a:lnSpc>
                        <a:spcAft>
                          <a:spcPts val="0"/>
                        </a:spcAft>
                      </a:pPr>
                      <a:r>
                        <a:rPr sz="1700" b="0">
                          <a:solidFill>
                            <a:srgbClr val="173B36"/>
                          </a:solidFill>
                          <a:latin typeface="Calibri"/>
                        </a:rPr>
                        <a:t>Action plan</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Usulan + aturan pemicu + nilai bukti + pemilik</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Backend API • approval terpisah</a:t>
                      </a:r>
                    </a:p>
                  </a:txBody>
                  <a:tcPr marL="128016" marR="128016" marT="91440" marB="91440" anchor="ctr">
                    <a:solidFill>
                      <a:srgbClr val="E7F2ED"/>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Aturan action plan belum dijalankan otomatis oleh wizard ETL atau chat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Alur ideal: data → analitik → perbaikan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Pengukuran ulang menutup siklus; chart saja belum membuktikan perbaikan.</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04</a:t>
            </a:r>
          </a:p>
        </p:txBody>
      </p:sp>
      <p:sp>
        <p:nvSpPr>
          <p:cNvPr id="9" name="Rounded Rectangle 8"/>
          <p:cNvSpPr/>
          <p:nvPr/>
        </p:nvSpPr>
        <p:spPr>
          <a:xfrm>
            <a:off x="594360" y="2395728"/>
            <a:ext cx="203911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651760"/>
            <a:ext cx="1691640" cy="548640"/>
          </a:xfrm>
          <a:prstGeom prst="rect">
            <a:avLst/>
          </a:prstGeom>
          <a:noFill/>
        </p:spPr>
        <p:txBody>
          <a:bodyPr wrap="square" lIns="0" rIns="0" tIns="0" bIns="0" anchor="t">
            <a:spAutoFit/>
          </a:bodyPr>
          <a:lstStyle/>
          <a:p>
            <a:pPr algn="l">
              <a:lnSpc>
                <a:spcPct val="108000"/>
              </a:lnSpc>
              <a:spcAft>
                <a:spcPts val="700"/>
              </a:spcAft>
            </a:pPr>
            <a:r>
              <a:rPr sz="3600" b="1">
                <a:solidFill>
                  <a:srgbClr val="075E4B"/>
                </a:solidFill>
                <a:latin typeface="Calibri"/>
              </a:rPr>
              <a:t>01</a:t>
            </a:r>
          </a:p>
        </p:txBody>
      </p:sp>
      <p:sp>
        <p:nvSpPr>
          <p:cNvPr id="11" name="TextBox 10"/>
          <p:cNvSpPr txBox="1"/>
          <p:nvPr/>
        </p:nvSpPr>
        <p:spPr>
          <a:xfrm>
            <a:off x="768096" y="3319272"/>
            <a:ext cx="1691640" cy="438912"/>
          </a:xfrm>
          <a:prstGeom prst="rect">
            <a:avLst/>
          </a:prstGeom>
          <a:noFill/>
        </p:spPr>
        <p:txBody>
          <a:bodyPr wrap="square" lIns="0" rIns="0" tIns="0" bIns="0" anchor="t">
            <a:spAutoFit/>
          </a:bodyPr>
          <a:lstStyle/>
          <a:p>
            <a:pPr algn="l">
              <a:lnSpc>
                <a:spcPct val="108000"/>
              </a:lnSpc>
              <a:spcAft>
                <a:spcPts val="700"/>
              </a:spcAft>
            </a:pPr>
            <a:r>
              <a:rPr sz="2000" b="1">
                <a:solidFill>
                  <a:srgbClr val="173B36"/>
                </a:solidFill>
                <a:latin typeface="Calibri"/>
              </a:rPr>
              <a:t>Catat data</a:t>
            </a:r>
          </a:p>
        </p:txBody>
      </p:sp>
      <p:sp>
        <p:nvSpPr>
          <p:cNvPr id="12" name="TextBox 11"/>
          <p:cNvSpPr txBox="1"/>
          <p:nvPr/>
        </p:nvSpPr>
        <p:spPr>
          <a:xfrm>
            <a:off x="768096" y="3941063"/>
            <a:ext cx="1691640" cy="630936"/>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Kejadian dan periode jelas</a:t>
            </a:r>
          </a:p>
        </p:txBody>
      </p:sp>
      <p:sp>
        <p:nvSpPr>
          <p:cNvPr id="13" name="Rounded Rectangle 12"/>
          <p:cNvSpPr/>
          <p:nvPr/>
        </p:nvSpPr>
        <p:spPr>
          <a:xfrm>
            <a:off x="2816352" y="2395728"/>
            <a:ext cx="203911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0088" y="2651760"/>
            <a:ext cx="1691640" cy="548640"/>
          </a:xfrm>
          <a:prstGeom prst="rect">
            <a:avLst/>
          </a:prstGeom>
          <a:noFill/>
        </p:spPr>
        <p:txBody>
          <a:bodyPr wrap="square" lIns="0" rIns="0" tIns="0" bIns="0" anchor="t">
            <a:spAutoFit/>
          </a:bodyPr>
          <a:lstStyle/>
          <a:p>
            <a:pPr algn="l">
              <a:lnSpc>
                <a:spcPct val="108000"/>
              </a:lnSpc>
              <a:spcAft>
                <a:spcPts val="700"/>
              </a:spcAft>
            </a:pPr>
            <a:r>
              <a:rPr sz="3600" b="1">
                <a:solidFill>
                  <a:srgbClr val="075E4B"/>
                </a:solidFill>
                <a:latin typeface="Calibri"/>
              </a:rPr>
              <a:t>02</a:t>
            </a:r>
          </a:p>
        </p:txBody>
      </p:sp>
      <p:sp>
        <p:nvSpPr>
          <p:cNvPr id="15" name="TextBox 14"/>
          <p:cNvSpPr txBox="1"/>
          <p:nvPr/>
        </p:nvSpPr>
        <p:spPr>
          <a:xfrm>
            <a:off x="2990088" y="3319272"/>
            <a:ext cx="1691640" cy="438912"/>
          </a:xfrm>
          <a:prstGeom prst="rect">
            <a:avLst/>
          </a:prstGeom>
          <a:noFill/>
        </p:spPr>
        <p:txBody>
          <a:bodyPr wrap="square" lIns="0" rIns="0" tIns="0" bIns="0" anchor="t">
            <a:spAutoFit/>
          </a:bodyPr>
          <a:lstStyle/>
          <a:p>
            <a:pPr algn="l">
              <a:lnSpc>
                <a:spcPct val="108000"/>
              </a:lnSpc>
              <a:spcAft>
                <a:spcPts val="700"/>
              </a:spcAft>
            </a:pPr>
            <a:r>
              <a:rPr sz="2000" b="1">
                <a:solidFill>
                  <a:srgbClr val="173B36"/>
                </a:solidFill>
                <a:latin typeface="Calibri"/>
              </a:rPr>
              <a:t>Validasi</a:t>
            </a:r>
          </a:p>
        </p:txBody>
      </p:sp>
      <p:sp>
        <p:nvSpPr>
          <p:cNvPr id="16" name="TextBox 15"/>
          <p:cNvSpPr txBox="1"/>
          <p:nvPr/>
        </p:nvSpPr>
        <p:spPr>
          <a:xfrm>
            <a:off x="2990088" y="3941063"/>
            <a:ext cx="1691640" cy="630936"/>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Key, tipe, referensi, akses</a:t>
            </a:r>
          </a:p>
        </p:txBody>
      </p:sp>
      <p:sp>
        <p:nvSpPr>
          <p:cNvPr id="17" name="Rounded Rectangle 16"/>
          <p:cNvSpPr/>
          <p:nvPr/>
        </p:nvSpPr>
        <p:spPr>
          <a:xfrm>
            <a:off x="5038344" y="2395728"/>
            <a:ext cx="203911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2651760"/>
            <a:ext cx="1691640" cy="548640"/>
          </a:xfrm>
          <a:prstGeom prst="rect">
            <a:avLst/>
          </a:prstGeom>
          <a:noFill/>
        </p:spPr>
        <p:txBody>
          <a:bodyPr wrap="square" lIns="0" rIns="0" tIns="0" bIns="0" anchor="t">
            <a:spAutoFit/>
          </a:bodyPr>
          <a:lstStyle/>
          <a:p>
            <a:pPr algn="l">
              <a:lnSpc>
                <a:spcPct val="108000"/>
              </a:lnSpc>
              <a:spcAft>
                <a:spcPts val="700"/>
              </a:spcAft>
            </a:pPr>
            <a:r>
              <a:rPr sz="3600" b="1">
                <a:solidFill>
                  <a:srgbClr val="075E4B"/>
                </a:solidFill>
                <a:latin typeface="Calibri"/>
              </a:rPr>
              <a:t>03</a:t>
            </a:r>
          </a:p>
        </p:txBody>
      </p:sp>
      <p:sp>
        <p:nvSpPr>
          <p:cNvPr id="19" name="TextBox 18"/>
          <p:cNvSpPr txBox="1"/>
          <p:nvPr/>
        </p:nvSpPr>
        <p:spPr>
          <a:xfrm>
            <a:off x="5212080" y="3319272"/>
            <a:ext cx="1691640" cy="438912"/>
          </a:xfrm>
          <a:prstGeom prst="rect">
            <a:avLst/>
          </a:prstGeom>
          <a:noFill/>
        </p:spPr>
        <p:txBody>
          <a:bodyPr wrap="square" lIns="0" rIns="0" tIns="0" bIns="0" anchor="t">
            <a:spAutoFit/>
          </a:bodyPr>
          <a:lstStyle/>
          <a:p>
            <a:pPr algn="l">
              <a:lnSpc>
                <a:spcPct val="108000"/>
              </a:lnSpc>
              <a:spcAft>
                <a:spcPts val="700"/>
              </a:spcAft>
            </a:pPr>
            <a:r>
              <a:rPr sz="2000" b="1">
                <a:solidFill>
                  <a:srgbClr val="173B36"/>
                </a:solidFill>
                <a:latin typeface="Calibri"/>
              </a:rPr>
              <a:t>Analisis</a:t>
            </a:r>
          </a:p>
        </p:txBody>
      </p:sp>
      <p:sp>
        <p:nvSpPr>
          <p:cNvPr id="20" name="TextBox 19"/>
          <p:cNvSpPr txBox="1"/>
          <p:nvPr/>
        </p:nvSpPr>
        <p:spPr>
          <a:xfrm>
            <a:off x="5212080" y="3941063"/>
            <a:ext cx="1691640" cy="630936"/>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Angka dan chart</a:t>
            </a:r>
          </a:p>
          <a:p>
            <a:pPr algn="l">
              <a:lnSpc>
                <a:spcPct val="108000"/>
              </a:lnSpc>
              <a:spcAft>
                <a:spcPts val="700"/>
              </a:spcAft>
            </a:pPr>
            <a:r>
              <a:rPr sz="1700" b="0">
                <a:solidFill>
                  <a:srgbClr val="617B75"/>
                </a:solidFill>
                <a:latin typeface="Calibri"/>
              </a:rPr>
              <a:t>Perbandingan</a:t>
            </a:r>
          </a:p>
        </p:txBody>
      </p:sp>
      <p:sp>
        <p:nvSpPr>
          <p:cNvPr id="21" name="Rounded Rectangle 20"/>
          <p:cNvSpPr/>
          <p:nvPr/>
        </p:nvSpPr>
        <p:spPr>
          <a:xfrm>
            <a:off x="7260336" y="2395728"/>
            <a:ext cx="203911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34072" y="2651760"/>
            <a:ext cx="1691640" cy="548640"/>
          </a:xfrm>
          <a:prstGeom prst="rect">
            <a:avLst/>
          </a:prstGeom>
          <a:noFill/>
        </p:spPr>
        <p:txBody>
          <a:bodyPr wrap="square" lIns="0" rIns="0" tIns="0" bIns="0" anchor="t">
            <a:spAutoFit/>
          </a:bodyPr>
          <a:lstStyle/>
          <a:p>
            <a:pPr algn="l">
              <a:lnSpc>
                <a:spcPct val="108000"/>
              </a:lnSpc>
              <a:spcAft>
                <a:spcPts val="700"/>
              </a:spcAft>
            </a:pPr>
            <a:r>
              <a:rPr sz="3600" b="1">
                <a:solidFill>
                  <a:srgbClr val="075E4B"/>
                </a:solidFill>
                <a:latin typeface="Calibri"/>
              </a:rPr>
              <a:t>04</a:t>
            </a:r>
          </a:p>
        </p:txBody>
      </p:sp>
      <p:sp>
        <p:nvSpPr>
          <p:cNvPr id="23" name="TextBox 22"/>
          <p:cNvSpPr txBox="1"/>
          <p:nvPr/>
        </p:nvSpPr>
        <p:spPr>
          <a:xfrm>
            <a:off x="7434072" y="3319272"/>
            <a:ext cx="1691640" cy="438912"/>
          </a:xfrm>
          <a:prstGeom prst="rect">
            <a:avLst/>
          </a:prstGeom>
          <a:noFill/>
        </p:spPr>
        <p:txBody>
          <a:bodyPr wrap="square" lIns="0" rIns="0" tIns="0" bIns="0" anchor="t">
            <a:spAutoFit/>
          </a:bodyPr>
          <a:lstStyle/>
          <a:p>
            <a:pPr algn="l">
              <a:lnSpc>
                <a:spcPct val="108000"/>
              </a:lnSpc>
              <a:spcAft>
                <a:spcPts val="700"/>
              </a:spcAft>
            </a:pPr>
            <a:r>
              <a:rPr sz="2000" b="1">
                <a:solidFill>
                  <a:srgbClr val="173B36"/>
                </a:solidFill>
                <a:latin typeface="Calibri"/>
              </a:rPr>
              <a:t>Tindak lanjut</a:t>
            </a:r>
          </a:p>
        </p:txBody>
      </p:sp>
      <p:sp>
        <p:nvSpPr>
          <p:cNvPr id="24" name="TextBox 23"/>
          <p:cNvSpPr txBox="1"/>
          <p:nvPr/>
        </p:nvSpPr>
        <p:spPr>
          <a:xfrm>
            <a:off x="7434072" y="3941063"/>
            <a:ext cx="1691640" cy="630936"/>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Pemilik dan tenggat</a:t>
            </a:r>
          </a:p>
        </p:txBody>
      </p:sp>
      <p:sp>
        <p:nvSpPr>
          <p:cNvPr id="25" name="Rounded Rectangle 24"/>
          <p:cNvSpPr/>
          <p:nvPr/>
        </p:nvSpPr>
        <p:spPr>
          <a:xfrm>
            <a:off x="9482328" y="2395728"/>
            <a:ext cx="203911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56064" y="2651760"/>
            <a:ext cx="1691640" cy="548640"/>
          </a:xfrm>
          <a:prstGeom prst="rect">
            <a:avLst/>
          </a:prstGeom>
          <a:noFill/>
        </p:spPr>
        <p:txBody>
          <a:bodyPr wrap="square" lIns="0" rIns="0" tIns="0" bIns="0" anchor="t">
            <a:spAutoFit/>
          </a:bodyPr>
          <a:lstStyle/>
          <a:p>
            <a:pPr algn="l">
              <a:lnSpc>
                <a:spcPct val="108000"/>
              </a:lnSpc>
              <a:spcAft>
                <a:spcPts val="700"/>
              </a:spcAft>
            </a:pPr>
            <a:r>
              <a:rPr sz="3600" b="1">
                <a:solidFill>
                  <a:srgbClr val="075E4B"/>
                </a:solidFill>
                <a:latin typeface="Calibri"/>
              </a:rPr>
              <a:t>05</a:t>
            </a:r>
          </a:p>
        </p:txBody>
      </p:sp>
      <p:sp>
        <p:nvSpPr>
          <p:cNvPr id="27" name="TextBox 26"/>
          <p:cNvSpPr txBox="1"/>
          <p:nvPr/>
        </p:nvSpPr>
        <p:spPr>
          <a:xfrm>
            <a:off x="9656064" y="3319272"/>
            <a:ext cx="1691640" cy="438912"/>
          </a:xfrm>
          <a:prstGeom prst="rect">
            <a:avLst/>
          </a:prstGeom>
          <a:noFill/>
        </p:spPr>
        <p:txBody>
          <a:bodyPr wrap="square" lIns="0" rIns="0" tIns="0" bIns="0" anchor="t">
            <a:spAutoFit/>
          </a:bodyPr>
          <a:lstStyle/>
          <a:p>
            <a:pPr algn="l">
              <a:lnSpc>
                <a:spcPct val="108000"/>
              </a:lnSpc>
              <a:spcAft>
                <a:spcPts val="700"/>
              </a:spcAft>
            </a:pPr>
            <a:r>
              <a:rPr sz="2000" b="1">
                <a:solidFill>
                  <a:srgbClr val="173B36"/>
                </a:solidFill>
                <a:latin typeface="Calibri"/>
              </a:rPr>
              <a:t>Ukur ulang</a:t>
            </a:r>
          </a:p>
        </p:txBody>
      </p:sp>
      <p:sp>
        <p:nvSpPr>
          <p:cNvPr id="28" name="TextBox 27"/>
          <p:cNvSpPr txBox="1"/>
          <p:nvPr/>
        </p:nvSpPr>
        <p:spPr>
          <a:xfrm>
            <a:off x="9656064" y="3941063"/>
            <a:ext cx="1691640" cy="630936"/>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Baseline vs hasil</a:t>
            </a:r>
          </a:p>
        </p:txBody>
      </p:sp>
      <p:sp>
        <p:nvSpPr>
          <p:cNvPr id="29" name="Rounded Rectangle 28"/>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Hasil ideal: keputusan dapat ditelusuri dan dampak tindakan diperiksa dengan bukti.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Siapa melakukan apa?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Persetujuan dilakukan pihak yang berwenang dan berbeda dari pembuat.</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05</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2468880"/>
                <a:gridCol w="4800600"/>
                <a:gridCol w="3703320"/>
              </a:tblGrid>
              <a:tr h="553212">
                <a:tc>
                  <a:txBody>
                    <a:bodyPr/>
                    <a:lstStyle/>
                    <a:p>
                      <a:pPr>
                        <a:lnSpc>
                          <a:spcPct val="105000"/>
                        </a:lnSpc>
                        <a:spcAft>
                          <a:spcPts val="0"/>
                        </a:spcAft>
                      </a:pPr>
                      <a:r>
                        <a:rPr sz="1600" b="1">
                          <a:solidFill>
                            <a:srgbClr val="FFFFFF"/>
                          </a:solidFill>
                          <a:latin typeface="Calibri"/>
                        </a:rPr>
                        <a:t>Peran</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Tanggung jawab</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Hasil yang diperiksa</a:t>
                      </a:r>
                    </a:p>
                  </a:txBody>
                  <a:tcPr marL="128016" marR="128016" marT="91440" marB="91440" anchor="ctr">
                    <a:solidFill>
                      <a:srgbClr val="075E4B"/>
                    </a:solidFill>
                  </a:tcPr>
                </a:tc>
              </a:tr>
              <a:tr h="553212">
                <a:tc>
                  <a:txBody>
                    <a:bodyPr/>
                    <a:lstStyle/>
                    <a:p>
                      <a:pPr>
                        <a:lnSpc>
                          <a:spcPct val="105000"/>
                        </a:lnSpc>
                        <a:spcAft>
                          <a:spcPts val="0"/>
                        </a:spcAft>
                      </a:pPr>
                      <a:r>
                        <a:rPr sz="1600" b="0">
                          <a:solidFill>
                            <a:srgbClr val="173B36"/>
                          </a:solidFill>
                          <a:latin typeface="Calibri"/>
                        </a:rPr>
                        <a:t>Admin platform</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Akun, assignment, policy dan approver</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Izin organisasi dan akses sumber</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Source Owner / Steward</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Siapkan Sheet, konfigurasi ETL dan sync</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Data, mapping dan kualitas</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Technical Approver</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Review konfigurasi / aturan; approve atau reject</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Versi, bukti, keamanan dan blocker</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Analyst / Viewer</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Membaca katalog, query dan chart sesuai izin</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Periode, metrik dan cakupan hasil</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Pemilik bisnis</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Menetapkan target; menilai usulan dan hasil tindakan</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Manfaat, penanggung jawab dan follow-up</a:t>
                      </a:r>
                    </a:p>
                  </a:txBody>
                  <a:tcPr marL="128016" marR="128016" marT="91440" marB="9144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Peta penggunaan: dari sumber sampai output</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Gunakan urutan ini sebagai checklist saat onboarding dataset baru.</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06</a:t>
            </a:r>
          </a:p>
        </p:txBody>
      </p:sp>
      <p:sp>
        <p:nvSpPr>
          <p:cNvPr id="9" name="Rounded Rectangle 8"/>
          <p:cNvSpPr/>
          <p:nvPr/>
        </p:nvSpPr>
        <p:spPr>
          <a:xfrm>
            <a:off x="594360" y="2194560"/>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304288"/>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01</a:t>
            </a:r>
          </a:p>
        </p:txBody>
      </p:sp>
      <p:sp>
        <p:nvSpPr>
          <p:cNvPr id="11" name="TextBox 10"/>
          <p:cNvSpPr txBox="1"/>
          <p:nvPr/>
        </p:nvSpPr>
        <p:spPr>
          <a:xfrm>
            <a:off x="758952" y="2798064"/>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Siapkan Sheet</a:t>
            </a:r>
          </a:p>
        </p:txBody>
      </p:sp>
      <p:sp>
        <p:nvSpPr>
          <p:cNvPr id="12" name="TextBox 11"/>
          <p:cNvSpPr txBox="1"/>
          <p:nvPr/>
        </p:nvSpPr>
        <p:spPr>
          <a:xfrm>
            <a:off x="758952" y="3255263"/>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Format + definisi bisnis</a:t>
            </a:r>
          </a:p>
        </p:txBody>
      </p:sp>
      <p:sp>
        <p:nvSpPr>
          <p:cNvPr id="13" name="Rounded Rectangle 12"/>
          <p:cNvSpPr/>
          <p:nvPr/>
        </p:nvSpPr>
        <p:spPr>
          <a:xfrm>
            <a:off x="2816352" y="2194560"/>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0944" y="2304288"/>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02</a:t>
            </a:r>
          </a:p>
        </p:txBody>
      </p:sp>
      <p:sp>
        <p:nvSpPr>
          <p:cNvPr id="15" name="TextBox 14"/>
          <p:cNvSpPr txBox="1"/>
          <p:nvPr/>
        </p:nvSpPr>
        <p:spPr>
          <a:xfrm>
            <a:off x="2980944" y="2798064"/>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Hubungkan</a:t>
            </a:r>
          </a:p>
        </p:txBody>
      </p:sp>
      <p:sp>
        <p:nvSpPr>
          <p:cNvPr id="16" name="TextBox 15"/>
          <p:cNvSpPr txBox="1"/>
          <p:nvPr/>
        </p:nvSpPr>
        <p:spPr>
          <a:xfrm>
            <a:off x="2980944" y="3255263"/>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URL + akses Viewer</a:t>
            </a:r>
          </a:p>
        </p:txBody>
      </p:sp>
      <p:sp>
        <p:nvSpPr>
          <p:cNvPr id="17" name="Rounded Rectangle 16"/>
          <p:cNvSpPr/>
          <p:nvPr/>
        </p:nvSpPr>
        <p:spPr>
          <a:xfrm>
            <a:off x="5038344" y="2194560"/>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2304288"/>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03</a:t>
            </a:r>
          </a:p>
        </p:txBody>
      </p:sp>
      <p:sp>
        <p:nvSpPr>
          <p:cNvPr id="19" name="TextBox 18"/>
          <p:cNvSpPr txBox="1"/>
          <p:nvPr/>
        </p:nvSpPr>
        <p:spPr>
          <a:xfrm>
            <a:off x="5202936" y="2798064"/>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Temukan &amp; profil</a:t>
            </a:r>
          </a:p>
        </p:txBody>
      </p:sp>
      <p:sp>
        <p:nvSpPr>
          <p:cNvPr id="20" name="TextBox 19"/>
          <p:cNvSpPr txBox="1"/>
          <p:nvPr/>
        </p:nvSpPr>
        <p:spPr>
          <a:xfrm>
            <a:off x="5202936" y="3255263"/>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Tab + kondisi data</a:t>
            </a:r>
          </a:p>
        </p:txBody>
      </p:sp>
      <p:sp>
        <p:nvSpPr>
          <p:cNvPr id="21" name="Rounded Rectangle 20"/>
          <p:cNvSpPr/>
          <p:nvPr/>
        </p:nvSpPr>
        <p:spPr>
          <a:xfrm>
            <a:off x="7260336" y="2194560"/>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4928" y="2304288"/>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04</a:t>
            </a:r>
          </a:p>
        </p:txBody>
      </p:sp>
      <p:sp>
        <p:nvSpPr>
          <p:cNvPr id="23" name="TextBox 22"/>
          <p:cNvSpPr txBox="1"/>
          <p:nvPr/>
        </p:nvSpPr>
        <p:spPr>
          <a:xfrm>
            <a:off x="7424928" y="2798064"/>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Klasifikasikan</a:t>
            </a:r>
          </a:p>
        </p:txBody>
      </p:sp>
      <p:sp>
        <p:nvSpPr>
          <p:cNvPr id="24" name="TextBox 23"/>
          <p:cNvSpPr txBox="1"/>
          <p:nvPr/>
        </p:nvSpPr>
        <p:spPr>
          <a:xfrm>
            <a:off x="7424928" y="3255263"/>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Master / data / kontrol</a:t>
            </a:r>
          </a:p>
        </p:txBody>
      </p:sp>
      <p:sp>
        <p:nvSpPr>
          <p:cNvPr id="25" name="Rounded Rectangle 24"/>
          <p:cNvSpPr/>
          <p:nvPr/>
        </p:nvSpPr>
        <p:spPr>
          <a:xfrm>
            <a:off x="9482328" y="2194560"/>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2304288"/>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05</a:t>
            </a:r>
          </a:p>
        </p:txBody>
      </p:sp>
      <p:sp>
        <p:nvSpPr>
          <p:cNvPr id="27" name="TextBox 26"/>
          <p:cNvSpPr txBox="1"/>
          <p:nvPr/>
        </p:nvSpPr>
        <p:spPr>
          <a:xfrm>
            <a:off x="9646920" y="2798064"/>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Setup config</a:t>
            </a:r>
          </a:p>
        </p:txBody>
      </p:sp>
      <p:sp>
        <p:nvSpPr>
          <p:cNvPr id="28" name="TextBox 27"/>
          <p:cNvSpPr txBox="1"/>
          <p:nvPr/>
        </p:nvSpPr>
        <p:spPr>
          <a:xfrm>
            <a:off x="9646920" y="3255263"/>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7 langkah wizard</a:t>
            </a:r>
          </a:p>
        </p:txBody>
      </p:sp>
      <p:sp>
        <p:nvSpPr>
          <p:cNvPr id="29" name="Rounded Rectangle 28"/>
          <p:cNvSpPr/>
          <p:nvPr/>
        </p:nvSpPr>
        <p:spPr>
          <a:xfrm>
            <a:off x="594360" y="3813048"/>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3922776"/>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06</a:t>
            </a:r>
          </a:p>
        </p:txBody>
      </p:sp>
      <p:sp>
        <p:nvSpPr>
          <p:cNvPr id="31" name="TextBox 30"/>
          <p:cNvSpPr txBox="1"/>
          <p:nvPr/>
        </p:nvSpPr>
        <p:spPr>
          <a:xfrm>
            <a:off x="758952" y="4416552"/>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Review</a:t>
            </a:r>
          </a:p>
        </p:txBody>
      </p:sp>
      <p:sp>
        <p:nvSpPr>
          <p:cNvPr id="32" name="TextBox 31"/>
          <p:cNvSpPr txBox="1"/>
          <p:nvPr/>
        </p:nvSpPr>
        <p:spPr>
          <a:xfrm>
            <a:off x="758952" y="4873752"/>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Reviewer + gate akses</a:t>
            </a:r>
          </a:p>
        </p:txBody>
      </p:sp>
      <p:sp>
        <p:nvSpPr>
          <p:cNvPr id="33" name="Rounded Rectangle 32"/>
          <p:cNvSpPr/>
          <p:nvPr/>
        </p:nvSpPr>
        <p:spPr>
          <a:xfrm>
            <a:off x="2816352" y="3813048"/>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80944" y="3922776"/>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07</a:t>
            </a:r>
          </a:p>
        </p:txBody>
      </p:sp>
      <p:sp>
        <p:nvSpPr>
          <p:cNvPr id="35" name="TextBox 34"/>
          <p:cNvSpPr txBox="1"/>
          <p:nvPr/>
        </p:nvSpPr>
        <p:spPr>
          <a:xfrm>
            <a:off x="2980944" y="4416552"/>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Deploy</a:t>
            </a:r>
          </a:p>
        </p:txBody>
      </p:sp>
      <p:sp>
        <p:nvSpPr>
          <p:cNvPr id="36" name="TextBox 35"/>
          <p:cNvSpPr txBox="1"/>
          <p:nvPr/>
        </p:nvSpPr>
        <p:spPr>
          <a:xfrm>
            <a:off x="2980944" y="4873752"/>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Konfigurasi ACTIVE</a:t>
            </a:r>
          </a:p>
        </p:txBody>
      </p:sp>
      <p:sp>
        <p:nvSpPr>
          <p:cNvPr id="37" name="Rounded Rectangle 36"/>
          <p:cNvSpPr/>
          <p:nvPr/>
        </p:nvSpPr>
        <p:spPr>
          <a:xfrm>
            <a:off x="5038344" y="3813048"/>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02936" y="3922776"/>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08</a:t>
            </a:r>
          </a:p>
        </p:txBody>
      </p:sp>
      <p:sp>
        <p:nvSpPr>
          <p:cNvPr id="39" name="TextBox 38"/>
          <p:cNvSpPr txBox="1"/>
          <p:nvPr/>
        </p:nvSpPr>
        <p:spPr>
          <a:xfrm>
            <a:off x="5202936" y="4416552"/>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Sync &amp; validasi</a:t>
            </a:r>
          </a:p>
        </p:txBody>
      </p:sp>
      <p:sp>
        <p:nvSpPr>
          <p:cNvPr id="40" name="TextBox 39"/>
          <p:cNvSpPr txBox="1"/>
          <p:nvPr/>
        </p:nvSpPr>
        <p:spPr>
          <a:xfrm>
            <a:off x="5202936" y="4873752"/>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Baris benar-benar dimuat</a:t>
            </a:r>
          </a:p>
        </p:txBody>
      </p:sp>
      <p:sp>
        <p:nvSpPr>
          <p:cNvPr id="41" name="Rounded Rectangle 40"/>
          <p:cNvSpPr/>
          <p:nvPr/>
        </p:nvSpPr>
        <p:spPr>
          <a:xfrm>
            <a:off x="7260336" y="3813048"/>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24928" y="3922776"/>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09</a:t>
            </a:r>
          </a:p>
        </p:txBody>
      </p:sp>
      <p:sp>
        <p:nvSpPr>
          <p:cNvPr id="43" name="TextBox 42"/>
          <p:cNvSpPr txBox="1"/>
          <p:nvPr/>
        </p:nvSpPr>
        <p:spPr>
          <a:xfrm>
            <a:off x="7424928" y="4416552"/>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Analisis</a:t>
            </a:r>
          </a:p>
        </p:txBody>
      </p:sp>
      <p:sp>
        <p:nvSpPr>
          <p:cNvPr id="44" name="TextBox 43"/>
          <p:cNvSpPr txBox="1"/>
          <p:nvPr/>
        </p:nvSpPr>
        <p:spPr>
          <a:xfrm>
            <a:off x="7424928" y="4873752"/>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Katalog + query + chart</a:t>
            </a:r>
          </a:p>
        </p:txBody>
      </p:sp>
      <p:sp>
        <p:nvSpPr>
          <p:cNvPr id="45" name="Rounded Rectangle 44"/>
          <p:cNvSpPr/>
          <p:nvPr/>
        </p:nvSpPr>
        <p:spPr>
          <a:xfrm>
            <a:off x="9482328" y="3813048"/>
            <a:ext cx="2029968" cy="143560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46920" y="3922776"/>
            <a:ext cx="1645920" cy="338328"/>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10</a:t>
            </a:r>
          </a:p>
        </p:txBody>
      </p:sp>
      <p:sp>
        <p:nvSpPr>
          <p:cNvPr id="47" name="TextBox 46"/>
          <p:cNvSpPr txBox="1"/>
          <p:nvPr/>
        </p:nvSpPr>
        <p:spPr>
          <a:xfrm>
            <a:off x="9646920" y="4416552"/>
            <a:ext cx="1709928" cy="411480"/>
          </a:xfrm>
          <a:prstGeom prst="rect">
            <a:avLst/>
          </a:prstGeom>
          <a:noFill/>
        </p:spPr>
        <p:txBody>
          <a:bodyPr wrap="square" lIns="0" rIns="0" tIns="0" bIns="0" anchor="t">
            <a:spAutoFit/>
          </a:bodyPr>
          <a:lstStyle/>
          <a:p>
            <a:pPr algn="l">
              <a:lnSpc>
                <a:spcPct val="108000"/>
              </a:lnSpc>
              <a:spcAft>
                <a:spcPts val="700"/>
              </a:spcAft>
            </a:pPr>
            <a:r>
              <a:rPr sz="1800" b="1">
                <a:solidFill>
                  <a:srgbClr val="173B36"/>
                </a:solidFill>
                <a:latin typeface="Calibri"/>
              </a:rPr>
              <a:t>Action plan</a:t>
            </a:r>
          </a:p>
        </p:txBody>
      </p:sp>
      <p:sp>
        <p:nvSpPr>
          <p:cNvPr id="48" name="TextBox 47"/>
          <p:cNvSpPr txBox="1"/>
          <p:nvPr/>
        </p:nvSpPr>
        <p:spPr>
          <a:xfrm>
            <a:off x="9646920" y="4873752"/>
            <a:ext cx="1709928" cy="237744"/>
          </a:xfrm>
          <a:prstGeom prst="rect">
            <a:avLst/>
          </a:prstGeom>
          <a:noFill/>
        </p:spPr>
        <p:txBody>
          <a:bodyPr wrap="square" lIns="0" rIns="0" tIns="0" bIns="0" anchor="t">
            <a:spAutoFit/>
          </a:bodyPr>
          <a:lstStyle/>
          <a:p>
            <a:pPr algn="l">
              <a:lnSpc>
                <a:spcPct val="108000"/>
              </a:lnSpc>
              <a:spcAft>
                <a:spcPts val="700"/>
              </a:spcAft>
            </a:pPr>
            <a:r>
              <a:rPr sz="1200" b="0">
                <a:solidFill>
                  <a:srgbClr val="617B75"/>
                </a:solidFill>
                <a:latin typeface="Calibri"/>
              </a:rPr>
              <a:t>Aturan + evaluasi API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BAGIAN 1 • SIAPKAN GOOGLE SHEETS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Format file dan tab: nama harus bermakna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Nama file + tab membantu saran nama bisnis dan produk; tetap periksa di konfigurasi.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07</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3474720"/>
                <a:gridCol w="4343400"/>
                <a:gridCol w="3154680"/>
              </a:tblGrid>
              <a:tr h="474181">
                <a:tc>
                  <a:txBody>
                    <a:bodyPr/>
                    <a:lstStyle/>
                    <a:p>
                      <a:pPr>
                        <a:lnSpc>
                          <a:spcPct val="105000"/>
                        </a:lnSpc>
                        <a:spcAft>
                          <a:spcPts val="0"/>
                        </a:spcAft>
                      </a:pPr>
                      <a:r>
                        <a:rPr sz="1500" b="1">
                          <a:solidFill>
                            <a:srgbClr val="FFFFFF"/>
                          </a:solidFill>
                          <a:latin typeface="Calibri"/>
                        </a:rPr>
                        <a:t>Tab contoh</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Tujuan isi</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Klasifikasi / proses</a:t>
                      </a:r>
                    </a:p>
                  </a:txBody>
                  <a:tcPr marL="128016" marR="128016" marT="91440" marB="91440" anchor="ctr">
                    <a:solidFill>
                      <a:srgbClr val="075E4B"/>
                    </a:solidFill>
                  </a:tcPr>
                </a:tc>
              </a:tr>
              <a:tr h="474181">
                <a:tc>
                  <a:txBody>
                    <a:bodyPr/>
                    <a:lstStyle/>
                    <a:p>
                      <a:pPr>
                        <a:lnSpc>
                          <a:spcPct val="105000"/>
                        </a:lnSpc>
                        <a:spcAft>
                          <a:spcPts val="0"/>
                        </a:spcAft>
                      </a:pPr>
                      <a:r>
                        <a:rPr sz="1500" b="0">
                          <a:solidFill>
                            <a:srgbClr val="173B36"/>
                          </a:solidFill>
                          <a:latin typeface="Calibri"/>
                        </a:rPr>
                        <a:t>Master_Produk / Master_Unit</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Kode rujukan baku, label dan definisi</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MASTER • Registry master</a:t>
                      </a:r>
                    </a:p>
                  </a:txBody>
                  <a:tcPr marL="128016" marR="128016" marT="91440" marB="91440" anchor="ctr">
                    <a:solidFill>
                      <a:srgbClr val="FFFFFF"/>
                    </a:solidFill>
                  </a:tcPr>
                </a:tc>
              </a:tr>
              <a:tr h="474181">
                <a:tc>
                  <a:txBody>
                    <a:bodyPr/>
                    <a:lstStyle/>
                    <a:p>
                      <a:pPr>
                        <a:lnSpc>
                          <a:spcPct val="105000"/>
                        </a:lnSpc>
                        <a:spcAft>
                          <a:spcPts val="0"/>
                        </a:spcAft>
                      </a:pPr>
                      <a:r>
                        <a:rPr sz="1500" b="0">
                          <a:solidFill>
                            <a:srgbClr val="173B36"/>
                          </a:solidFill>
                          <a:latin typeface="Calibri"/>
                        </a:rPr>
                        <a:t>Keluhan_Data / Survey_Data</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Catatan kejadian atau pengukuran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NON_MASTER • ETL</a:t>
                      </a:r>
                    </a:p>
                  </a:txBody>
                  <a:tcPr marL="128016" marR="128016" marT="91440" marB="91440" anchor="ctr">
                    <a:solidFill>
                      <a:srgbClr val="E7F2ED"/>
                    </a:solidFill>
                  </a:tcPr>
                </a:tc>
              </a:tr>
              <a:tr h="474181">
                <a:tc>
                  <a:txBody>
                    <a:bodyPr/>
                    <a:lstStyle/>
                    <a:p>
                      <a:pPr>
                        <a:lnSpc>
                          <a:spcPct val="105000"/>
                        </a:lnSpc>
                        <a:spcAft>
                          <a:spcPts val="0"/>
                        </a:spcAft>
                      </a:pPr>
                      <a:r>
                        <a:rPr sz="1500" b="0">
                          <a:solidFill>
                            <a:srgbClr val="173B36"/>
                          </a:solidFill>
                          <a:latin typeface="Calibri"/>
                        </a:rPr>
                        <a:t>Keluhan_Rekap / KPI_Result</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Ringkasan dengan grain dan rumus jelas</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NON_MASTER • jangan hitung ganda</a:t>
                      </a:r>
                    </a:p>
                  </a:txBody>
                  <a:tcPr marL="128016" marR="128016" marT="91440" marB="91440" anchor="ctr">
                    <a:solidFill>
                      <a:srgbClr val="FFFFFF"/>
                    </a:solidFill>
                  </a:tcPr>
                </a:tc>
              </a:tr>
              <a:tr h="474181">
                <a:tc>
                  <a:txBody>
                    <a:bodyPr/>
                    <a:lstStyle/>
                    <a:p>
                      <a:pPr>
                        <a:lnSpc>
                          <a:spcPct val="105000"/>
                        </a:lnSpc>
                        <a:spcAft>
                          <a:spcPts val="0"/>
                        </a:spcAft>
                      </a:pPr>
                      <a:r>
                        <a:rPr sz="1500" b="0">
                          <a:solidFill>
                            <a:srgbClr val="173B36"/>
                          </a:solidFill>
                          <a:latin typeface="Calibri"/>
                        </a:rPr>
                        <a:t>Action_Plan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Catatan pelaksanaan dan follow-up manusia</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NON_MASTER bila dimuat</a:t>
                      </a:r>
                    </a:p>
                  </a:txBody>
                  <a:tcPr marL="128016" marR="128016" marT="91440" marB="91440" anchor="ctr">
                    <a:solidFill>
                      <a:srgbClr val="E7F2ED"/>
                    </a:solidFill>
                  </a:tcPr>
                </a:tc>
              </a:tr>
              <a:tr h="474181">
                <a:tc>
                  <a:txBody>
                    <a:bodyPr/>
                    <a:lstStyle/>
                    <a:p>
                      <a:pPr>
                        <a:lnSpc>
                          <a:spcPct val="105000"/>
                        </a:lnSpc>
                        <a:spcAft>
                          <a:spcPts val="0"/>
                        </a:spcAft>
                      </a:pPr>
                      <a:r>
                        <a:rPr sz="1500" b="0">
                          <a:solidFill>
                            <a:srgbClr val="173B36"/>
                          </a:solidFill>
                          <a:latin typeface="Calibri"/>
                        </a:rPr>
                        <a:t>Formula_Analitik / Aturan_Action_Plan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Definisi perhitungan dan pemicu usulan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Dikecualikan dari ETL • API</a:t>
                      </a:r>
                    </a:p>
                  </a:txBody>
                  <a:tcPr marL="128016" marR="128016" marT="91440" marB="91440" anchor="ctr">
                    <a:solidFill>
                      <a:srgbClr val="FFFFFF"/>
                    </a:solidFill>
                  </a:tcPr>
                </a:tc>
              </a:tr>
              <a:tr h="474186">
                <a:tc>
                  <a:txBody>
                    <a:bodyPr/>
                    <a:lstStyle/>
                    <a:p>
                      <a:pPr>
                        <a:lnSpc>
                          <a:spcPct val="105000"/>
                        </a:lnSpc>
                        <a:spcAft>
                          <a:spcPts val="0"/>
                        </a:spcAft>
                      </a:pPr>
                      <a:r>
                        <a:rPr sz="1500" b="0">
                          <a:solidFill>
                            <a:srgbClr val="173B36"/>
                          </a:solidFill>
                          <a:latin typeface="Calibri"/>
                        </a:rPr>
                        <a:t>BACA_DULU / Kamus_Data / Rencana_ETL</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Petunjuk dan arti setiap field</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Dikecualikan dari ETL</a:t>
                      </a:r>
                    </a:p>
                  </a:txBody>
                  <a:tcPr marL="128016" marR="128016" marT="91440" marB="91440" anchor="ctr">
                    <a:solidFill>
                      <a:srgbClr val="E7F2ED"/>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Satu baris = satu catatan yang jelas</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Contoh grain: satu baris per keluhan, bukan gabungan keluhan dan subtotal.</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08</a:t>
            </a:r>
          </a:p>
        </p:txBody>
      </p:sp>
      <p:graphicFrame>
        <p:nvGraphicFramePr>
          <p:cNvPr id="9" name="Table 8"/>
          <p:cNvGraphicFramePr>
            <a:graphicFrameLocks noGrp="1"/>
          </p:cNvGraphicFramePr>
          <p:nvPr/>
        </p:nvGraphicFramePr>
        <p:xfrm>
          <a:off x="594360" y="2121408"/>
          <a:ext cx="10972800" cy="2560320"/>
        </p:xfrm>
        <a:graphic>
          <a:graphicData uri="http://schemas.openxmlformats.org/drawingml/2006/table">
            <a:tbl>
              <a:tblPr firstRow="1" bandRow="1">
                <a:tableStyleId>{5C22544A-7EE6-4342-B048-85BDC9FD1C3A}</a:tableStyleId>
              </a:tblPr>
              <a:tblGrid>
                <a:gridCol w="2148840"/>
                <a:gridCol w="2148840"/>
                <a:gridCol w="2148840"/>
                <a:gridCol w="2423160"/>
                <a:gridCol w="2103120"/>
              </a:tblGrid>
              <a:tr h="640080">
                <a:tc>
                  <a:txBody>
                    <a:bodyPr/>
                    <a:lstStyle/>
                    <a:p>
                      <a:pPr>
                        <a:lnSpc>
                          <a:spcPct val="105000"/>
                        </a:lnSpc>
                        <a:spcAft>
                          <a:spcPts val="0"/>
                        </a:spcAft>
                      </a:pPr>
                      <a:r>
                        <a:rPr sz="1800" b="1">
                          <a:solidFill>
                            <a:srgbClr val="FFFFFF"/>
                          </a:solidFill>
                          <a:latin typeface="Calibri"/>
                        </a:rPr>
                        <a:t>complaint_id</a:t>
                      </a:r>
                    </a:p>
                  </a:txBody>
                  <a:tcPr marL="128016" marR="128016" marT="91440" marB="91440" anchor="ctr">
                    <a:solidFill>
                      <a:srgbClr val="075E4B"/>
                    </a:solidFill>
                  </a:tcPr>
                </a:tc>
                <a:tc>
                  <a:txBody>
                    <a:bodyPr/>
                    <a:lstStyle/>
                    <a:p>
                      <a:pPr>
                        <a:lnSpc>
                          <a:spcPct val="105000"/>
                        </a:lnSpc>
                        <a:spcAft>
                          <a:spcPts val="0"/>
                        </a:spcAft>
                      </a:pPr>
                      <a:r>
                        <a:rPr sz="1800" b="1">
                          <a:solidFill>
                            <a:srgbClr val="FFFFFF"/>
                          </a:solidFill>
                          <a:latin typeface="Calibri"/>
                        </a:rPr>
                        <a:t>event_date</a:t>
                      </a:r>
                    </a:p>
                  </a:txBody>
                  <a:tcPr marL="128016" marR="128016" marT="91440" marB="91440" anchor="ctr">
                    <a:solidFill>
                      <a:srgbClr val="075E4B"/>
                    </a:solidFill>
                  </a:tcPr>
                </a:tc>
                <a:tc>
                  <a:txBody>
                    <a:bodyPr/>
                    <a:lstStyle/>
                    <a:p>
                      <a:pPr>
                        <a:lnSpc>
                          <a:spcPct val="105000"/>
                        </a:lnSpc>
                        <a:spcAft>
                          <a:spcPts val="0"/>
                        </a:spcAft>
                      </a:pPr>
                      <a:r>
                        <a:rPr sz="1800" b="1">
                          <a:solidFill>
                            <a:srgbClr val="FFFFFF"/>
                          </a:solidFill>
                          <a:latin typeface="Calibri"/>
                        </a:rPr>
                        <a:t>unit_code</a:t>
                      </a:r>
                    </a:p>
                  </a:txBody>
                  <a:tcPr marL="128016" marR="128016" marT="91440" marB="91440" anchor="ctr">
                    <a:solidFill>
                      <a:srgbClr val="075E4B"/>
                    </a:solidFill>
                  </a:tcPr>
                </a:tc>
                <a:tc>
                  <a:txBody>
                    <a:bodyPr/>
                    <a:lstStyle/>
                    <a:p>
                      <a:pPr>
                        <a:lnSpc>
                          <a:spcPct val="105000"/>
                        </a:lnSpc>
                        <a:spcAft>
                          <a:spcPts val="0"/>
                        </a:spcAft>
                      </a:pPr>
                      <a:r>
                        <a:rPr sz="1800" b="1">
                          <a:solidFill>
                            <a:srgbClr val="FFFFFF"/>
                          </a:solidFill>
                          <a:latin typeface="Calibri"/>
                        </a:rPr>
                        <a:t>product_code</a:t>
                      </a:r>
                    </a:p>
                  </a:txBody>
                  <a:tcPr marL="128016" marR="128016" marT="91440" marB="91440" anchor="ctr">
                    <a:solidFill>
                      <a:srgbClr val="075E4B"/>
                    </a:solidFill>
                  </a:tcPr>
                </a:tc>
                <a:tc>
                  <a:txBody>
                    <a:bodyPr/>
                    <a:lstStyle/>
                    <a:p>
                      <a:pPr>
                        <a:lnSpc>
                          <a:spcPct val="105000"/>
                        </a:lnSpc>
                        <a:spcAft>
                          <a:spcPts val="0"/>
                        </a:spcAft>
                      </a:pPr>
                      <a:r>
                        <a:rPr sz="1800" b="1">
                          <a:solidFill>
                            <a:srgbClr val="FFFFFF"/>
                          </a:solidFill>
                          <a:latin typeface="Calibri"/>
                        </a:rPr>
                        <a:t>status</a:t>
                      </a:r>
                    </a:p>
                  </a:txBody>
                  <a:tcPr marL="128016" marR="128016" marT="91440" marB="91440" anchor="ctr">
                    <a:solidFill>
                      <a:srgbClr val="075E4B"/>
                    </a:solidFill>
                  </a:tcPr>
                </a:tc>
              </a:tr>
              <a:tr h="640080">
                <a:tc>
                  <a:txBody>
                    <a:bodyPr/>
                    <a:lstStyle/>
                    <a:p>
                      <a:pPr>
                        <a:lnSpc>
                          <a:spcPct val="105000"/>
                        </a:lnSpc>
                        <a:spcAft>
                          <a:spcPts val="0"/>
                        </a:spcAft>
                      </a:pPr>
                      <a:r>
                        <a:rPr sz="1800" b="0">
                          <a:solidFill>
                            <a:srgbClr val="173B36"/>
                          </a:solidFill>
                          <a:latin typeface="Calibri"/>
                        </a:rPr>
                        <a:t>KLH-001</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2026-01-05</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UNIT-CS</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PROD-MILK</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OPEN</a:t>
                      </a:r>
                    </a:p>
                  </a:txBody>
                  <a:tcPr marL="128016" marR="128016" marT="91440" marB="91440" anchor="ctr">
                    <a:solidFill>
                      <a:srgbClr val="FFFFFF"/>
                    </a:solidFill>
                  </a:tcPr>
                </a:tc>
              </a:tr>
              <a:tr h="640080">
                <a:tc>
                  <a:txBody>
                    <a:bodyPr/>
                    <a:lstStyle/>
                    <a:p>
                      <a:pPr>
                        <a:lnSpc>
                          <a:spcPct val="105000"/>
                        </a:lnSpc>
                        <a:spcAft>
                          <a:spcPts val="0"/>
                        </a:spcAft>
                      </a:pPr>
                      <a:r>
                        <a:rPr sz="1800" b="0">
                          <a:solidFill>
                            <a:srgbClr val="173B36"/>
                          </a:solidFill>
                          <a:latin typeface="Calibri"/>
                        </a:rPr>
                        <a:t>KLH-002</a:t>
                      </a:r>
                    </a:p>
                  </a:txBody>
                  <a:tcPr marL="128016" marR="128016" marT="91440" marB="91440" anchor="ctr">
                    <a:solidFill>
                      <a:srgbClr val="E7F2ED"/>
                    </a:solidFill>
                  </a:tcPr>
                </a:tc>
                <a:tc>
                  <a:txBody>
                    <a:bodyPr/>
                    <a:lstStyle/>
                    <a:p>
                      <a:pPr>
                        <a:lnSpc>
                          <a:spcPct val="105000"/>
                        </a:lnSpc>
                        <a:spcAft>
                          <a:spcPts val="0"/>
                        </a:spcAft>
                      </a:pPr>
                      <a:r>
                        <a:rPr sz="1800" b="0">
                          <a:solidFill>
                            <a:srgbClr val="173B36"/>
                          </a:solidFill>
                          <a:latin typeface="Calibri"/>
                        </a:rPr>
                        <a:t>2026-01-06</a:t>
                      </a:r>
                    </a:p>
                  </a:txBody>
                  <a:tcPr marL="128016" marR="128016" marT="91440" marB="91440" anchor="ctr">
                    <a:solidFill>
                      <a:srgbClr val="E7F2ED"/>
                    </a:solidFill>
                  </a:tcPr>
                </a:tc>
                <a:tc>
                  <a:txBody>
                    <a:bodyPr/>
                    <a:lstStyle/>
                    <a:p>
                      <a:pPr>
                        <a:lnSpc>
                          <a:spcPct val="105000"/>
                        </a:lnSpc>
                        <a:spcAft>
                          <a:spcPts val="0"/>
                        </a:spcAft>
                      </a:pPr>
                      <a:r>
                        <a:rPr sz="1800" b="0">
                          <a:solidFill>
                            <a:srgbClr val="173B36"/>
                          </a:solidFill>
                          <a:latin typeface="Calibri"/>
                        </a:rPr>
                        <a:t>UNIT-CS</a:t>
                      </a:r>
                    </a:p>
                  </a:txBody>
                  <a:tcPr marL="128016" marR="128016" marT="91440" marB="91440" anchor="ctr">
                    <a:solidFill>
                      <a:srgbClr val="E7F2ED"/>
                    </a:solidFill>
                  </a:tcPr>
                </a:tc>
                <a:tc>
                  <a:txBody>
                    <a:bodyPr/>
                    <a:lstStyle/>
                    <a:p>
                      <a:pPr>
                        <a:lnSpc>
                          <a:spcPct val="105000"/>
                        </a:lnSpc>
                        <a:spcAft>
                          <a:spcPts val="0"/>
                        </a:spcAft>
                      </a:pPr>
                      <a:r>
                        <a:rPr sz="1800" b="0">
                          <a:solidFill>
                            <a:srgbClr val="173B36"/>
                          </a:solidFill>
                          <a:latin typeface="Calibri"/>
                        </a:rPr>
                        <a:t>PROD-FEED</a:t>
                      </a:r>
                    </a:p>
                  </a:txBody>
                  <a:tcPr marL="128016" marR="128016" marT="91440" marB="91440" anchor="ctr">
                    <a:solidFill>
                      <a:srgbClr val="E7F2ED"/>
                    </a:solidFill>
                  </a:tcPr>
                </a:tc>
                <a:tc>
                  <a:txBody>
                    <a:bodyPr/>
                    <a:lstStyle/>
                    <a:p>
                      <a:pPr>
                        <a:lnSpc>
                          <a:spcPct val="105000"/>
                        </a:lnSpc>
                        <a:spcAft>
                          <a:spcPts val="0"/>
                        </a:spcAft>
                      </a:pPr>
                      <a:r>
                        <a:rPr sz="1800" b="0">
                          <a:solidFill>
                            <a:srgbClr val="173B36"/>
                          </a:solidFill>
                          <a:latin typeface="Calibri"/>
                        </a:rPr>
                        <a:t>RESOLVED</a:t>
                      </a:r>
                    </a:p>
                  </a:txBody>
                  <a:tcPr marL="128016" marR="128016" marT="91440" marB="91440" anchor="ctr">
                    <a:solidFill>
                      <a:srgbClr val="E7F2ED"/>
                    </a:solidFill>
                  </a:tcPr>
                </a:tc>
              </a:tr>
              <a:tr h="640080">
                <a:tc>
                  <a:txBody>
                    <a:bodyPr/>
                    <a:lstStyle/>
                    <a:p>
                      <a:pPr>
                        <a:lnSpc>
                          <a:spcPct val="105000"/>
                        </a:lnSpc>
                        <a:spcAft>
                          <a:spcPts val="0"/>
                        </a:spcAft>
                      </a:pPr>
                      <a:r>
                        <a:rPr sz="1800" b="0">
                          <a:solidFill>
                            <a:srgbClr val="173B36"/>
                          </a:solidFill>
                          <a:latin typeface="Calibri"/>
                        </a:rPr>
                        <a:t>KLH-003</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2026-01-07</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UNIT-CS</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PROD-MILK</a:t>
                      </a:r>
                    </a:p>
                  </a:txBody>
                  <a:tcPr marL="128016" marR="128016" marT="91440" marB="91440" anchor="ctr">
                    <a:solidFill>
                      <a:srgbClr val="FFFFFF"/>
                    </a:solidFill>
                  </a:tcPr>
                </a:tc>
                <a:tc>
                  <a:txBody>
                    <a:bodyPr/>
                    <a:lstStyle/>
                    <a:p>
                      <a:pPr>
                        <a:lnSpc>
                          <a:spcPct val="105000"/>
                        </a:lnSpc>
                        <a:spcAft>
                          <a:spcPts val="0"/>
                        </a:spcAft>
                      </a:pPr>
                      <a:r>
                        <a:rPr sz="1800" b="0">
                          <a:solidFill>
                            <a:srgbClr val="173B36"/>
                          </a:solidFill>
                          <a:latin typeface="Calibri"/>
                        </a:rPr>
                        <a:t>OPEN</a:t>
                      </a:r>
                    </a:p>
                  </a:txBody>
                  <a:tcPr marL="128016" marR="128016" marT="91440" marB="91440" anchor="ctr">
                    <a:solidFill>
                      <a:srgbClr val="FFFFFF"/>
                    </a:solidFill>
                  </a:tcPr>
                </a:tc>
              </a:tr>
            </a:tbl>
          </a:graphicData>
        </a:graphic>
      </p:graphicFrame>
      <p:sp>
        <p:nvSpPr>
          <p:cNvPr id="10" name="TextBox 9"/>
          <p:cNvSpPr txBox="1"/>
          <p:nvPr/>
        </p:nvSpPr>
        <p:spPr>
          <a:xfrm>
            <a:off x="731520" y="5010912"/>
            <a:ext cx="10561320" cy="594360"/>
          </a:xfrm>
          <a:prstGeom prst="rect">
            <a:avLst/>
          </a:prstGeom>
          <a:noFill/>
        </p:spPr>
        <p:txBody>
          <a:bodyPr wrap="square" lIns="0" rIns="0" tIns="0" bIns="0" anchor="t">
            <a:spAutoFit/>
          </a:bodyPr>
          <a:lstStyle/>
          <a:p>
            <a:pPr algn="l">
              <a:lnSpc>
                <a:spcPct val="108000"/>
              </a:lnSpc>
              <a:spcAft>
                <a:spcPts val="700"/>
              </a:spcAft>
            </a:pPr>
            <a:r>
              <a:rPr sz="2200" b="1">
                <a:solidFill>
                  <a:srgbClr val="075E4B"/>
                </a:solidFill>
                <a:latin typeface="Calibri"/>
              </a:rPr>
              <a:t>Header tunggal • tanpa merge • key unik • tidak ada subtotal di tengah data</a:t>
            </a:r>
          </a:p>
        </p:txBody>
      </p:sp>
      <p:sp>
        <p:nvSpPr>
          <p:cNvPr id="11" name="Rounded Rectangle 10"/>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Ilustrasi struktur. Key kosong / duplikat harus diperbaiki sebelum data digunakan.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Mengapa kolom-kolom ini perlu ada?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Isi Sheet menentukan apakah analisis bisa menjawab pertanyaan bisnis dengan benar.</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09</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2103120"/>
                <a:gridCol w="4069080"/>
                <a:gridCol w="4800600"/>
              </a:tblGrid>
              <a:tr h="414909">
                <a:tc>
                  <a:txBody>
                    <a:bodyPr/>
                    <a:lstStyle/>
                    <a:p>
                      <a:pPr>
                        <a:lnSpc>
                          <a:spcPct val="105000"/>
                        </a:lnSpc>
                        <a:spcAft>
                          <a:spcPts val="0"/>
                        </a:spcAft>
                      </a:pPr>
                      <a:r>
                        <a:rPr sz="1500" b="1">
                          <a:solidFill>
                            <a:srgbClr val="FFFFFF"/>
                          </a:solidFill>
                          <a:latin typeface="Calibri"/>
                        </a:rPr>
                        <a:t>Informasi</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Contoh field</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Tujuan</a:t>
                      </a:r>
                    </a:p>
                  </a:txBody>
                  <a:tcPr marL="128016" marR="128016" marT="91440" marB="91440" anchor="ctr">
                    <a:solidFill>
                      <a:srgbClr val="075E4B"/>
                    </a:solidFill>
                  </a:tcPr>
                </a:tc>
              </a:tr>
              <a:tr h="414909">
                <a:tc>
                  <a:txBody>
                    <a:bodyPr/>
                    <a:lstStyle/>
                    <a:p>
                      <a:pPr>
                        <a:lnSpc>
                          <a:spcPct val="105000"/>
                        </a:lnSpc>
                        <a:spcAft>
                          <a:spcPts val="0"/>
                        </a:spcAft>
                      </a:pPr>
                      <a:r>
                        <a:rPr sz="1500" b="0">
                          <a:solidFill>
                            <a:srgbClr val="173B36"/>
                          </a:solidFill>
                          <a:latin typeface="Calibri"/>
                        </a:rPr>
                        <a:t>Identitas catatan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complaint_id / plan_id</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Mencegah hitung ganda dan menautkan bukti</a:t>
                      </a:r>
                    </a:p>
                  </a:txBody>
                  <a:tcPr marL="128016" marR="128016" marT="91440" marB="91440" anchor="ctr">
                    <a:solidFill>
                      <a:srgbClr val="FFFFFF"/>
                    </a:solidFill>
                  </a:tcPr>
                </a:tc>
              </a:tr>
              <a:tr h="414909">
                <a:tc>
                  <a:txBody>
                    <a:bodyPr/>
                    <a:lstStyle/>
                    <a:p>
                      <a:pPr>
                        <a:lnSpc>
                          <a:spcPct val="105000"/>
                        </a:lnSpc>
                        <a:spcAft>
                          <a:spcPts val="0"/>
                        </a:spcAft>
                      </a:pPr>
                      <a:r>
                        <a:rPr sz="1500" b="0">
                          <a:solidFill>
                            <a:srgbClr val="173B36"/>
                          </a:solidFill>
                          <a:latin typeface="Calibri"/>
                        </a:rPr>
                        <a:t>Konteks bisnis</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unit_code / product_code / category_code</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Membandingkan kelompok dengan arti konsisten</a:t>
                      </a:r>
                    </a:p>
                  </a:txBody>
                  <a:tcPr marL="128016" marR="128016" marT="91440" marB="91440" anchor="ctr">
                    <a:solidFill>
                      <a:srgbClr val="E7F2ED"/>
                    </a:solidFill>
                  </a:tcPr>
                </a:tc>
              </a:tr>
              <a:tr h="414909">
                <a:tc>
                  <a:txBody>
                    <a:bodyPr/>
                    <a:lstStyle/>
                    <a:p>
                      <a:pPr>
                        <a:lnSpc>
                          <a:spcPct val="105000"/>
                        </a:lnSpc>
                        <a:spcAft>
                          <a:spcPts val="0"/>
                        </a:spcAft>
                      </a:pPr>
                      <a:r>
                        <a:rPr sz="1500" b="0">
                          <a:solidFill>
                            <a:srgbClr val="173B36"/>
                          </a:solidFill>
                          <a:latin typeface="Calibri"/>
                        </a:rPr>
                        <a:t>Waktu bisnis</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event_at / period_start / period_end</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Menjawab kapan kejadian atau kinerja terjadi</a:t>
                      </a:r>
                    </a:p>
                  </a:txBody>
                  <a:tcPr marL="128016" marR="128016" marT="91440" marB="91440" anchor="ctr">
                    <a:solidFill>
                      <a:srgbClr val="FFFFFF"/>
                    </a:solidFill>
                  </a:tcPr>
                </a:tc>
              </a:tr>
              <a:tr h="414909">
                <a:tc>
                  <a:txBody>
                    <a:bodyPr/>
                    <a:lstStyle/>
                    <a:p>
                      <a:pPr>
                        <a:lnSpc>
                          <a:spcPct val="105000"/>
                        </a:lnSpc>
                        <a:spcAft>
                          <a:spcPts val="0"/>
                        </a:spcAft>
                      </a:pPr>
                      <a:r>
                        <a:rPr sz="1500" b="0">
                          <a:solidFill>
                            <a:srgbClr val="173B36"/>
                          </a:solidFill>
                          <a:latin typeface="Calibri"/>
                        </a:rPr>
                        <a:t>Ukuran dan satuan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actual_value / measurement_unit</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Menghitung ukuran yang sebanding</a:t>
                      </a:r>
                    </a:p>
                  </a:txBody>
                  <a:tcPr marL="128016" marR="128016" marT="91440" marB="91440" anchor="ctr">
                    <a:solidFill>
                      <a:srgbClr val="E7F2ED"/>
                    </a:solidFill>
                  </a:tcPr>
                </a:tc>
              </a:tr>
              <a:tr h="414909">
                <a:tc>
                  <a:txBody>
                    <a:bodyPr/>
                    <a:lstStyle/>
                    <a:p>
                      <a:pPr>
                        <a:lnSpc>
                          <a:spcPct val="105000"/>
                        </a:lnSpc>
                        <a:spcAft>
                          <a:spcPts val="0"/>
                        </a:spcAft>
                      </a:pPr>
                      <a:r>
                        <a:rPr sz="1500" b="0">
                          <a:solidFill>
                            <a:srgbClr val="173B36"/>
                          </a:solidFill>
                          <a:latin typeface="Calibri"/>
                        </a:rPr>
                        <a:t>Target dan arah</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target_value / direction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Menilai capaian sesuai tujuan indikator</a:t>
                      </a:r>
                    </a:p>
                  </a:txBody>
                  <a:tcPr marL="128016" marR="128016" marT="91440" marB="91440" anchor="ctr">
                    <a:solidFill>
                      <a:srgbClr val="FFFFFF"/>
                    </a:solidFill>
                  </a:tcPr>
                </a:tc>
              </a:tr>
              <a:tr h="414909">
                <a:tc>
                  <a:txBody>
                    <a:bodyPr/>
                    <a:lstStyle/>
                    <a:p>
                      <a:pPr>
                        <a:lnSpc>
                          <a:spcPct val="105000"/>
                        </a:lnSpc>
                        <a:spcAft>
                          <a:spcPts val="0"/>
                        </a:spcAft>
                      </a:pPr>
                      <a:r>
                        <a:rPr sz="1500" b="0">
                          <a:solidFill>
                            <a:srgbClr val="173B36"/>
                          </a:solidFill>
                          <a:latin typeface="Calibri"/>
                        </a:rPr>
                        <a:t>Basis pengukuran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sample_count / denominator / method</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Menilai cakupan dan keterbatasan angka</a:t>
                      </a:r>
                    </a:p>
                  </a:txBody>
                  <a:tcPr marL="128016" marR="128016" marT="91440" marB="91440" anchor="ctr">
                    <a:solidFill>
                      <a:srgbClr val="E7F2ED"/>
                    </a:solidFill>
                  </a:tcPr>
                </a:tc>
              </a:tr>
              <a:tr h="414909">
                <a:tc>
                  <a:txBody>
                    <a:bodyPr/>
                    <a:lstStyle/>
                    <a:p>
                      <a:pPr>
                        <a:lnSpc>
                          <a:spcPct val="105000"/>
                        </a:lnSpc>
                        <a:spcAft>
                          <a:spcPts val="0"/>
                        </a:spcAft>
                      </a:pPr>
                      <a:r>
                        <a:rPr sz="1500" b="0">
                          <a:solidFill>
                            <a:srgbClr val="173B36"/>
                          </a:solidFill>
                          <a:latin typeface="Calibri"/>
                        </a:rPr>
                        <a:t>Jejak pengambilan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collected_at / data_as_of_at</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Mengetahui umur dan asal bukti</a:t>
                      </a:r>
                    </a:p>
                  </a:txBody>
                  <a:tcPr marL="128016" marR="128016" marT="91440" marB="9144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Periode bisnis berbeda dari waktu sync</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Data Januari tetap kinerja Januari meskipun dikumpulkan pada Februari.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10</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Apa yang diukur?</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Periode kinerja</a:t>
            </a:r>
          </a:p>
          <a:p>
            <a:pPr algn="l">
              <a:lnSpc>
                <a:spcPct val="108000"/>
              </a:lnSpc>
              <a:spcAft>
                <a:spcPts val="700"/>
              </a:spcAft>
            </a:pPr>
            <a:r>
              <a:rPr sz="1800" b="0">
                <a:solidFill>
                  <a:srgbClr val="173B36"/>
                </a:solidFill>
                <a:latin typeface="Calibri"/>
              </a:rPr>
              <a:t>2026-01-01 sampai 2026-01-31</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Kejadian / pengukuran</a:t>
            </a:r>
          </a:p>
          <a:p>
            <a:pPr algn="l">
              <a:lnSpc>
                <a:spcPct val="108000"/>
              </a:lnSpc>
              <a:spcAft>
                <a:spcPts val="700"/>
              </a:spcAft>
            </a:pPr>
            <a:r>
              <a:rPr sz="1800" b="0">
                <a:solidFill>
                  <a:srgbClr val="173B36"/>
                </a:solidFill>
                <a:latin typeface="Calibri"/>
              </a:rPr>
              <a:t>event_at atau measured_at</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Kapan data dikumpulkan?</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collected_at</a:t>
            </a:r>
          </a:p>
          <a:p>
            <a:pPr algn="l">
              <a:lnSpc>
                <a:spcPct val="108000"/>
              </a:lnSpc>
              <a:spcAft>
                <a:spcPts val="700"/>
              </a:spcAft>
            </a:pPr>
            <a:r>
              <a:rPr sz="1800" b="0">
                <a:solidFill>
                  <a:srgbClr val="173B36"/>
                </a:solidFill>
                <a:latin typeface="Calibri"/>
              </a:rPr>
              <a:t>2026-02-02T09:00:00+07:00</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Waktu sync</a:t>
            </a:r>
          </a:p>
          <a:p>
            <a:pPr algn="l">
              <a:lnSpc>
                <a:spcPct val="108000"/>
              </a:lnSpc>
              <a:spcAft>
                <a:spcPts val="700"/>
              </a:spcAft>
            </a:pPr>
            <a:r>
              <a:rPr sz="1800" b="0">
                <a:solidFill>
                  <a:srgbClr val="173B36"/>
                </a:solidFill>
                <a:latin typeface="Calibri"/>
              </a:rPr>
              <a:t>Waktu pemuatan oleh aplikasi</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Tanggal teks ISO → target date + parse_date_id + TEXT + pola %Y-%m-%d.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Kode baku membuat istilah konsisten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Master adalah daftar rujukan; taxonomy adalah daftar kategori yang disepakati.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ISTILAH_TEKNIS.md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11</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Master data</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PROD-MILK → Produk susu</a:t>
            </a:r>
          </a:p>
          <a:p>
            <a:pPr algn="l">
              <a:lnSpc>
                <a:spcPct val="108000"/>
              </a:lnSpc>
              <a:spcAft>
                <a:spcPts val="700"/>
              </a:spcAft>
            </a:pPr>
            <a:r>
              <a:rPr sz="1800" b="0">
                <a:solidFill>
                  <a:srgbClr val="173B36"/>
                </a:solidFill>
                <a:latin typeface="Calibri"/>
              </a:rPr>
              <a:t>UNIT-CS → Unit layanan</a:t>
            </a:r>
          </a:p>
          <a:p>
            <a:pPr algn="l">
              <a:lnSpc>
                <a:spcPct val="108000"/>
              </a:lnSpc>
              <a:spcAft>
                <a:spcPts val="700"/>
              </a:spcAft>
            </a:pPr>
            <a:r>
              <a:rPr sz="1800" b="0">
                <a:solidFill>
                  <a:srgbClr val="173B36"/>
                </a:solidFill>
                <a:latin typeface="Calibri"/>
              </a:rPr>
              <a:t>TEAM-CS → Tim layanan</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Kode stabil; label boleh diperjelas.</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Taxonomy</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Kategori: PRODUCT / SERVICE</a:t>
            </a:r>
          </a:p>
          <a:p>
            <a:pPr algn="l">
              <a:lnSpc>
                <a:spcPct val="108000"/>
              </a:lnSpc>
              <a:spcAft>
                <a:spcPts val="700"/>
              </a:spcAft>
            </a:pPr>
            <a:r>
              <a:rPr sz="1800" b="0">
                <a:solidFill>
                  <a:srgbClr val="173B36"/>
                </a:solidFill>
                <a:latin typeface="Calibri"/>
              </a:rPr>
              <a:t>Status: OPEN / RESOLVED</a:t>
            </a:r>
          </a:p>
          <a:p>
            <a:pPr algn="l">
              <a:lnSpc>
                <a:spcPct val="108000"/>
              </a:lnSpc>
              <a:spcAft>
                <a:spcPts val="700"/>
              </a:spcAft>
            </a:pPr>
            <a:r>
              <a:rPr sz="1800" b="0">
                <a:solidFill>
                  <a:srgbClr val="173B36"/>
                </a:solidFill>
                <a:latin typeface="Calibri"/>
              </a:rPr>
              <a:t>Prioritas: LOW / MEDIUM / HIGH</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Gunakan daftar dan alias resmi.</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Gunakan dropdown; review definisi, record master, versi kategori dan binding sebelum analisis.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Rumus yang benar dimulai dari basis angka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Jangan merata-ratakan persen jika ukuran kelompoknya berbeda.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12</a:t>
            </a:r>
          </a:p>
        </p:txBody>
      </p:sp>
      <p:graphicFrame>
        <p:nvGraphicFramePr>
          <p:cNvPr id="9" name="Table 8"/>
          <p:cNvGraphicFramePr>
            <a:graphicFrameLocks noGrp="1"/>
          </p:cNvGraphicFramePr>
          <p:nvPr/>
        </p:nvGraphicFramePr>
        <p:xfrm>
          <a:off x="594360" y="2121408"/>
          <a:ext cx="10972800" cy="2377440"/>
        </p:xfrm>
        <a:graphic>
          <a:graphicData uri="http://schemas.openxmlformats.org/drawingml/2006/table">
            <a:tbl>
              <a:tblPr firstRow="1" bandRow="1">
                <a:tableStyleId>{5C22544A-7EE6-4342-B048-85BDC9FD1C3A}</a:tableStyleId>
              </a:tblPr>
              <a:tblGrid>
                <a:gridCol w="2651760"/>
                <a:gridCol w="2468880"/>
                <a:gridCol w="2560320"/>
                <a:gridCol w="3291840"/>
              </a:tblGrid>
              <a:tr h="594360">
                <a:tc>
                  <a:txBody>
                    <a:bodyPr/>
                    <a:lstStyle/>
                    <a:p>
                      <a:pPr>
                        <a:lnSpc>
                          <a:spcPct val="105000"/>
                        </a:lnSpc>
                        <a:spcAft>
                          <a:spcPts val="0"/>
                        </a:spcAft>
                      </a:pPr>
                      <a:r>
                        <a:rPr sz="2100" b="1">
                          <a:solidFill>
                            <a:srgbClr val="FFFFFF"/>
                          </a:solidFill>
                          <a:latin typeface="Calibri"/>
                        </a:rPr>
                        <a:t>Kelompok</a:t>
                      </a:r>
                    </a:p>
                  </a:txBody>
                  <a:tcPr marL="128016" marR="128016" marT="91440" marB="91440" anchor="ctr">
                    <a:solidFill>
                      <a:srgbClr val="075E4B"/>
                    </a:solidFill>
                  </a:tcPr>
                </a:tc>
                <a:tc>
                  <a:txBody>
                    <a:bodyPr/>
                    <a:lstStyle/>
                    <a:p>
                      <a:pPr>
                        <a:lnSpc>
                          <a:spcPct val="105000"/>
                        </a:lnSpc>
                        <a:spcAft>
                          <a:spcPts val="0"/>
                        </a:spcAft>
                      </a:pPr>
                      <a:r>
                        <a:rPr sz="2100" b="1">
                          <a:solidFill>
                            <a:srgbClr val="FFFFFF"/>
                          </a:solidFill>
                          <a:latin typeface="Calibri"/>
                        </a:rPr>
                        <a:t>Respons puas</a:t>
                      </a:r>
                    </a:p>
                  </a:txBody>
                  <a:tcPr marL="128016" marR="128016" marT="91440" marB="91440" anchor="ctr">
                    <a:solidFill>
                      <a:srgbClr val="075E4B"/>
                    </a:solidFill>
                  </a:tcPr>
                </a:tc>
                <a:tc>
                  <a:txBody>
                    <a:bodyPr/>
                    <a:lstStyle/>
                    <a:p>
                      <a:pPr>
                        <a:lnSpc>
                          <a:spcPct val="105000"/>
                        </a:lnSpc>
                        <a:spcAft>
                          <a:spcPts val="0"/>
                        </a:spcAft>
                      </a:pPr>
                      <a:r>
                        <a:rPr sz="2100" b="1">
                          <a:solidFill>
                            <a:srgbClr val="FFFFFF"/>
                          </a:solidFill>
                          <a:latin typeface="Calibri"/>
                        </a:rPr>
                        <a:t>Respons valid</a:t>
                      </a:r>
                    </a:p>
                  </a:txBody>
                  <a:tcPr marL="128016" marR="128016" marT="91440" marB="91440" anchor="ctr">
                    <a:solidFill>
                      <a:srgbClr val="075E4B"/>
                    </a:solidFill>
                  </a:tcPr>
                </a:tc>
                <a:tc>
                  <a:txBody>
                    <a:bodyPr/>
                    <a:lstStyle/>
                    <a:p>
                      <a:pPr>
                        <a:lnSpc>
                          <a:spcPct val="105000"/>
                        </a:lnSpc>
                        <a:spcAft>
                          <a:spcPts val="0"/>
                        </a:spcAft>
                      </a:pPr>
                      <a:r>
                        <a:rPr sz="2100" b="1">
                          <a:solidFill>
                            <a:srgbClr val="FFFFFF"/>
                          </a:solidFill>
                          <a:latin typeface="Calibri"/>
                        </a:rPr>
                        <a:t>CSAT</a:t>
                      </a:r>
                    </a:p>
                  </a:txBody>
                  <a:tcPr marL="128016" marR="128016" marT="91440" marB="91440" anchor="ctr">
                    <a:solidFill>
                      <a:srgbClr val="075E4B"/>
                    </a:solidFill>
                  </a:tcPr>
                </a:tc>
              </a:tr>
              <a:tr h="594360">
                <a:tc>
                  <a:txBody>
                    <a:bodyPr/>
                    <a:lstStyle/>
                    <a:p>
                      <a:pPr>
                        <a:lnSpc>
                          <a:spcPct val="105000"/>
                        </a:lnSpc>
                        <a:spcAft>
                          <a:spcPts val="0"/>
                        </a:spcAft>
                      </a:pPr>
                      <a:r>
                        <a:rPr sz="2100" b="0">
                          <a:solidFill>
                            <a:srgbClr val="173B36"/>
                          </a:solidFill>
                          <a:latin typeface="Calibri"/>
                        </a:rPr>
                        <a:t>A</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9</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10</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90%</a:t>
                      </a:r>
                    </a:p>
                  </a:txBody>
                  <a:tcPr marL="128016" marR="128016" marT="91440" marB="91440" anchor="ctr">
                    <a:solidFill>
                      <a:srgbClr val="FFFFFF"/>
                    </a:solidFill>
                  </a:tcPr>
                </a:tc>
              </a:tr>
              <a:tr h="594360">
                <a:tc>
                  <a:txBody>
                    <a:bodyPr/>
                    <a:lstStyle/>
                    <a:p>
                      <a:pPr>
                        <a:lnSpc>
                          <a:spcPct val="105000"/>
                        </a:lnSpc>
                        <a:spcAft>
                          <a:spcPts val="0"/>
                        </a:spcAft>
                      </a:pPr>
                      <a:r>
                        <a:rPr sz="2100" b="0">
                          <a:solidFill>
                            <a:srgbClr val="173B36"/>
                          </a:solidFill>
                          <a:latin typeface="Calibri"/>
                        </a:rPr>
                        <a:t>B</a:t>
                      </a:r>
                    </a:p>
                  </a:txBody>
                  <a:tcPr marL="128016" marR="128016" marT="91440" marB="91440" anchor="ctr">
                    <a:solidFill>
                      <a:srgbClr val="E7F2ED"/>
                    </a:solidFill>
                  </a:tcPr>
                </a:tc>
                <a:tc>
                  <a:txBody>
                    <a:bodyPr/>
                    <a:lstStyle/>
                    <a:p>
                      <a:pPr>
                        <a:lnSpc>
                          <a:spcPct val="105000"/>
                        </a:lnSpc>
                        <a:spcAft>
                          <a:spcPts val="0"/>
                        </a:spcAft>
                      </a:pPr>
                      <a:r>
                        <a:rPr sz="2100" b="0">
                          <a:solidFill>
                            <a:srgbClr val="173B36"/>
                          </a:solidFill>
                          <a:latin typeface="Calibri"/>
                        </a:rPr>
                        <a:t>9</a:t>
                      </a:r>
                    </a:p>
                  </a:txBody>
                  <a:tcPr marL="128016" marR="128016" marT="91440" marB="91440" anchor="ctr">
                    <a:solidFill>
                      <a:srgbClr val="E7F2ED"/>
                    </a:solidFill>
                  </a:tcPr>
                </a:tc>
                <a:tc>
                  <a:txBody>
                    <a:bodyPr/>
                    <a:lstStyle/>
                    <a:p>
                      <a:pPr>
                        <a:lnSpc>
                          <a:spcPct val="105000"/>
                        </a:lnSpc>
                        <a:spcAft>
                          <a:spcPts val="0"/>
                        </a:spcAft>
                      </a:pPr>
                      <a:r>
                        <a:rPr sz="2100" b="0">
                          <a:solidFill>
                            <a:srgbClr val="173B36"/>
                          </a:solidFill>
                          <a:latin typeface="Calibri"/>
                        </a:rPr>
                        <a:t>90</a:t>
                      </a:r>
                    </a:p>
                  </a:txBody>
                  <a:tcPr marL="128016" marR="128016" marT="91440" marB="91440" anchor="ctr">
                    <a:solidFill>
                      <a:srgbClr val="E7F2ED"/>
                    </a:solidFill>
                  </a:tcPr>
                </a:tc>
                <a:tc>
                  <a:txBody>
                    <a:bodyPr/>
                    <a:lstStyle/>
                    <a:p>
                      <a:pPr>
                        <a:lnSpc>
                          <a:spcPct val="105000"/>
                        </a:lnSpc>
                        <a:spcAft>
                          <a:spcPts val="0"/>
                        </a:spcAft>
                      </a:pPr>
                      <a:r>
                        <a:rPr sz="2100" b="0">
                          <a:solidFill>
                            <a:srgbClr val="173B36"/>
                          </a:solidFill>
                          <a:latin typeface="Calibri"/>
                        </a:rPr>
                        <a:t>10%</a:t>
                      </a:r>
                    </a:p>
                  </a:txBody>
                  <a:tcPr marL="128016" marR="128016" marT="91440" marB="91440" anchor="ctr">
                    <a:solidFill>
                      <a:srgbClr val="E7F2ED"/>
                    </a:solidFill>
                  </a:tcPr>
                </a:tc>
              </a:tr>
              <a:tr h="594360">
                <a:tc>
                  <a:txBody>
                    <a:bodyPr/>
                    <a:lstStyle/>
                    <a:p>
                      <a:pPr>
                        <a:lnSpc>
                          <a:spcPct val="105000"/>
                        </a:lnSpc>
                        <a:spcAft>
                          <a:spcPts val="0"/>
                        </a:spcAft>
                      </a:pPr>
                      <a:r>
                        <a:rPr sz="2100" b="0">
                          <a:solidFill>
                            <a:srgbClr val="173B36"/>
                          </a:solidFill>
                          <a:latin typeface="Calibri"/>
                        </a:rPr>
                        <a:t>Gabungan</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18</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100</a:t>
                      </a:r>
                    </a:p>
                  </a:txBody>
                  <a:tcPr marL="128016" marR="128016" marT="91440" marB="91440" anchor="ctr">
                    <a:solidFill>
                      <a:srgbClr val="FFFFFF"/>
                    </a:solidFill>
                  </a:tcPr>
                </a:tc>
                <a:tc>
                  <a:txBody>
                    <a:bodyPr/>
                    <a:lstStyle/>
                    <a:p>
                      <a:pPr>
                        <a:lnSpc>
                          <a:spcPct val="105000"/>
                        </a:lnSpc>
                        <a:spcAft>
                          <a:spcPts val="0"/>
                        </a:spcAft>
                      </a:pPr>
                      <a:r>
                        <a:rPr sz="2100" b="0">
                          <a:solidFill>
                            <a:srgbClr val="173B36"/>
                          </a:solidFill>
                          <a:latin typeface="Calibri"/>
                        </a:rPr>
                        <a:t>18% = 18 / 100</a:t>
                      </a:r>
                    </a:p>
                  </a:txBody>
                  <a:tcPr marL="128016" marR="128016" marT="91440" marB="91440" anchor="ctr">
                    <a:solidFill>
                      <a:srgbClr val="FFFFFF"/>
                    </a:solidFill>
                  </a:tcPr>
                </a:tc>
              </a:tr>
            </a:tbl>
          </a:graphicData>
        </a:graphic>
      </p:graphicFrame>
      <p:sp>
        <p:nvSpPr>
          <p:cNvPr id="10" name="TextBox 9"/>
          <p:cNvSpPr txBox="1"/>
          <p:nvPr/>
        </p:nvSpPr>
        <p:spPr>
          <a:xfrm>
            <a:off x="777240" y="4828032"/>
            <a:ext cx="10607040" cy="694944"/>
          </a:xfrm>
          <a:prstGeom prst="rect">
            <a:avLst/>
          </a:prstGeom>
          <a:noFill/>
        </p:spPr>
        <p:txBody>
          <a:bodyPr wrap="square" lIns="0" rIns="0" tIns="0" bIns="0" anchor="t">
            <a:spAutoFit/>
          </a:bodyPr>
          <a:lstStyle/>
          <a:p>
            <a:pPr algn="l">
              <a:lnSpc>
                <a:spcPct val="108000"/>
              </a:lnSpc>
              <a:spcAft>
                <a:spcPts val="700"/>
              </a:spcAft>
            </a:pPr>
            <a:r>
              <a:rPr sz="2300" b="1">
                <a:solidFill>
                  <a:srgbClr val="075E4B"/>
                </a:solidFill>
                <a:latin typeface="Calibri"/>
              </a:rPr>
              <a:t>Simpan pembilang + penyebut • satuan jelas • NULL berbeda dari 0</a:t>
            </a:r>
          </a:p>
        </p:txBody>
      </p:sp>
      <p:sp>
        <p:nvSpPr>
          <p:cNvPr id="11" name="Rounded Rectangle 10"/>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SIMULASI • Akurasi tidak dijamin oleh banyak digit; metode dan cakupan tetap diperiksa.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BAGIAN 2 • HUBUNGKAN DAN KONFIGURASIKAN</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1 — Siapkan dan upload sumber</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Aplikasi menerima sumber Google Sheets melalui URL / ID spreadsheet.</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13</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Di Google Drive / Sheets</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1. Upload Excel jika diperlukan.</a:t>
            </a:r>
          </a:p>
          <a:p>
            <a:pPr algn="l">
              <a:lnSpc>
                <a:spcPct val="108000"/>
              </a:lnSpc>
              <a:spcAft>
                <a:spcPts val="700"/>
              </a:spcAft>
            </a:pPr>
            <a:r>
              <a:rPr sz="1800" b="0">
                <a:solidFill>
                  <a:srgbClr val="173B36"/>
                </a:solidFill>
                <a:latin typeface="Calibri"/>
              </a:rPr>
              <a:t>2. Konversi ke Google Sheets.</a:t>
            </a:r>
          </a:p>
          <a:p>
            <a:pPr algn="l">
              <a:lnSpc>
                <a:spcPct val="108000"/>
              </a:lnSpc>
              <a:spcAft>
                <a:spcPts val="700"/>
              </a:spcAft>
            </a:pPr>
            <a:r>
              <a:rPr sz="1800" b="0">
                <a:solidFill>
                  <a:srgbClr val="173B36"/>
                </a:solidFill>
                <a:latin typeface="Calibri"/>
              </a:rPr>
              <a:t>3. Cek header, formula, tanggal, key.</a:t>
            </a:r>
          </a:p>
          <a:p>
            <a:pPr algn="l">
              <a:lnSpc>
                <a:spcPct val="108000"/>
              </a:lnSpc>
              <a:spcAft>
                <a:spcPts val="700"/>
              </a:spcAft>
            </a:pPr>
            <a:r>
              <a:rPr sz="1800" b="0">
                <a:solidFill>
                  <a:srgbClr val="173B36"/>
                </a:solidFill>
                <a:latin typeface="Calibri"/>
              </a:rPr>
              <a:t>4. Bagikan ke service account: Viewer.</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Di aplikasi</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1. Login sesuai peran.</a:t>
            </a:r>
          </a:p>
          <a:p>
            <a:pPr algn="l">
              <a:lnSpc>
                <a:spcPct val="108000"/>
              </a:lnSpc>
              <a:spcAft>
                <a:spcPts val="700"/>
              </a:spcAft>
            </a:pPr>
            <a:r>
              <a:rPr sz="1800" b="0">
                <a:solidFill>
                  <a:srgbClr val="173B36"/>
                </a:solidFill>
                <a:latin typeface="Calibri"/>
              </a:rPr>
              <a:t>2. Buka Sumber &amp; tracking / Workspace.</a:t>
            </a:r>
          </a:p>
          <a:p>
            <a:pPr algn="l">
              <a:lnSpc>
                <a:spcPct val="108000"/>
              </a:lnSpc>
              <a:spcAft>
                <a:spcPts val="700"/>
              </a:spcAft>
            </a:pPr>
            <a:r>
              <a:rPr sz="1800" b="0">
                <a:solidFill>
                  <a:srgbClr val="173B36"/>
                </a:solidFill>
                <a:latin typeface="Calibri"/>
              </a:rPr>
              <a:t>3. Gunakan URL / ID spreadsheet.</a:t>
            </a:r>
          </a:p>
          <a:p>
            <a:pPr algn="l">
              <a:lnSpc>
                <a:spcPct val="108000"/>
              </a:lnSpc>
              <a:spcAft>
                <a:spcPts val="700"/>
              </a:spcAft>
            </a:pPr>
            <a:r>
              <a:rPr sz="1800" b="0">
                <a:solidFill>
                  <a:srgbClr val="173B36"/>
                </a:solidFill>
                <a:latin typeface="Calibri"/>
              </a:rPr>
              <a:t>4. Gunakan sumber lama jika sudah terdaftar.</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Lanjut jika: Sheet tersedia, bisa dibaca service account dan isi sumber sudah diperiksa.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2 — Hubungkan &amp; profiling</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Isi identitas sumber sekaligus tanggung jawab dan cakupan aksesnya.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14</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Isi formulir sumber</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Nama sumber + URL / ID</a:t>
            </a:r>
          </a:p>
          <a:p>
            <a:pPr algn="l">
              <a:lnSpc>
                <a:spcPct val="108000"/>
              </a:lnSpc>
              <a:spcAft>
                <a:spcPts val="700"/>
              </a:spcAft>
            </a:pPr>
            <a:r>
              <a:rPr sz="1800" b="0">
                <a:solidFill>
                  <a:srgbClr val="173B36"/>
                </a:solidFill>
                <a:latin typeface="Calibri"/>
              </a:rPr>
              <a:t>Unit pemilik + domain bisnis</a:t>
            </a:r>
          </a:p>
          <a:p>
            <a:pPr algn="l">
              <a:lnSpc>
                <a:spcPct val="108000"/>
              </a:lnSpc>
              <a:spcAft>
                <a:spcPts val="700"/>
              </a:spcAft>
            </a:pPr>
            <a:r>
              <a:rPr sz="1800" b="0">
                <a:solidFill>
                  <a:srgbClr val="173B36"/>
                </a:solidFill>
                <a:latin typeface="Calibri"/>
              </a:rPr>
              <a:t>Yurisdiksi + tujuan penggunaan</a:t>
            </a:r>
          </a:p>
          <a:p>
            <a:pPr algn="l">
              <a:lnSpc>
                <a:spcPct val="108000"/>
              </a:lnSpc>
              <a:spcAft>
                <a:spcPts val="700"/>
              </a:spcAft>
            </a:pPr>
            <a:r>
              <a:rPr sz="1800" b="0">
                <a:solidFill>
                  <a:srgbClr val="173B36"/>
                </a:solidFill>
                <a:latin typeface="Calibri"/>
              </a:rPr>
              <a:t>Data owner + data steward</a:t>
            </a:r>
          </a:p>
          <a:p>
            <a:pPr algn="l">
              <a:lnSpc>
                <a:spcPct val="108000"/>
              </a:lnSpc>
              <a:spcAft>
                <a:spcPts val="700"/>
              </a:spcAft>
            </a:pPr>
            <a:r>
              <a:rPr sz="1800" b="0">
                <a:solidFill>
                  <a:srgbClr val="173B36"/>
                </a:solidFill>
                <a:latin typeface="Calibri"/>
              </a:rPr>
              <a:t>Sensitivitas data</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Jalankan dan periksa</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Klik Hubungkan &amp; profiling.</a:t>
            </a:r>
          </a:p>
          <a:p>
            <a:pPr algn="l">
              <a:lnSpc>
                <a:spcPct val="108000"/>
              </a:lnSpc>
              <a:spcAft>
                <a:spcPts val="700"/>
              </a:spcAft>
            </a:pPr>
            <a:r>
              <a:rPr sz="1800" b="0">
                <a:solidFill>
                  <a:srgbClr val="173B36"/>
                </a:solidFill>
                <a:latin typeface="Calibri"/>
              </a:rPr>
              <a:t>Tunggu QUEUED / RUNNING selesai.</a:t>
            </a:r>
          </a:p>
          <a:p>
            <a:pPr algn="l">
              <a:lnSpc>
                <a:spcPct val="108000"/>
              </a:lnSpc>
              <a:spcAft>
                <a:spcPts val="700"/>
              </a:spcAft>
            </a:pPr>
            <a:r>
              <a:rPr sz="1800" b="0">
                <a:solidFill>
                  <a:srgbClr val="173B36"/>
                </a:solidFill>
                <a:latin typeface="Calibri"/>
              </a:rPr>
              <a:t>Buka monitor jika FAILED.</a:t>
            </a:r>
          </a:p>
          <a:p>
            <a:pPr algn="l">
              <a:lnSpc>
                <a:spcPct val="108000"/>
              </a:lnSpc>
              <a:spcAft>
                <a:spcPts val="700"/>
              </a:spcAft>
            </a:pPr>
            <a:r>
              <a:rPr sz="1800" b="0">
                <a:solidFill>
                  <a:srgbClr val="173B36"/>
                </a:solidFill>
                <a:latin typeface="Calibri"/>
              </a:rPr>
              <a:t>Pastikan tab dan header terbaca.</a:t>
            </a:r>
          </a:p>
          <a:p>
            <a:pPr algn="l">
              <a:lnSpc>
                <a:spcPct val="108000"/>
              </a:lnSpc>
              <a:spcAft>
                <a:spcPts val="700"/>
              </a:spcAft>
            </a:pPr>
            <a:r>
              <a:rPr sz="1800" b="0">
                <a:solidFill>
                  <a:srgbClr val="173B36"/>
                </a:solidFill>
                <a:latin typeface="Calibri"/>
              </a:rPr>
              <a:t>Jangan daftarkan ulang sumber yang sama.</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Lanjut jika: discovery/profiling sukses; sumber dan daftar tab tersedia.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3 — Pilih dan klasifikasikan tab</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Setiap tab mempunyai peran; tab petunjuk dan kontrol tidak dimuat sebagai data bisnis.</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15</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2331720"/>
                <a:gridCol w="4983480"/>
                <a:gridCol w="3657600"/>
              </a:tblGrid>
              <a:tr h="553212">
                <a:tc>
                  <a:txBody>
                    <a:bodyPr/>
                    <a:lstStyle/>
                    <a:p>
                      <a:pPr>
                        <a:lnSpc>
                          <a:spcPct val="105000"/>
                        </a:lnSpc>
                        <a:spcAft>
                          <a:spcPts val="0"/>
                        </a:spcAft>
                      </a:pPr>
                      <a:r>
                        <a:rPr sz="1600" b="1">
                          <a:solidFill>
                            <a:srgbClr val="FFFFFF"/>
                          </a:solidFill>
                          <a:latin typeface="Calibri"/>
                        </a:rPr>
                        <a:t>Kegiatan</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Yang diperiksa</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Hasil</a:t>
                      </a:r>
                    </a:p>
                  </a:txBody>
                  <a:tcPr marL="128016" marR="128016" marT="91440" marB="91440" anchor="ctr">
                    <a:solidFill>
                      <a:srgbClr val="075E4B"/>
                    </a:solidFill>
                  </a:tcPr>
                </a:tc>
              </a:tr>
              <a:tr h="553212">
                <a:tc>
                  <a:txBody>
                    <a:bodyPr/>
                    <a:lstStyle/>
                    <a:p>
                      <a:pPr>
                        <a:lnSpc>
                          <a:spcPct val="105000"/>
                        </a:lnSpc>
                        <a:spcAft>
                          <a:spcPts val="0"/>
                        </a:spcAft>
                      </a:pPr>
                      <a:r>
                        <a:rPr sz="1600" b="0">
                          <a:solidFill>
                            <a:srgbClr val="173B36"/>
                          </a:solidFill>
                          <a:latin typeface="Calibri"/>
                        </a:rPr>
                        <a:t>Temukan tab</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Tab baru, rename atau tab yang hilang</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Daftar tab diperbarui</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Profiling</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Header, dugaan tipe, kosong dan sensitivitas</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Bahan awal review mapping</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MASTER</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Unit, produk, indikator dan rujukan stabil</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Definisi / record / binding master</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NON_MASTER</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Transaksi, survei, pengukuran atau rekap</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Konfigurasi ETL per tab</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Dikecualikan</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Petunjuk, Formula_Analitik, Aturan_Action_Plan</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Tidak dimuat sebagai tabel ETL</a:t>
                      </a:r>
                    </a:p>
                  </a:txBody>
                  <a:tcPr marL="128016" marR="128016" marT="91440" marB="91440" anchor="ctr">
                    <a:solidFill>
                      <a:srgbClr val="FFFFFF"/>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Lanjut jika: klasifikasi terkonfirmasi dan master / taxonomy yang diperlukan sudah siap.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4 — Setup config: tujuh bagian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Konfigurasi menjelaskan arti data, cara mengolahnya dan siapa boleh membacanya.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PANDUAN_REVIEW_ETL.md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16</a:t>
            </a:r>
          </a:p>
        </p:txBody>
      </p:sp>
      <p:graphicFrame>
        <p:nvGraphicFramePr>
          <p:cNvPr id="9" name="Table 8"/>
          <p:cNvGraphicFramePr>
            <a:graphicFrameLocks noGrp="1"/>
          </p:cNvGraphicFramePr>
          <p:nvPr/>
        </p:nvGraphicFramePr>
        <p:xfrm>
          <a:off x="594360" y="2121408"/>
          <a:ext cx="10972799" cy="3319272"/>
        </p:xfrm>
        <a:graphic>
          <a:graphicData uri="http://schemas.openxmlformats.org/drawingml/2006/table">
            <a:tbl>
              <a:tblPr firstRow="1" bandRow="1">
                <a:tableStyleId>{5C22544A-7EE6-4342-B048-85BDC9FD1C3A}</a:tableStyleId>
              </a:tblPr>
              <a:tblGrid>
                <a:gridCol w="3977639"/>
                <a:gridCol w="6995160"/>
              </a:tblGrid>
              <a:tr h="414909">
                <a:tc>
                  <a:txBody>
                    <a:bodyPr/>
                    <a:lstStyle/>
                    <a:p>
                      <a:pPr>
                        <a:lnSpc>
                          <a:spcPct val="105000"/>
                        </a:lnSpc>
                        <a:spcAft>
                          <a:spcPts val="0"/>
                        </a:spcAft>
                      </a:pPr>
                      <a:r>
                        <a:rPr sz="1700" b="1">
                          <a:solidFill>
                            <a:srgbClr val="FFFFFF"/>
                          </a:solidFill>
                          <a:latin typeface="Calibri"/>
                        </a:rPr>
                        <a:t>Bagian wizard</a:t>
                      </a:r>
                    </a:p>
                  </a:txBody>
                  <a:tcPr marL="128016" marR="128016" marT="91440" marB="91440" anchor="ctr">
                    <a:solidFill>
                      <a:srgbClr val="075E4B"/>
                    </a:solidFill>
                  </a:tcPr>
                </a:tc>
                <a:tc>
                  <a:txBody>
                    <a:bodyPr/>
                    <a:lstStyle/>
                    <a:p>
                      <a:pPr>
                        <a:lnSpc>
                          <a:spcPct val="105000"/>
                        </a:lnSpc>
                        <a:spcAft>
                          <a:spcPts val="0"/>
                        </a:spcAft>
                      </a:pPr>
                      <a:r>
                        <a:rPr sz="1700" b="1">
                          <a:solidFill>
                            <a:srgbClr val="FFFFFF"/>
                          </a:solidFill>
                          <a:latin typeface="Calibri"/>
                        </a:rPr>
                        <a:t>Keputusan utama</a:t>
                      </a:r>
                    </a:p>
                  </a:txBody>
                  <a:tcPr marL="128016" marR="128016" marT="91440" marB="91440" anchor="ctr">
                    <a:solidFill>
                      <a:srgbClr val="075E4B"/>
                    </a:solidFill>
                  </a:tcPr>
                </a:tc>
              </a:tr>
              <a:tr h="414909">
                <a:tc>
                  <a:txBody>
                    <a:bodyPr/>
                    <a:lstStyle/>
                    <a:p>
                      <a:pPr>
                        <a:lnSpc>
                          <a:spcPct val="105000"/>
                        </a:lnSpc>
                        <a:spcAft>
                          <a:spcPts val="0"/>
                        </a:spcAft>
                      </a:pPr>
                      <a:r>
                        <a:rPr sz="1700" b="0">
                          <a:solidFill>
                            <a:srgbClr val="173B36"/>
                          </a:solidFill>
                          <a:latin typeface="Calibri"/>
                        </a:rPr>
                        <a:t>1. Identitas dataset</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Nama bisnis, deskripsi dan arti satu baris</a:t>
                      </a:r>
                    </a:p>
                  </a:txBody>
                  <a:tcPr marL="128016" marR="128016" marT="91440" marB="91440" anchor="ctr">
                    <a:solidFill>
                      <a:srgbClr val="FFFFFF"/>
                    </a:solidFill>
                  </a:tcPr>
                </a:tc>
              </a:tr>
              <a:tr h="414909">
                <a:tc>
                  <a:txBody>
                    <a:bodyPr/>
                    <a:lstStyle/>
                    <a:p>
                      <a:pPr>
                        <a:lnSpc>
                          <a:spcPct val="105000"/>
                        </a:lnSpc>
                        <a:spcAft>
                          <a:spcPts val="0"/>
                        </a:spcAft>
                      </a:pPr>
                      <a:r>
                        <a:rPr sz="1700" b="0">
                          <a:solidFill>
                            <a:srgbClr val="173B36"/>
                          </a:solidFill>
                          <a:latin typeface="Calibri"/>
                        </a:rPr>
                        <a:t>2. Kolom dan sensitivitas</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Mapping, tipe, nullable, key, referensi, PII</a:t>
                      </a:r>
                    </a:p>
                  </a:txBody>
                  <a:tcPr marL="128016" marR="128016" marT="91440" marB="91440" anchor="ctr">
                    <a:solidFill>
                      <a:srgbClr val="E7F2ED"/>
                    </a:solidFill>
                  </a:tcPr>
                </a:tc>
              </a:tr>
              <a:tr h="414909">
                <a:tc>
                  <a:txBody>
                    <a:bodyPr/>
                    <a:lstStyle/>
                    <a:p>
                      <a:pPr>
                        <a:lnSpc>
                          <a:spcPct val="105000"/>
                        </a:lnSpc>
                        <a:spcAft>
                          <a:spcPts val="0"/>
                        </a:spcAft>
                      </a:pPr>
                      <a:r>
                        <a:rPr sz="1700" b="0">
                          <a:solidFill>
                            <a:srgbClr val="173B36"/>
                          </a:solidFill>
                          <a:latin typeface="Calibri"/>
                        </a:rPr>
                        <a:t>3. Cleansing</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Trim dasar dan transformasi tambahan yang diperlukan</a:t>
                      </a:r>
                    </a:p>
                  </a:txBody>
                  <a:tcPr marL="128016" marR="128016" marT="91440" marB="91440" anchor="ctr">
                    <a:solidFill>
                      <a:srgbClr val="FFFFFF"/>
                    </a:solidFill>
                  </a:tcPr>
                </a:tc>
              </a:tr>
              <a:tr h="414909">
                <a:tc>
                  <a:txBody>
                    <a:bodyPr/>
                    <a:lstStyle/>
                    <a:p>
                      <a:pPr>
                        <a:lnSpc>
                          <a:spcPct val="105000"/>
                        </a:lnSpc>
                        <a:spcAft>
                          <a:spcPts val="0"/>
                        </a:spcAft>
                      </a:pPr>
                      <a:r>
                        <a:rPr sz="1700" b="0">
                          <a:solidFill>
                            <a:srgbClr val="173B36"/>
                          </a:solidFill>
                          <a:latin typeface="Calibri"/>
                        </a:rPr>
                        <a:t>4. Kualitas data</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Aturan validasi dan tindakan ketika gagal</a:t>
                      </a:r>
                    </a:p>
                  </a:txBody>
                  <a:tcPr marL="128016" marR="128016" marT="91440" marB="91440" anchor="ctr">
                    <a:solidFill>
                      <a:srgbClr val="E7F2ED"/>
                    </a:solidFill>
                  </a:tcPr>
                </a:tc>
              </a:tr>
              <a:tr h="414909">
                <a:tc>
                  <a:txBody>
                    <a:bodyPr/>
                    <a:lstStyle/>
                    <a:p>
                      <a:pPr>
                        <a:lnSpc>
                          <a:spcPct val="105000"/>
                        </a:lnSpc>
                        <a:spcAft>
                          <a:spcPts val="0"/>
                        </a:spcAft>
                      </a:pPr>
                      <a:r>
                        <a:rPr sz="1700" b="0">
                          <a:solidFill>
                            <a:srgbClr val="173B36"/>
                          </a:solidFill>
                          <a:latin typeface="Calibri"/>
                        </a:rPr>
                        <a:t>5. Pemuatan</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Tabel tujuan dan APPEND / UPSERT / FULL_REFRESH</a:t>
                      </a:r>
                    </a:p>
                  </a:txBody>
                  <a:tcPr marL="128016" marR="128016" marT="91440" marB="91440" anchor="ctr">
                    <a:solidFill>
                      <a:srgbClr val="FFFFFF"/>
                    </a:solidFill>
                  </a:tcPr>
                </a:tc>
              </a:tr>
              <a:tr h="414909">
                <a:tc>
                  <a:txBody>
                    <a:bodyPr/>
                    <a:lstStyle/>
                    <a:p>
                      <a:pPr>
                        <a:lnSpc>
                          <a:spcPct val="105000"/>
                        </a:lnSpc>
                        <a:spcAft>
                          <a:spcPts val="0"/>
                        </a:spcAft>
                      </a:pPr>
                      <a:r>
                        <a:rPr sz="1700" b="0">
                          <a:solidFill>
                            <a:srgbClr val="173B36"/>
                          </a:solidFill>
                          <a:latin typeface="Calibri"/>
                        </a:rPr>
                        <a:t>6. Analitik dan akses</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Dimensi, metrik, unit, sinonim dan role pembaca</a:t>
                      </a:r>
                    </a:p>
                  </a:txBody>
                  <a:tcPr marL="128016" marR="128016" marT="91440" marB="91440" anchor="ctr">
                    <a:solidFill>
                      <a:srgbClr val="E7F2ED"/>
                    </a:solidFill>
                  </a:tcPr>
                </a:tc>
              </a:tr>
              <a:tr h="414909">
                <a:tc>
                  <a:txBody>
                    <a:bodyPr/>
                    <a:lstStyle/>
                    <a:p>
                      <a:pPr>
                        <a:lnSpc>
                          <a:spcPct val="105000"/>
                        </a:lnSpc>
                        <a:spcAft>
                          <a:spcPts val="0"/>
                        </a:spcAft>
                      </a:pPr>
                      <a:r>
                        <a:rPr sz="1700" b="0">
                          <a:solidFill>
                            <a:srgbClr val="173B36"/>
                          </a:solidFill>
                          <a:latin typeface="Calibri"/>
                        </a:rPr>
                        <a:t>7. Validasi dan persetujuan</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Dry-run, preview schema, checklist dan review</a:t>
                      </a:r>
                    </a:p>
                  </a:txBody>
                  <a:tcPr marL="128016" marR="128016" marT="91440" marB="91440"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Mapping: dari header Sheet ke field tujuan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Jenis isi sumber dan tipe tujuan harus cocok; boleh kosong adalah keputusan bisnis.</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PANDUAN_REVIEW_ETL.md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17</a:t>
            </a:r>
          </a:p>
        </p:txBody>
      </p:sp>
      <p:graphicFrame>
        <p:nvGraphicFramePr>
          <p:cNvPr id="9" name="Table 8"/>
          <p:cNvGraphicFramePr>
            <a:graphicFrameLocks noGrp="1"/>
          </p:cNvGraphicFramePr>
          <p:nvPr/>
        </p:nvGraphicFramePr>
        <p:xfrm>
          <a:off x="594360" y="2121408"/>
          <a:ext cx="10972799" cy="3319272"/>
        </p:xfrm>
        <a:graphic>
          <a:graphicData uri="http://schemas.openxmlformats.org/drawingml/2006/table">
            <a:tbl>
              <a:tblPr firstRow="1" bandRow="1">
                <a:tableStyleId>{5C22544A-7EE6-4342-B048-85BDC9FD1C3A}</a:tableStyleId>
              </a:tblPr>
              <a:tblGrid>
                <a:gridCol w="2834640"/>
                <a:gridCol w="3749039"/>
                <a:gridCol w="4389120"/>
              </a:tblGrid>
              <a:tr h="474181">
                <a:tc>
                  <a:txBody>
                    <a:bodyPr/>
                    <a:lstStyle/>
                    <a:p>
                      <a:pPr>
                        <a:lnSpc>
                          <a:spcPct val="105000"/>
                        </a:lnSpc>
                        <a:spcAft>
                          <a:spcPts val="0"/>
                        </a:spcAft>
                      </a:pPr>
                      <a:r>
                        <a:rPr sz="1600" b="1">
                          <a:solidFill>
                            <a:srgbClr val="FFFFFF"/>
                          </a:solidFill>
                          <a:latin typeface="Calibri"/>
                        </a:rPr>
                        <a:t>Header sumber</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Field / tipe tujuan</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Aturan contoh</a:t>
                      </a:r>
                    </a:p>
                  </a:txBody>
                  <a:tcPr marL="128016" marR="128016" marT="91440" marB="91440" anchor="ctr">
                    <a:solidFill>
                      <a:srgbClr val="075E4B"/>
                    </a:solidFill>
                  </a:tcPr>
                </a:tc>
              </a:tr>
              <a:tr h="474181">
                <a:tc>
                  <a:txBody>
                    <a:bodyPr/>
                    <a:lstStyle/>
                    <a:p>
                      <a:pPr>
                        <a:lnSpc>
                          <a:spcPct val="105000"/>
                        </a:lnSpc>
                        <a:spcAft>
                          <a:spcPts val="0"/>
                        </a:spcAft>
                      </a:pPr>
                      <a:r>
                        <a:rPr sz="1600" b="0">
                          <a:solidFill>
                            <a:srgbClr val="173B36"/>
                          </a:solidFill>
                          <a:latin typeface="Calibri"/>
                        </a:rPr>
                        <a:t>complaint_id</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complaint_id • text</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Wajib • key unik • kode tetap</a:t>
                      </a:r>
                    </a:p>
                  </a:txBody>
                  <a:tcPr marL="128016" marR="128016" marT="91440" marB="91440" anchor="ctr">
                    <a:solidFill>
                      <a:srgbClr val="FFFFFF"/>
                    </a:solidFill>
                  </a:tcPr>
                </a:tc>
              </a:tr>
              <a:tr h="474181">
                <a:tc>
                  <a:txBody>
                    <a:bodyPr/>
                    <a:lstStyle/>
                    <a:p>
                      <a:pPr>
                        <a:lnSpc>
                          <a:spcPct val="105000"/>
                        </a:lnSpc>
                        <a:spcAft>
                          <a:spcPts val="0"/>
                        </a:spcAft>
                      </a:pPr>
                      <a:r>
                        <a:rPr sz="1600" b="0">
                          <a:solidFill>
                            <a:srgbClr val="173B36"/>
                          </a:solidFill>
                          <a:latin typeface="Calibri"/>
                        </a:rPr>
                        <a:t>event_date</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event_date • date</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Wajib • format parsing sesuai sumber</a:t>
                      </a:r>
                    </a:p>
                  </a:txBody>
                  <a:tcPr marL="128016" marR="128016" marT="91440" marB="91440" anchor="ctr">
                    <a:solidFill>
                      <a:srgbClr val="E7F2ED"/>
                    </a:solidFill>
                  </a:tcPr>
                </a:tc>
              </a:tr>
              <a:tr h="474181">
                <a:tc>
                  <a:txBody>
                    <a:bodyPr/>
                    <a:lstStyle/>
                    <a:p>
                      <a:pPr>
                        <a:lnSpc>
                          <a:spcPct val="105000"/>
                        </a:lnSpc>
                        <a:spcAft>
                          <a:spcPts val="0"/>
                        </a:spcAft>
                      </a:pPr>
                      <a:r>
                        <a:rPr sz="1600" b="0">
                          <a:solidFill>
                            <a:srgbClr val="173B36"/>
                          </a:solidFill>
                          <a:latin typeface="Calibri"/>
                        </a:rPr>
                        <a:t>unit_code</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unit_code • text</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Wajib • rujuk master unit</a:t>
                      </a:r>
                    </a:p>
                  </a:txBody>
                  <a:tcPr marL="128016" marR="128016" marT="91440" marB="91440" anchor="ctr">
                    <a:solidFill>
                      <a:srgbClr val="FFFFFF"/>
                    </a:solidFill>
                  </a:tcPr>
                </a:tc>
              </a:tr>
              <a:tr h="474181">
                <a:tc>
                  <a:txBody>
                    <a:bodyPr/>
                    <a:lstStyle/>
                    <a:p>
                      <a:pPr>
                        <a:lnSpc>
                          <a:spcPct val="105000"/>
                        </a:lnSpc>
                        <a:spcAft>
                          <a:spcPts val="0"/>
                        </a:spcAft>
                      </a:pPr>
                      <a:r>
                        <a:rPr sz="1600" b="0">
                          <a:solidFill>
                            <a:srgbClr val="173B36"/>
                          </a:solidFill>
                          <a:latin typeface="Calibri"/>
                        </a:rPr>
                        <a:t>actual_value</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actual_value • numeric</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Satuan / presisi sesuai pengukuran</a:t>
                      </a:r>
                    </a:p>
                  </a:txBody>
                  <a:tcPr marL="128016" marR="128016" marT="91440" marB="91440" anchor="ctr">
                    <a:solidFill>
                      <a:srgbClr val="E7F2ED"/>
                    </a:solidFill>
                  </a:tcPr>
                </a:tc>
              </a:tr>
              <a:tr h="474181">
                <a:tc>
                  <a:txBody>
                    <a:bodyPr/>
                    <a:lstStyle/>
                    <a:p>
                      <a:pPr>
                        <a:lnSpc>
                          <a:spcPct val="105000"/>
                        </a:lnSpc>
                        <a:spcAft>
                          <a:spcPts val="0"/>
                        </a:spcAft>
                      </a:pPr>
                      <a:r>
                        <a:rPr sz="1600" b="0">
                          <a:solidFill>
                            <a:srgbClr val="173B36"/>
                          </a:solidFill>
                          <a:latin typeface="Calibri"/>
                        </a:rPr>
                        <a:t>completed_at</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completed_at • timestamptz</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Boleh kosong selama belum selesai</a:t>
                      </a:r>
                    </a:p>
                  </a:txBody>
                  <a:tcPr marL="128016" marR="128016" marT="91440" marB="91440" anchor="ctr">
                    <a:solidFill>
                      <a:srgbClr val="FFFFFF"/>
                    </a:solidFill>
                  </a:tcPr>
                </a:tc>
              </a:tr>
              <a:tr h="474186">
                <a:tc>
                  <a:txBody>
                    <a:bodyPr/>
                    <a:lstStyle/>
                    <a:p>
                      <a:pPr>
                        <a:lnSpc>
                          <a:spcPct val="105000"/>
                        </a:lnSpc>
                        <a:spcAft>
                          <a:spcPts val="0"/>
                        </a:spcAft>
                      </a:pPr>
                      <a:r>
                        <a:rPr sz="1600" b="0">
                          <a:solidFill>
                            <a:srgbClr val="173B36"/>
                          </a:solidFill>
                          <a:latin typeface="Calibri"/>
                        </a:rPr>
                        <a:t>Narasi keluhan</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Field text dengan sensitivitas sesuai isi</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Periksa PII sebelum dipublikasikan</a:t>
                      </a:r>
                    </a:p>
                  </a:txBody>
                  <a:tcPr marL="128016" marR="128016" marT="91440" marB="91440" anchor="ctr">
                    <a:solidFill>
                      <a:srgbClr val="E7F2ED"/>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Header sumber harus cocok persis dengan profil terbaru; rename dilakukan di Sheet lalu profiling ulang.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Cleansing dan DQ menjaga arti data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Rapikan nilai tanpa mengubah makna atau menutupi kesalahan sumber.</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PANDUAN_REVIEW_ETL.md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18</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Cleansing</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  UNIT-CS  " → "UNIT-CS"</a:t>
            </a:r>
          </a:p>
          <a:p>
            <a:pPr algn="l">
              <a:lnSpc>
                <a:spcPct val="108000"/>
              </a:lnSpc>
              <a:spcAft>
                <a:spcPts val="700"/>
              </a:spcAft>
            </a:pPr>
            <a:r>
              <a:rPr sz="1800" b="0">
                <a:solidFill>
                  <a:srgbClr val="173B36"/>
                </a:solidFill>
                <a:latin typeface="Calibri"/>
              </a:rPr>
              <a:t>Trim otomatis pada text / varchar.</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Tanggal: parsing sesuai format.</a:t>
            </a:r>
          </a:p>
          <a:p>
            <a:pPr algn="l">
              <a:lnSpc>
                <a:spcPct val="108000"/>
              </a:lnSpc>
              <a:spcAft>
                <a:spcPts val="700"/>
              </a:spcAft>
            </a:pPr>
            <a:r>
              <a:rPr sz="1800" b="0">
                <a:solidFill>
                  <a:srgbClr val="173B36"/>
                </a:solidFill>
                <a:latin typeface="Calibri"/>
              </a:rPr>
              <a:t>Kategori: referensi resmi.</a:t>
            </a:r>
          </a:p>
          <a:p>
            <a:pPr algn="l">
              <a:lnSpc>
                <a:spcPct val="108000"/>
              </a:lnSpc>
              <a:spcAft>
                <a:spcPts val="700"/>
              </a:spcAft>
            </a:pPr>
            <a:r>
              <a:rPr sz="1800" b="0">
                <a:solidFill>
                  <a:srgbClr val="173B36"/>
                </a:solidFill>
                <a:latin typeface="Calibri"/>
              </a:rPr>
              <a:t>Transformasi tambahan direview.</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Kualitas data</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Key tidak kosong / tidak berulang.</a:t>
            </a:r>
          </a:p>
          <a:p>
            <a:pPr algn="l">
              <a:lnSpc>
                <a:spcPct val="108000"/>
              </a:lnSpc>
              <a:spcAft>
                <a:spcPts val="700"/>
              </a:spcAft>
            </a:pPr>
            <a:r>
              <a:rPr sz="1800" b="0">
                <a:solidFill>
                  <a:srgbClr val="173B36"/>
                </a:solidFill>
                <a:latin typeface="Calibri"/>
              </a:rPr>
              <a:t>Tipe dan nilai wajib valid.</a:t>
            </a:r>
          </a:p>
          <a:p>
            <a:pPr algn="l">
              <a:lnSpc>
                <a:spcPct val="108000"/>
              </a:lnSpc>
              <a:spcAft>
                <a:spcPts val="700"/>
              </a:spcAft>
            </a:pPr>
            <a:r>
              <a:rPr sz="1800" b="0">
                <a:solidFill>
                  <a:srgbClr val="173B36"/>
                </a:solidFill>
                <a:latin typeface="Calibri"/>
              </a:rPr>
              <a:t>Kode ditemukan di master.</a:t>
            </a:r>
          </a:p>
          <a:p>
            <a:pPr algn="l">
              <a:lnSpc>
                <a:spcPct val="108000"/>
              </a:lnSpc>
              <a:spcAft>
                <a:spcPts val="700"/>
              </a:spcAft>
            </a:pPr>
            <a:r>
              <a:rPr sz="1800" b="0">
                <a:solidFill>
                  <a:srgbClr val="173B36"/>
                </a:solidFill>
                <a:latin typeface="Calibri"/>
              </a:rPr>
              <a:t>Skor / nilai dalam batas yang sah.</a:t>
            </a:r>
          </a:p>
          <a:p>
            <a:pPr algn="l">
              <a:lnSpc>
                <a:spcPct val="108000"/>
              </a:lnSpc>
              <a:spcAft>
                <a:spcPts val="700"/>
              </a:spcAft>
            </a:pPr>
            <a:r>
              <a:rPr sz="1800" b="0">
                <a:solidFill>
                  <a:srgbClr val="173B36"/>
                </a:solidFill>
                <a:latin typeface="Calibri"/>
              </a:rPr>
              <a:t>Temuan punya tindakan dan pemilik.</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Nullable mengizinkan kosong; bukan mengizinkan angka / tanggal yang formatnya salah.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Strategi pemuatan: pilih sesuai sumber</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Business key menentukan apakah perubahan memperbarui record atau menambah record.</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PANDUAN_REVIEW_ETL.md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19</a:t>
            </a:r>
          </a:p>
        </p:txBody>
      </p:sp>
      <p:sp>
        <p:nvSpPr>
          <p:cNvPr id="9" name="Rounded Rectangle 8"/>
          <p:cNvSpPr/>
          <p:nvPr/>
        </p:nvSpPr>
        <p:spPr>
          <a:xfrm>
            <a:off x="594360" y="2194560"/>
            <a:ext cx="35204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9456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77440"/>
            <a:ext cx="3108960"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APPEND</a:t>
            </a:r>
          </a:p>
        </p:txBody>
      </p:sp>
      <p:sp>
        <p:nvSpPr>
          <p:cNvPr id="12" name="TextBox 11"/>
          <p:cNvSpPr txBox="1"/>
          <p:nvPr/>
        </p:nvSpPr>
        <p:spPr>
          <a:xfrm>
            <a:off x="804672" y="3008376"/>
            <a:ext cx="3099816" cy="2404872"/>
          </a:xfrm>
          <a:prstGeom prst="rect">
            <a:avLst/>
          </a:prstGeom>
          <a:noFill/>
        </p:spPr>
        <p:txBody>
          <a:bodyPr wrap="square" lIns="0" rIns="0" tIns="0" bIns="0" anchor="t">
            <a:spAutoFit/>
          </a:bodyPr>
          <a:lstStyle/>
          <a:p>
            <a:pPr algn="l">
              <a:lnSpc>
                <a:spcPct val="108000"/>
              </a:lnSpc>
              <a:spcAft>
                <a:spcPts val="700"/>
              </a:spcAft>
            </a:pPr>
            <a:r>
              <a:rPr sz="2000" b="0">
                <a:solidFill>
                  <a:srgbClr val="173B36"/>
                </a:solidFill>
                <a:latin typeface="Calibri"/>
              </a:rPr>
              <a:t>Tambahkan record baru.</a:t>
            </a:r>
          </a:p>
          <a:p>
            <a:pPr algn="l">
              <a:lnSpc>
                <a:spcPct val="108000"/>
              </a:lnSpc>
              <a:spcAft>
                <a:spcPts val="700"/>
              </a:spcAft>
            </a:pPr>
            <a:r>
              <a:rPr sz="2000" b="0">
                <a:solidFill>
                  <a:srgbClr val="173B36"/>
                </a:solidFill>
                <a:latin typeface="Calibri"/>
              </a:rPr>
              <a:t/>
            </a:r>
          </a:p>
          <a:p>
            <a:pPr algn="l">
              <a:lnSpc>
                <a:spcPct val="108000"/>
              </a:lnSpc>
              <a:spcAft>
                <a:spcPts val="700"/>
              </a:spcAft>
            </a:pPr>
            <a:r>
              <a:rPr sz="2000" b="0">
                <a:solidFill>
                  <a:srgbClr val="173B36"/>
                </a:solidFill>
                <a:latin typeface="Calibri"/>
              </a:rPr>
              <a:t>Cocok: log kejadian baru.</a:t>
            </a:r>
          </a:p>
          <a:p>
            <a:pPr algn="l">
              <a:lnSpc>
                <a:spcPct val="108000"/>
              </a:lnSpc>
              <a:spcAft>
                <a:spcPts val="700"/>
              </a:spcAft>
            </a:pPr>
            <a:r>
              <a:rPr sz="2000" b="0">
                <a:solidFill>
                  <a:srgbClr val="173B36"/>
                </a:solidFill>
                <a:latin typeface="Calibri"/>
              </a:rPr>
              <a:t>Periksa risiko hitung ganda.</a:t>
            </a:r>
          </a:p>
        </p:txBody>
      </p:sp>
      <p:sp>
        <p:nvSpPr>
          <p:cNvPr id="13" name="Rounded Rectangle 12"/>
          <p:cNvSpPr/>
          <p:nvPr/>
        </p:nvSpPr>
        <p:spPr>
          <a:xfrm>
            <a:off x="4325112" y="2194560"/>
            <a:ext cx="35204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219456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377440"/>
            <a:ext cx="31089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UPSERT</a:t>
            </a:r>
          </a:p>
        </p:txBody>
      </p:sp>
      <p:sp>
        <p:nvSpPr>
          <p:cNvPr id="16" name="TextBox 15"/>
          <p:cNvSpPr txBox="1"/>
          <p:nvPr/>
        </p:nvSpPr>
        <p:spPr>
          <a:xfrm>
            <a:off x="4535424" y="3008376"/>
            <a:ext cx="3099816" cy="2404872"/>
          </a:xfrm>
          <a:prstGeom prst="rect">
            <a:avLst/>
          </a:prstGeom>
          <a:noFill/>
        </p:spPr>
        <p:txBody>
          <a:bodyPr wrap="square" lIns="0" rIns="0" tIns="0" bIns="0" anchor="t">
            <a:spAutoFit/>
          </a:bodyPr>
          <a:lstStyle/>
          <a:p>
            <a:pPr algn="l">
              <a:lnSpc>
                <a:spcPct val="108000"/>
              </a:lnSpc>
              <a:spcAft>
                <a:spcPts val="700"/>
              </a:spcAft>
            </a:pPr>
            <a:r>
              <a:rPr sz="2000" b="0">
                <a:solidFill>
                  <a:srgbClr val="173B36"/>
                </a:solidFill>
                <a:latin typeface="Calibri"/>
              </a:rPr>
              <a:t>Update jika key sudah ada; tambah jika belum.</a:t>
            </a:r>
          </a:p>
          <a:p>
            <a:pPr algn="l">
              <a:lnSpc>
                <a:spcPct val="108000"/>
              </a:lnSpc>
              <a:spcAft>
                <a:spcPts val="700"/>
              </a:spcAft>
            </a:pPr>
            <a:r>
              <a:rPr sz="2000" b="0">
                <a:solidFill>
                  <a:srgbClr val="173B36"/>
                </a:solidFill>
                <a:latin typeface="Calibri"/>
              </a:rPr>
              <a:t/>
            </a:r>
          </a:p>
          <a:p>
            <a:pPr algn="l">
              <a:lnSpc>
                <a:spcPct val="108000"/>
              </a:lnSpc>
              <a:spcAft>
                <a:spcPts val="700"/>
              </a:spcAft>
            </a:pPr>
            <a:r>
              <a:rPr sz="2000" b="0">
                <a:solidFill>
                  <a:srgbClr val="173B36"/>
                </a:solidFill>
                <a:latin typeface="Calibri"/>
              </a:rPr>
              <a:t>Cocok: koreksi data dengan key stabil.</a:t>
            </a:r>
          </a:p>
        </p:txBody>
      </p:sp>
      <p:sp>
        <p:nvSpPr>
          <p:cNvPr id="17" name="Rounded Rectangle 16"/>
          <p:cNvSpPr/>
          <p:nvPr/>
        </p:nvSpPr>
        <p:spPr>
          <a:xfrm>
            <a:off x="8055864" y="2194560"/>
            <a:ext cx="35204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219456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2377440"/>
            <a:ext cx="31089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FULL_REFRESH</a:t>
            </a:r>
          </a:p>
        </p:txBody>
      </p:sp>
      <p:sp>
        <p:nvSpPr>
          <p:cNvPr id="20" name="TextBox 19"/>
          <p:cNvSpPr txBox="1"/>
          <p:nvPr/>
        </p:nvSpPr>
        <p:spPr>
          <a:xfrm>
            <a:off x="8266176" y="3008376"/>
            <a:ext cx="3099816" cy="2404872"/>
          </a:xfrm>
          <a:prstGeom prst="rect">
            <a:avLst/>
          </a:prstGeom>
          <a:noFill/>
        </p:spPr>
        <p:txBody>
          <a:bodyPr wrap="square" lIns="0" rIns="0" tIns="0" bIns="0" anchor="t">
            <a:spAutoFit/>
          </a:bodyPr>
          <a:lstStyle/>
          <a:p>
            <a:pPr algn="l">
              <a:lnSpc>
                <a:spcPct val="108000"/>
              </a:lnSpc>
              <a:spcAft>
                <a:spcPts val="700"/>
              </a:spcAft>
            </a:pPr>
            <a:r>
              <a:rPr sz="2000" b="0">
                <a:solidFill>
                  <a:srgbClr val="173B36"/>
                </a:solidFill>
                <a:latin typeface="Calibri"/>
              </a:rPr>
              <a:t>Ganti isi dengan snapshot lengkap.</a:t>
            </a:r>
          </a:p>
          <a:p>
            <a:pPr algn="l">
              <a:lnSpc>
                <a:spcPct val="108000"/>
              </a:lnSpc>
              <a:spcAft>
                <a:spcPts val="700"/>
              </a:spcAft>
            </a:pPr>
            <a:r>
              <a:rPr sz="2000" b="0">
                <a:solidFill>
                  <a:srgbClr val="173B36"/>
                </a:solidFill>
                <a:latin typeface="Calibri"/>
              </a:rPr>
              <a:t/>
            </a:r>
          </a:p>
          <a:p>
            <a:pPr algn="l">
              <a:lnSpc>
                <a:spcPct val="108000"/>
              </a:lnSpc>
              <a:spcAft>
                <a:spcPts val="700"/>
              </a:spcAft>
            </a:pPr>
            <a:r>
              <a:rPr sz="2000" b="0">
                <a:solidFill>
                  <a:srgbClr val="173B36"/>
                </a:solidFill>
                <a:latin typeface="Calibri"/>
              </a:rPr>
              <a:t>Cocok: snapshot menyeluruh.</a:t>
            </a:r>
          </a:p>
          <a:p>
            <a:pPr algn="l">
              <a:lnSpc>
                <a:spcPct val="108000"/>
              </a:lnSpc>
              <a:spcAft>
                <a:spcPts val="700"/>
              </a:spcAft>
            </a:pPr>
            <a:r>
              <a:rPr sz="2000" b="0">
                <a:solidFill>
                  <a:srgbClr val="173B36"/>
                </a:solidFill>
                <a:latin typeface="Calibri"/>
              </a:rPr>
              <a:t>Tetap melalui review batch.</a:t>
            </a:r>
          </a:p>
        </p:txBody>
      </p:sp>
      <p:sp>
        <p:nvSpPr>
          <p:cNvPr id="21" name="Rounded Rectangle 20"/>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Untuk revisi dataset yang sama, pertahankan target tabel kecuali perpindahan sudah direncanakan.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Analitik dan akses: beri AI konteks yang jelas</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AI memakai definisi produk dan metrik yang disetujui, bukan menebak arti kolom angka.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20</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Definisi analitik</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Dimensi: produk, unit, periode.</a:t>
            </a:r>
          </a:p>
          <a:p>
            <a:pPr algn="l">
              <a:lnSpc>
                <a:spcPct val="108000"/>
              </a:lnSpc>
              <a:spcAft>
                <a:spcPts val="700"/>
              </a:spcAft>
            </a:pPr>
            <a:r>
              <a:rPr sz="1800" b="0">
                <a:solidFill>
                  <a:srgbClr val="173B36"/>
                </a:solidFill>
                <a:latin typeface="Calibri"/>
              </a:rPr>
              <a:t>Metrik: jumlah keluhan = SUM.</a:t>
            </a:r>
          </a:p>
          <a:p>
            <a:pPr algn="l">
              <a:lnSpc>
                <a:spcPct val="108000"/>
              </a:lnSpc>
              <a:spcAft>
                <a:spcPts val="700"/>
              </a:spcAft>
            </a:pPr>
            <a:r>
              <a:rPr sz="1800" b="0">
                <a:solidFill>
                  <a:srgbClr val="173B36"/>
                </a:solidFill>
                <a:latin typeface="Calibri"/>
              </a:rPr>
              <a:t>Unit: CASE, IDR, HOUR atau RATIO.</a:t>
            </a:r>
          </a:p>
          <a:p>
            <a:pPr algn="l">
              <a:lnSpc>
                <a:spcPct val="108000"/>
              </a:lnSpc>
              <a:spcAft>
                <a:spcPts val="700"/>
              </a:spcAft>
            </a:pPr>
            <a:r>
              <a:rPr sz="1800" b="0">
                <a:solidFill>
                  <a:srgbClr val="173B36"/>
                </a:solidFill>
                <a:latin typeface="Calibri"/>
              </a:rPr>
              <a:t>Sinonim: istilah yang digunakan tim.</a:t>
            </a:r>
          </a:p>
          <a:p>
            <a:pPr algn="l">
              <a:lnSpc>
                <a:spcPct val="108000"/>
              </a:lnSpc>
              <a:spcAft>
                <a:spcPts val="700"/>
              </a:spcAft>
            </a:pPr>
            <a:r>
              <a:rPr sz="1800" b="0">
                <a:solidFill>
                  <a:srgbClr val="173B36"/>
                </a:solidFill>
                <a:latin typeface="Calibri"/>
              </a:rPr>
              <a:t>Deskripsi: basis dan batas perhitungan.</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Akses dan konteks</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Role pembaca sesuai kebutuhan.</a:t>
            </a:r>
          </a:p>
          <a:p>
            <a:pPr algn="l">
              <a:lnSpc>
                <a:spcPct val="108000"/>
              </a:lnSpc>
              <a:spcAft>
                <a:spcPts val="700"/>
              </a:spcAft>
            </a:pPr>
            <a:r>
              <a:rPr sz="1800" b="0">
                <a:solidFill>
                  <a:srgbClr val="173B36"/>
                </a:solidFill>
                <a:latin typeface="Calibri"/>
              </a:rPr>
              <a:t>Policy sumber / produk berlaku.</a:t>
            </a:r>
          </a:p>
          <a:p>
            <a:pPr algn="l">
              <a:lnSpc>
                <a:spcPct val="108000"/>
              </a:lnSpc>
              <a:spcAft>
                <a:spcPts val="700"/>
              </a:spcAft>
            </a:pPr>
            <a:r>
              <a:rPr sz="1800" b="0">
                <a:solidFill>
                  <a:srgbClr val="173B36"/>
                </a:solidFill>
                <a:latin typeface="Calibri"/>
              </a:rPr>
              <a:t>Kolom dan baris mengikuti izin.</a:t>
            </a:r>
          </a:p>
          <a:p>
            <a:pPr algn="l">
              <a:lnSpc>
                <a:spcPct val="108000"/>
              </a:lnSpc>
              <a:spcAft>
                <a:spcPts val="700"/>
              </a:spcAft>
            </a:pPr>
            <a:r>
              <a:rPr sz="1800" b="0">
                <a:solidFill>
                  <a:srgbClr val="173B36"/>
                </a:solidFill>
                <a:latin typeface="Calibri"/>
              </a:rPr>
              <a:t>Periode dan metode pengukuran jelas.</a:t>
            </a:r>
          </a:p>
          <a:p>
            <a:pPr algn="l">
              <a:lnSpc>
                <a:spcPct val="108000"/>
              </a:lnSpc>
              <a:spcAft>
                <a:spcPts val="700"/>
              </a:spcAft>
            </a:pPr>
            <a:r>
              <a:rPr sz="1800" b="0">
                <a:solidFill>
                  <a:srgbClr val="173B36"/>
                </a:solidFill>
                <a:latin typeface="Calibri"/>
              </a:rPr>
              <a:t>Relasi dataset memakai join approved.</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Nama bisnis + grain + definisi metrik + unit + periode = konteks analitik yang dapat diperiksa.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5 — Validasi, review dan approval</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Periksa bukti dan dampak sebelum konfigurasi ditayangkan.</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PANDUAN_REVIEW_ETL.md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21</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Editor menyiapkan bukti</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Simpan draft dan jalankan dry-run.</a:t>
            </a:r>
          </a:p>
          <a:p>
            <a:pPr algn="l">
              <a:lnSpc>
                <a:spcPct val="108000"/>
              </a:lnSpc>
              <a:spcAft>
                <a:spcPts val="700"/>
              </a:spcAft>
            </a:pPr>
            <a:r>
              <a:rPr sz="1800" b="0">
                <a:solidFill>
                  <a:srgbClr val="173B36"/>
                </a:solidFill>
                <a:latin typeface="Calibri"/>
              </a:rPr>
              <a:t>Periksa mapping serta hasil konversi.</a:t>
            </a:r>
          </a:p>
          <a:p>
            <a:pPr algn="l">
              <a:lnSpc>
                <a:spcPct val="108000"/>
              </a:lnSpc>
              <a:spcAft>
                <a:spcPts val="700"/>
              </a:spcAft>
            </a:pPr>
            <a:r>
              <a:rPr sz="1800" b="0">
                <a:solidFill>
                  <a:srgbClr val="173B36"/>
                </a:solidFill>
                <a:latin typeface="Calibri"/>
              </a:rPr>
              <a:t>Tinjau preview perubahan schema.</a:t>
            </a:r>
          </a:p>
          <a:p>
            <a:pPr algn="l">
              <a:lnSpc>
                <a:spcPct val="108000"/>
              </a:lnSpc>
              <a:spcAft>
                <a:spcPts val="700"/>
              </a:spcAft>
            </a:pPr>
            <a:r>
              <a:rPr sz="1800" b="0">
                <a:solidFill>
                  <a:srgbClr val="173B36"/>
                </a:solidFill>
                <a:latin typeface="Calibri"/>
              </a:rPr>
              <a:t>Selesaikan blocker dan checklist.</a:t>
            </a:r>
          </a:p>
          <a:p>
            <a:pPr algn="l">
              <a:lnSpc>
                <a:spcPct val="108000"/>
              </a:lnSpc>
              <a:spcAft>
                <a:spcPts val="700"/>
              </a:spcAft>
            </a:pPr>
            <a:r>
              <a:rPr sz="1800" b="0">
                <a:solidFill>
                  <a:srgbClr val="173B36"/>
                </a:solidFill>
                <a:latin typeface="Calibri"/>
              </a:rPr>
              <a:t>Ajukan review pada revisi yang sama.</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Reviewer memberi keputusan</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Periksa grain, DQ dan sensitivitas.</a:t>
            </a:r>
          </a:p>
          <a:p>
            <a:pPr algn="l">
              <a:lnSpc>
                <a:spcPct val="108000"/>
              </a:lnSpc>
              <a:spcAft>
                <a:spcPts val="700"/>
              </a:spcAft>
            </a:pPr>
            <a:r>
              <a:rPr sz="1800" b="0">
                <a:solidFill>
                  <a:srgbClr val="173B36"/>
                </a:solidFill>
                <a:latin typeface="Calibri"/>
              </a:rPr>
              <a:t>Periksa akses / policy sumber.</a:t>
            </a:r>
          </a:p>
          <a:p>
            <a:pPr algn="l">
              <a:lnSpc>
                <a:spcPct val="108000"/>
              </a:lnSpc>
              <a:spcAft>
                <a:spcPts val="700"/>
              </a:spcAft>
            </a:pPr>
            <a:r>
              <a:rPr sz="1800" b="0">
                <a:solidFill>
                  <a:srgbClr val="173B36"/>
                </a:solidFill>
                <a:latin typeface="Calibri"/>
              </a:rPr>
              <a:t>Approve atau reject dengan alasan.</a:t>
            </a:r>
          </a:p>
          <a:p>
            <a:pPr algn="l">
              <a:lnSpc>
                <a:spcPct val="108000"/>
              </a:lnSpc>
              <a:spcAft>
                <a:spcPts val="700"/>
              </a:spcAft>
            </a:pPr>
            <a:r>
              <a:rPr sz="1800" b="0">
                <a:solidFill>
                  <a:srgbClr val="173B36"/>
                </a:solidFill>
                <a:latin typeface="Calibri"/>
              </a:rPr>
              <a:t>Lengkapi gate IT / unit jika wajib.</a:t>
            </a:r>
          </a:p>
          <a:p>
            <a:pPr algn="l">
              <a:lnSpc>
                <a:spcPct val="108000"/>
              </a:lnSpc>
              <a:spcAft>
                <a:spcPts val="700"/>
              </a:spcAft>
            </a:pPr>
            <a:r>
              <a:rPr sz="1800" b="0">
                <a:solidFill>
                  <a:srgbClr val="173B36"/>
                </a:solidFill>
                <a:latin typeface="Calibri"/>
              </a:rPr>
              <a:t>Sumber berubah → review ulang.</a:t>
            </a:r>
          </a:p>
        </p:txBody>
      </p:sp>
      <p:sp>
        <p:nvSpPr>
          <p:cNvPr id="17" name="Rounded Rectangle 16"/>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Worker memigrasikan perubahan schema yang didukung saat Deploy; blocker harus diselesaikan dahulu.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6 — Deploy, lalu muat data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Konfigurasi ACTIVE belum membuktikan data sudah masuk ke tabel.</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22</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DEPLOY</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Jalankan Deploy konfigurasi.</a:t>
            </a:r>
          </a:p>
          <a:p>
            <a:pPr algn="l">
              <a:lnSpc>
                <a:spcPct val="108000"/>
              </a:lnSpc>
              <a:spcAft>
                <a:spcPts val="700"/>
              </a:spcAft>
            </a:pPr>
            <a:r>
              <a:rPr sz="1800" b="0">
                <a:solidFill>
                  <a:srgbClr val="173B36"/>
                </a:solidFill>
                <a:latin typeface="Calibri"/>
              </a:rPr>
              <a:t>Pantau job sampai SUCCEEDED.</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Hasil: konfigurasi ACTIVE</a:t>
            </a:r>
          </a:p>
          <a:p>
            <a:pPr algn="l">
              <a:lnSpc>
                <a:spcPct val="108000"/>
              </a:lnSpc>
              <a:spcAft>
                <a:spcPts val="700"/>
              </a:spcAft>
            </a:pPr>
            <a:r>
              <a:rPr sz="1800" b="0">
                <a:solidFill>
                  <a:srgbClr val="173B36"/>
                </a:solidFill>
                <a:latin typeface="Calibri"/>
              </a:rPr>
              <a:t>dan struktur / produk siap.</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SYNC / PEMUATAN</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Klik Sync manual per sumber.</a:t>
            </a:r>
          </a:p>
          <a:p>
            <a:pPr algn="l">
              <a:lnSpc>
                <a:spcPct val="108000"/>
              </a:lnSpc>
              <a:spcAft>
                <a:spcPts val="700"/>
              </a:spcAft>
            </a:pPr>
            <a:r>
              <a:rPr sz="1800" b="0">
                <a:solidFill>
                  <a:srgbClr val="173B36"/>
                </a:solidFill>
                <a:latin typeface="Calibri"/>
              </a:rPr>
              <a:t>Periksa hasil setiap tab.</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Hasil: baris dimuat, waktu pemuatan</a:t>
            </a:r>
          </a:p>
          <a:p>
            <a:pPr algn="l">
              <a:lnSpc>
                <a:spcPct val="108000"/>
              </a:lnSpc>
              <a:spcAft>
                <a:spcPts val="700"/>
              </a:spcAft>
            </a:pPr>
            <a:r>
              <a:rPr sz="1800" b="0">
                <a:solidFill>
                  <a:srgbClr val="173B36"/>
                </a:solidFill>
                <a:latin typeface="Calibri"/>
              </a:rPr>
              <a:t>dan batch per tab SUCCEEDED.</a:t>
            </a:r>
          </a:p>
        </p:txBody>
      </p:sp>
      <p:sp>
        <p:nvSpPr>
          <p:cNvPr id="17" name="Rounded Rectangle 16"/>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Master / FULL_REFRESH / batch biasa tetap membutuhkan preview, approval dan Apply.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Jika proses berhenti, lihat alasan per tab</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Gunakan monitor job dan Lihat detail; perbaiki penyebab sebelum mencoba ulang.</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ERROR_RESPONSES.md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23</a:t>
            </a:r>
          </a:p>
        </p:txBody>
      </p:sp>
      <p:graphicFrame>
        <p:nvGraphicFramePr>
          <p:cNvPr id="9" name="Table 8"/>
          <p:cNvGraphicFramePr>
            <a:graphicFrameLocks noGrp="1"/>
          </p:cNvGraphicFramePr>
          <p:nvPr/>
        </p:nvGraphicFramePr>
        <p:xfrm>
          <a:off x="594360" y="2121408"/>
          <a:ext cx="10972799" cy="3319272"/>
        </p:xfrm>
        <a:graphic>
          <a:graphicData uri="http://schemas.openxmlformats.org/drawingml/2006/table">
            <a:tbl>
              <a:tblPr firstRow="1" bandRow="1">
                <a:tableStyleId>{5C22544A-7EE6-4342-B048-85BDC9FD1C3A}</a:tableStyleId>
              </a:tblPr>
              <a:tblGrid>
                <a:gridCol w="2834640"/>
                <a:gridCol w="3749039"/>
                <a:gridCol w="4389120"/>
              </a:tblGrid>
              <a:tr h="474181">
                <a:tc>
                  <a:txBody>
                    <a:bodyPr/>
                    <a:lstStyle/>
                    <a:p>
                      <a:pPr>
                        <a:lnSpc>
                          <a:spcPct val="105000"/>
                        </a:lnSpc>
                        <a:spcAft>
                          <a:spcPts val="0"/>
                        </a:spcAft>
                      </a:pPr>
                      <a:r>
                        <a:rPr sz="1500" b="1">
                          <a:solidFill>
                            <a:srgbClr val="FFFFFF"/>
                          </a:solidFill>
                          <a:latin typeface="Calibri"/>
                        </a:rPr>
                        <a:t>Pesan / status</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Arti praktis</a:t>
                      </a:r>
                    </a:p>
                  </a:txBody>
                  <a:tcPr marL="128016" marR="128016" marT="91440" marB="91440" anchor="ctr">
                    <a:solidFill>
                      <a:srgbClr val="075E4B"/>
                    </a:solidFill>
                  </a:tcPr>
                </a:tc>
                <a:tc>
                  <a:txBody>
                    <a:bodyPr/>
                    <a:lstStyle/>
                    <a:p>
                      <a:pPr>
                        <a:lnSpc>
                          <a:spcPct val="105000"/>
                        </a:lnSpc>
                        <a:spcAft>
                          <a:spcPts val="0"/>
                        </a:spcAft>
                      </a:pPr>
                      <a:r>
                        <a:rPr sz="1500" b="1">
                          <a:solidFill>
                            <a:srgbClr val="FFFFFF"/>
                          </a:solidFill>
                          <a:latin typeface="Calibri"/>
                        </a:rPr>
                        <a:t>Tindakan</a:t>
                      </a:r>
                    </a:p>
                  </a:txBody>
                  <a:tcPr marL="128016" marR="128016" marT="91440" marB="91440" anchor="ctr">
                    <a:solidFill>
                      <a:srgbClr val="075E4B"/>
                    </a:solidFill>
                  </a:tcPr>
                </a:tc>
              </a:tr>
              <a:tr h="474181">
                <a:tc>
                  <a:txBody>
                    <a:bodyPr/>
                    <a:lstStyle/>
                    <a:p>
                      <a:pPr>
                        <a:lnSpc>
                          <a:spcPct val="105000"/>
                        </a:lnSpc>
                        <a:spcAft>
                          <a:spcPts val="0"/>
                        </a:spcAft>
                      </a:pPr>
                      <a:r>
                        <a:rPr sz="1500" b="0">
                          <a:solidFill>
                            <a:srgbClr val="173B36"/>
                          </a:solidFill>
                          <a:latin typeface="Calibri"/>
                        </a:rPr>
                        <a:t>SOURCE_ACCESS_DENIED</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Backend tidak boleh membaca Sheet</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Cek akses Viewer service account</a:t>
                      </a:r>
                    </a:p>
                  </a:txBody>
                  <a:tcPr marL="128016" marR="128016" marT="91440" marB="91440" anchor="ctr">
                    <a:solidFill>
                      <a:srgbClr val="FFFFFF"/>
                    </a:solidFill>
                  </a:tcPr>
                </a:tc>
              </a:tr>
              <a:tr h="474181">
                <a:tc>
                  <a:txBody>
                    <a:bodyPr/>
                    <a:lstStyle/>
                    <a:p>
                      <a:pPr>
                        <a:lnSpc>
                          <a:spcPct val="105000"/>
                        </a:lnSpc>
                        <a:spcAft>
                          <a:spcPts val="0"/>
                        </a:spcAft>
                      </a:pPr>
                      <a:r>
                        <a:rPr sz="1500" b="0">
                          <a:solidFill>
                            <a:srgbClr val="173B36"/>
                          </a:solidFill>
                          <a:latin typeface="Calibri"/>
                        </a:rPr>
                        <a:t>SOURCE_READ_FAILED</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Google menolak tab / range / permintaan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Cek sumber; Temukan tab dan profil ulang</a:t>
                      </a:r>
                    </a:p>
                  </a:txBody>
                  <a:tcPr marL="128016" marR="128016" marT="91440" marB="91440" anchor="ctr">
                    <a:solidFill>
                      <a:srgbClr val="E7F2ED"/>
                    </a:solidFill>
                  </a:tcPr>
                </a:tc>
              </a:tr>
              <a:tr h="474181">
                <a:tc>
                  <a:txBody>
                    <a:bodyPr/>
                    <a:lstStyle/>
                    <a:p>
                      <a:pPr>
                        <a:lnSpc>
                          <a:spcPct val="105000"/>
                        </a:lnSpc>
                        <a:spcAft>
                          <a:spcPts val="0"/>
                        </a:spcAft>
                      </a:pPr>
                      <a:r>
                        <a:rPr sz="1500" b="0">
                          <a:solidFill>
                            <a:srgbClr val="173B36"/>
                          </a:solidFill>
                          <a:latin typeface="Calibri"/>
                        </a:rPr>
                        <a:t>REVIEW_STALE</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Data sumber berubah sejak review</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Profiling dan review draft baru</a:t>
                      </a:r>
                    </a:p>
                  </a:txBody>
                  <a:tcPr marL="128016" marR="128016" marT="91440" marB="91440" anchor="ctr">
                    <a:solidFill>
                      <a:srgbClr val="FFFFFF"/>
                    </a:solidFill>
                  </a:tcPr>
                </a:tc>
              </a:tr>
              <a:tr h="474181">
                <a:tc>
                  <a:txBody>
                    <a:bodyPr/>
                    <a:lstStyle/>
                    <a:p>
                      <a:pPr>
                        <a:lnSpc>
                          <a:spcPct val="105000"/>
                        </a:lnSpc>
                        <a:spcAft>
                          <a:spcPts val="0"/>
                        </a:spcAft>
                      </a:pPr>
                      <a:r>
                        <a:rPr sz="1500" b="0">
                          <a:solidFill>
                            <a:srgbClr val="173B36"/>
                          </a:solidFill>
                          <a:latin typeface="Calibri"/>
                        </a:rPr>
                        <a:t>TYPE_OR_NULL_ERROR</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Tipe salah atau kolom wajib kosong</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Perbaiki nilai / parsing; dry-run ulang</a:t>
                      </a:r>
                    </a:p>
                  </a:txBody>
                  <a:tcPr marL="128016" marR="128016" marT="91440" marB="91440" anchor="ctr">
                    <a:solidFill>
                      <a:srgbClr val="E7F2ED"/>
                    </a:solidFill>
                  </a:tcPr>
                </a:tc>
              </a:tr>
              <a:tr h="474181">
                <a:tc>
                  <a:txBody>
                    <a:bodyPr/>
                    <a:lstStyle/>
                    <a:p>
                      <a:pPr>
                        <a:lnSpc>
                          <a:spcPct val="105000"/>
                        </a:lnSpc>
                        <a:spcAft>
                          <a:spcPts val="0"/>
                        </a:spcAft>
                      </a:pPr>
                      <a:r>
                        <a:rPr sz="1500" b="0">
                          <a:solidFill>
                            <a:srgbClr val="173B36"/>
                          </a:solidFill>
                          <a:latin typeface="Calibri"/>
                        </a:rPr>
                        <a:t>NEEDS_INPUT</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Batch menunggu verifikasi atau keputusan</a:t>
                      </a:r>
                    </a:p>
                  </a:txBody>
                  <a:tcPr marL="128016" marR="128016" marT="91440" marB="91440" anchor="ctr">
                    <a:solidFill>
                      <a:srgbClr val="FFFFFF"/>
                    </a:solidFill>
                  </a:tcPr>
                </a:tc>
                <a:tc>
                  <a:txBody>
                    <a:bodyPr/>
                    <a:lstStyle/>
                    <a:p>
                      <a:pPr>
                        <a:lnSpc>
                          <a:spcPct val="105000"/>
                        </a:lnSpc>
                        <a:spcAft>
                          <a:spcPts val="0"/>
                        </a:spcAft>
                      </a:pPr>
                      <a:r>
                        <a:rPr sz="1500" b="0">
                          <a:solidFill>
                            <a:srgbClr val="173B36"/>
                          </a:solidFill>
                          <a:latin typeface="Calibri"/>
                        </a:rPr>
                        <a:t>Buka Lihat detail; selesaikan temuan</a:t>
                      </a:r>
                    </a:p>
                  </a:txBody>
                  <a:tcPr marL="128016" marR="128016" marT="91440" marB="91440" anchor="ctr">
                    <a:solidFill>
                      <a:srgbClr val="FFFFFF"/>
                    </a:solidFill>
                  </a:tcPr>
                </a:tc>
              </a:tr>
              <a:tr h="474186">
                <a:tc>
                  <a:txBody>
                    <a:bodyPr/>
                    <a:lstStyle/>
                    <a:p>
                      <a:pPr>
                        <a:lnSpc>
                          <a:spcPct val="105000"/>
                        </a:lnSpc>
                        <a:spcAft>
                          <a:spcPts val="0"/>
                        </a:spcAft>
                      </a:pPr>
                      <a:r>
                        <a:rPr sz="1500" b="0">
                          <a:solidFill>
                            <a:srgbClr val="173B36"/>
                          </a:solidFill>
                          <a:latin typeface="Calibri"/>
                        </a:rPr>
                        <a:t>Belum muncul di katalog</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Periksa policy, role dan hasil pemuatan</a:t>
                      </a:r>
                    </a:p>
                  </a:txBody>
                  <a:tcPr marL="128016" marR="128016" marT="91440" marB="91440" anchor="ctr">
                    <a:solidFill>
                      <a:srgbClr val="E7F2ED"/>
                    </a:solidFill>
                  </a:tcPr>
                </a:tc>
                <a:tc>
                  <a:txBody>
                    <a:bodyPr/>
                    <a:lstStyle/>
                    <a:p>
                      <a:pPr>
                        <a:lnSpc>
                          <a:spcPct val="105000"/>
                        </a:lnSpc>
                        <a:spcAft>
                          <a:spcPts val="0"/>
                        </a:spcAft>
                      </a:pPr>
                      <a:r>
                        <a:rPr sz="1500" b="0">
                          <a:solidFill>
                            <a:srgbClr val="173B36"/>
                          </a:solidFill>
                          <a:latin typeface="Calibri"/>
                        </a:rPr>
                        <a:t>Uji akun pembaca; cek baris per tab</a:t>
                      </a:r>
                    </a:p>
                  </a:txBody>
                  <a:tcPr marL="128016" marR="128016" marT="91440" marB="91440" anchor="ctr">
                    <a:solidFill>
                      <a:srgbClr val="E7F2ED"/>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7 — Pastikan produk dapat dibaca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Uji memakai akun pembaca sebenarnya; peran approver bukan akses otomatis ke semua data.</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24</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4480560"/>
                <a:gridCol w="6492240"/>
              </a:tblGrid>
              <a:tr h="553212">
                <a:tc>
                  <a:txBody>
                    <a:bodyPr/>
                    <a:lstStyle/>
                    <a:p>
                      <a:pPr>
                        <a:lnSpc>
                          <a:spcPct val="105000"/>
                        </a:lnSpc>
                        <a:spcAft>
                          <a:spcPts val="0"/>
                        </a:spcAft>
                      </a:pPr>
                      <a:r>
                        <a:rPr sz="1900" b="1">
                          <a:solidFill>
                            <a:srgbClr val="FFFFFF"/>
                          </a:solidFill>
                          <a:latin typeface="Calibri"/>
                        </a:rPr>
                        <a:t>Checklist</a:t>
                      </a:r>
                    </a:p>
                  </a:txBody>
                  <a:tcPr marL="128016" marR="128016" marT="91440" marB="91440" anchor="ctr">
                    <a:solidFill>
                      <a:srgbClr val="075E4B"/>
                    </a:solidFill>
                  </a:tcPr>
                </a:tc>
                <a:tc>
                  <a:txBody>
                    <a:bodyPr/>
                    <a:lstStyle/>
                    <a:p>
                      <a:pPr>
                        <a:lnSpc>
                          <a:spcPct val="105000"/>
                        </a:lnSpc>
                        <a:spcAft>
                          <a:spcPts val="0"/>
                        </a:spcAft>
                      </a:pPr>
                      <a:r>
                        <a:rPr sz="1900" b="1">
                          <a:solidFill>
                            <a:srgbClr val="FFFFFF"/>
                          </a:solidFill>
                          <a:latin typeface="Calibri"/>
                        </a:rPr>
                        <a:t>Bukti yang dilihat</a:t>
                      </a:r>
                    </a:p>
                  </a:txBody>
                  <a:tcPr marL="128016" marR="128016" marT="91440" marB="91440" anchor="ctr">
                    <a:solidFill>
                      <a:srgbClr val="075E4B"/>
                    </a:solidFill>
                  </a:tcPr>
                </a:tc>
              </a:tr>
              <a:tr h="553212">
                <a:tc>
                  <a:txBody>
                    <a:bodyPr/>
                    <a:lstStyle/>
                    <a:p>
                      <a:pPr>
                        <a:lnSpc>
                          <a:spcPct val="105000"/>
                        </a:lnSpc>
                        <a:spcAft>
                          <a:spcPts val="0"/>
                        </a:spcAft>
                      </a:pPr>
                      <a:r>
                        <a:rPr sz="1900" b="0">
                          <a:solidFill>
                            <a:srgbClr val="173B36"/>
                          </a:solidFill>
                          <a:latin typeface="Calibri"/>
                        </a:rPr>
                        <a:t>Konfigurasi sudah ACTIVE</a:t>
                      </a:r>
                    </a:p>
                  </a:txBody>
                  <a:tcPr marL="128016" marR="128016" marT="91440" marB="91440" anchor="ctr">
                    <a:solidFill>
                      <a:srgbClr val="FFFFFF"/>
                    </a:solidFill>
                  </a:tcPr>
                </a:tc>
                <a:tc>
                  <a:txBody>
                    <a:bodyPr/>
                    <a:lstStyle/>
                    <a:p>
                      <a:pPr>
                        <a:lnSpc>
                          <a:spcPct val="105000"/>
                        </a:lnSpc>
                        <a:spcAft>
                          <a:spcPts val="0"/>
                        </a:spcAft>
                      </a:pPr>
                      <a:r>
                        <a:rPr sz="1900" b="0">
                          <a:solidFill>
                            <a:srgbClr val="173B36"/>
                          </a:solidFill>
                          <a:latin typeface="Calibri"/>
                        </a:rPr>
                        <a:t>Versi aktif pada produk / sumber</a:t>
                      </a:r>
                    </a:p>
                  </a:txBody>
                  <a:tcPr marL="128016" marR="128016" marT="91440" marB="91440" anchor="ctr">
                    <a:solidFill>
                      <a:srgbClr val="FFFFFF"/>
                    </a:solidFill>
                  </a:tcPr>
                </a:tc>
              </a:tr>
              <a:tr h="553212">
                <a:tc>
                  <a:txBody>
                    <a:bodyPr/>
                    <a:lstStyle/>
                    <a:p>
                      <a:pPr>
                        <a:lnSpc>
                          <a:spcPct val="105000"/>
                        </a:lnSpc>
                        <a:spcAft>
                          <a:spcPts val="0"/>
                        </a:spcAft>
                      </a:pPr>
                      <a:r>
                        <a:rPr sz="1900" b="0">
                          <a:solidFill>
                            <a:srgbClr val="173B36"/>
                          </a:solidFill>
                          <a:latin typeface="Calibri"/>
                        </a:rPr>
                        <a:t>Data sudah dimuat</a:t>
                      </a:r>
                    </a:p>
                  </a:txBody>
                  <a:tcPr marL="128016" marR="128016" marT="91440" marB="91440" anchor="ctr">
                    <a:solidFill>
                      <a:srgbClr val="E7F2ED"/>
                    </a:solidFill>
                  </a:tcPr>
                </a:tc>
                <a:tc>
                  <a:txBody>
                    <a:bodyPr/>
                    <a:lstStyle/>
                    <a:p>
                      <a:pPr>
                        <a:lnSpc>
                          <a:spcPct val="105000"/>
                        </a:lnSpc>
                        <a:spcAft>
                          <a:spcPts val="0"/>
                        </a:spcAft>
                      </a:pPr>
                      <a:r>
                        <a:rPr sz="1900" b="0">
                          <a:solidFill>
                            <a:srgbClr val="173B36"/>
                          </a:solidFill>
                          <a:latin typeface="Calibri"/>
                        </a:rPr>
                        <a:t>Baris dimuat dan waktu pemuatan per tab</a:t>
                      </a:r>
                    </a:p>
                  </a:txBody>
                  <a:tcPr marL="128016" marR="128016" marT="91440" marB="91440" anchor="ctr">
                    <a:solidFill>
                      <a:srgbClr val="E7F2ED"/>
                    </a:solidFill>
                  </a:tcPr>
                </a:tc>
              </a:tr>
              <a:tr h="553212">
                <a:tc>
                  <a:txBody>
                    <a:bodyPr/>
                    <a:lstStyle/>
                    <a:p>
                      <a:pPr>
                        <a:lnSpc>
                          <a:spcPct val="105000"/>
                        </a:lnSpc>
                        <a:spcAft>
                          <a:spcPts val="0"/>
                        </a:spcAft>
                      </a:pPr>
                      <a:r>
                        <a:rPr sz="1900" b="0">
                          <a:solidFill>
                            <a:srgbClr val="173B36"/>
                          </a:solidFill>
                          <a:latin typeface="Calibri"/>
                        </a:rPr>
                        <a:t>Akses sumber disetujui</a:t>
                      </a:r>
                    </a:p>
                  </a:txBody>
                  <a:tcPr marL="128016" marR="128016" marT="91440" marB="91440" anchor="ctr">
                    <a:solidFill>
                      <a:srgbClr val="FFFFFF"/>
                    </a:solidFill>
                  </a:tcPr>
                </a:tc>
                <a:tc>
                  <a:txBody>
                    <a:bodyPr/>
                    <a:lstStyle/>
                    <a:p>
                      <a:pPr>
                        <a:lnSpc>
                          <a:spcPct val="105000"/>
                        </a:lnSpc>
                        <a:spcAft>
                          <a:spcPts val="0"/>
                        </a:spcAft>
                      </a:pPr>
                      <a:r>
                        <a:rPr sz="1900" b="0">
                          <a:solidFill>
                            <a:srgbClr val="173B36"/>
                          </a:solidFill>
                          <a:latin typeface="Calibri"/>
                        </a:rPr>
                        <a:t>Metadata / policy dan scope organisasi sesuai</a:t>
                      </a:r>
                    </a:p>
                  </a:txBody>
                  <a:tcPr marL="128016" marR="128016" marT="91440" marB="91440" anchor="ctr">
                    <a:solidFill>
                      <a:srgbClr val="FFFFFF"/>
                    </a:solidFill>
                  </a:tcPr>
                </a:tc>
              </a:tr>
              <a:tr h="553212">
                <a:tc>
                  <a:txBody>
                    <a:bodyPr/>
                    <a:lstStyle/>
                    <a:p>
                      <a:pPr>
                        <a:lnSpc>
                          <a:spcPct val="105000"/>
                        </a:lnSpc>
                        <a:spcAft>
                          <a:spcPts val="0"/>
                        </a:spcAft>
                      </a:pPr>
                      <a:r>
                        <a:rPr sz="1900" b="0">
                          <a:solidFill>
                            <a:srgbClr val="173B36"/>
                          </a:solidFill>
                          <a:latin typeface="Calibri"/>
                        </a:rPr>
                        <a:t>Pembaca memiliki izin</a:t>
                      </a:r>
                    </a:p>
                  </a:txBody>
                  <a:tcPr marL="128016" marR="128016" marT="91440" marB="91440" anchor="ctr">
                    <a:solidFill>
                      <a:srgbClr val="E7F2ED"/>
                    </a:solidFill>
                  </a:tcPr>
                </a:tc>
                <a:tc>
                  <a:txBody>
                    <a:bodyPr/>
                    <a:lstStyle/>
                    <a:p>
                      <a:pPr>
                        <a:lnSpc>
                          <a:spcPct val="105000"/>
                        </a:lnSpc>
                        <a:spcAft>
                          <a:spcPts val="0"/>
                        </a:spcAft>
                      </a:pPr>
                      <a:r>
                        <a:rPr sz="1900" b="0">
                          <a:solidFill>
                            <a:srgbClr val="173B36"/>
                          </a:solidFill>
                          <a:latin typeface="Calibri"/>
                        </a:rPr>
                        <a:t>Role, assignment, policy produk, kolom dan baris</a:t>
                      </a:r>
                    </a:p>
                  </a:txBody>
                  <a:tcPr marL="128016" marR="128016" marT="91440" marB="91440" anchor="ctr">
                    <a:solidFill>
                      <a:srgbClr val="E7F2ED"/>
                    </a:solidFill>
                  </a:tcPr>
                </a:tc>
              </a:tr>
              <a:tr h="553212">
                <a:tc>
                  <a:txBody>
                    <a:bodyPr/>
                    <a:lstStyle/>
                    <a:p>
                      <a:pPr>
                        <a:lnSpc>
                          <a:spcPct val="105000"/>
                        </a:lnSpc>
                        <a:spcAft>
                          <a:spcPts val="0"/>
                        </a:spcAft>
                      </a:pPr>
                      <a:r>
                        <a:rPr sz="1900" b="0">
                          <a:solidFill>
                            <a:srgbClr val="173B36"/>
                          </a:solidFill>
                          <a:latin typeface="Calibri"/>
                        </a:rPr>
                        <a:t>Angka dapat ditelusuri</a:t>
                      </a:r>
                    </a:p>
                  </a:txBody>
                  <a:tcPr marL="128016" marR="128016" marT="91440" marB="91440" anchor="ctr">
                    <a:solidFill>
                      <a:srgbClr val="FFFFFF"/>
                    </a:solidFill>
                  </a:tcPr>
                </a:tc>
                <a:tc>
                  <a:txBody>
                    <a:bodyPr/>
                    <a:lstStyle/>
                    <a:p>
                      <a:pPr>
                        <a:lnSpc>
                          <a:spcPct val="105000"/>
                        </a:lnSpc>
                        <a:spcAft>
                          <a:spcPts val="0"/>
                        </a:spcAft>
                      </a:pPr>
                      <a:r>
                        <a:rPr sz="1900" b="0">
                          <a:solidFill>
                            <a:srgbClr val="173B36"/>
                          </a:solidFill>
                          <a:latin typeface="Calibri"/>
                        </a:rPr>
                        <a:t>Sumber / tab, versi, periode dan freshness</a:t>
                      </a:r>
                    </a:p>
                  </a:txBody>
                  <a:tcPr marL="128016" marR="128016" marT="91440" marB="91440" anchor="ctr">
                    <a:solidFill>
                      <a:srgbClr val="FFFFFF"/>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Muat ulang katalog menampilkan status terbaru; tidak menjalankan sync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BAGIAN 3 • ANALITIK, CHART DAN ACTION PLAN</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8 — Ajukan pertanyaan yang lengkap</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Sebut ukuran, kelompok, periode dan batas cakupan yang ingin dibandingkan.</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25</a:t>
            </a:r>
          </a:p>
        </p:txBody>
      </p:sp>
      <p:sp>
        <p:nvSpPr>
          <p:cNvPr id="9" name="Rounded Rectangle 8"/>
          <p:cNvSpPr/>
          <p:nvPr/>
        </p:nvSpPr>
        <p:spPr>
          <a:xfrm>
            <a:off x="594360" y="2130552"/>
            <a:ext cx="10972800" cy="115214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368296"/>
            <a:ext cx="10332720" cy="804672"/>
          </a:xfrm>
          <a:prstGeom prst="rect">
            <a:avLst/>
          </a:prstGeom>
          <a:noFill/>
        </p:spPr>
        <p:txBody>
          <a:bodyPr wrap="square" lIns="0" rIns="0" tIns="0" bIns="0" anchor="t">
            <a:spAutoFit/>
          </a:bodyPr>
          <a:lstStyle/>
          <a:p>
            <a:pPr algn="l">
              <a:lnSpc>
                <a:spcPct val="108000"/>
              </a:lnSpc>
              <a:spcAft>
                <a:spcPts val="700"/>
              </a:spcAft>
            </a:pPr>
            <a:r>
              <a:rPr sz="2300" b="1">
                <a:solidFill>
                  <a:srgbClr val="075E4B"/>
                </a:solidFill>
                <a:latin typeface="Calibri"/>
              </a:rPr>
              <a:t>“Berapa jumlah keluhan per produk pada Januari 2026,</a:t>
            </a:r>
          </a:p>
          <a:p>
            <a:pPr algn="l">
              <a:lnSpc>
                <a:spcPct val="108000"/>
              </a:lnSpc>
              <a:spcAft>
                <a:spcPts val="700"/>
              </a:spcAft>
            </a:pPr>
            <a:r>
              <a:rPr sz="2300" b="1">
                <a:solidFill>
                  <a:srgbClr val="075E4B"/>
                </a:solidFill>
                <a:latin typeface="Calibri"/>
              </a:rPr>
              <a:t>dan berapa yang melewati SLA respons?”</a:t>
            </a:r>
          </a:p>
        </p:txBody>
      </p:sp>
      <p:sp>
        <p:nvSpPr>
          <p:cNvPr id="11" name="Rounded Rectangle 10"/>
          <p:cNvSpPr/>
          <p:nvPr/>
        </p:nvSpPr>
        <p:spPr>
          <a:xfrm>
            <a:off x="594360" y="3611880"/>
            <a:ext cx="5349240"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3611880"/>
            <a:ext cx="45720" cy="201168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79476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Pertanyaan AI</a:t>
            </a:r>
          </a:p>
        </p:txBody>
      </p:sp>
      <p:sp>
        <p:nvSpPr>
          <p:cNvPr id="14" name="TextBox 13"/>
          <p:cNvSpPr txBox="1"/>
          <p:nvPr/>
        </p:nvSpPr>
        <p:spPr>
          <a:xfrm>
            <a:off x="804672" y="4425696"/>
            <a:ext cx="4928616" cy="107899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Tulis pertanyaan di Dashboard.</a:t>
            </a:r>
          </a:p>
          <a:p>
            <a:pPr algn="l">
              <a:lnSpc>
                <a:spcPct val="108000"/>
              </a:lnSpc>
              <a:spcAft>
                <a:spcPts val="700"/>
              </a:spcAft>
            </a:pPr>
            <a:r>
              <a:rPr sz="1800" b="0">
                <a:solidFill>
                  <a:srgbClr val="173B36"/>
                </a:solidFill>
                <a:latin typeface="Calibri"/>
              </a:rPr>
              <a:t>Pilih ruang data bila diperlukan.</a:t>
            </a:r>
          </a:p>
          <a:p>
            <a:pPr algn="l">
              <a:lnSpc>
                <a:spcPct val="108000"/>
              </a:lnSpc>
              <a:spcAft>
                <a:spcPts val="700"/>
              </a:spcAft>
            </a:pPr>
            <a:r>
              <a:rPr sz="1800" b="0">
                <a:solidFill>
                  <a:srgbClr val="173B36"/>
                </a:solidFill>
                <a:latin typeface="Calibri"/>
              </a:rPr>
              <a:t>Jawab klarifikasi yang muncul.</a:t>
            </a:r>
          </a:p>
        </p:txBody>
      </p:sp>
      <p:sp>
        <p:nvSpPr>
          <p:cNvPr id="15" name="Rounded Rectangle 14"/>
          <p:cNvSpPr/>
          <p:nvPr/>
        </p:nvSpPr>
        <p:spPr>
          <a:xfrm>
            <a:off x="6172200" y="3611880"/>
            <a:ext cx="5349240"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611880"/>
            <a:ext cx="45720" cy="201168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79476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Query builder</a:t>
            </a:r>
          </a:p>
        </p:txBody>
      </p:sp>
      <p:sp>
        <p:nvSpPr>
          <p:cNvPr id="18" name="TextBox 17"/>
          <p:cNvSpPr txBox="1"/>
          <p:nvPr/>
        </p:nvSpPr>
        <p:spPr>
          <a:xfrm>
            <a:off x="6382512" y="4425696"/>
            <a:ext cx="4928616" cy="107899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Pilih metrik + dimensi.</a:t>
            </a:r>
          </a:p>
          <a:p>
            <a:pPr algn="l">
              <a:lnSpc>
                <a:spcPct val="108000"/>
              </a:lnSpc>
              <a:spcAft>
                <a:spcPts val="700"/>
              </a:spcAft>
            </a:pPr>
            <a:r>
              <a:rPr sz="1800" b="0">
                <a:solidFill>
                  <a:srgbClr val="173B36"/>
                </a:solidFill>
                <a:latin typeface="Calibri"/>
              </a:rPr>
              <a:t>Tetapkan filter periode / cakupan.</a:t>
            </a:r>
          </a:p>
          <a:p>
            <a:pPr algn="l">
              <a:lnSpc>
                <a:spcPct val="108000"/>
              </a:lnSpc>
              <a:spcAft>
                <a:spcPts val="700"/>
              </a:spcAft>
            </a:pPr>
            <a:r>
              <a:rPr sz="1800" b="0">
                <a:solidFill>
                  <a:srgbClr val="173B36"/>
                </a:solidFill>
                <a:latin typeface="Calibri"/>
              </a:rPr>
              <a:t>Periksa tabel hasil sebelum chart.</a:t>
            </a:r>
          </a:p>
        </p:txBody>
      </p:sp>
      <p:sp>
        <p:nvSpPr>
          <p:cNvPr id="19" name="Rounded Rectangle 18"/>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Periksa definisi metrik, periode, jumlah record dan akses sebelum menyimpulkan hasil.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Chart membuat pola lebih mudah dibaca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Pilih bar untuk perbandingan dan line untuk tren pada periode yang sebanding.</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USER_GUIDE_END_TO_END.md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26</a:t>
            </a:r>
          </a:p>
        </p:txBody>
      </p:sp>
      <p:sp>
        <p:nvSpPr>
          <p:cNvPr id="9" name="TextBox 8"/>
          <p:cNvSpPr txBox="1"/>
          <p:nvPr/>
        </p:nvSpPr>
        <p:spPr>
          <a:xfrm>
            <a:off x="713232" y="2011680"/>
            <a:ext cx="5120640" cy="457200"/>
          </a:xfrm>
          <a:prstGeom prst="rect">
            <a:avLst/>
          </a:prstGeom>
          <a:noFill/>
        </p:spPr>
        <p:txBody>
          <a:bodyPr wrap="square" lIns="0" rIns="0" tIns="0" bIns="0" anchor="t">
            <a:spAutoFit/>
          </a:bodyPr>
          <a:lstStyle/>
          <a:p>
            <a:pPr algn="l">
              <a:lnSpc>
                <a:spcPct val="108000"/>
              </a:lnSpc>
              <a:spcAft>
                <a:spcPts val="700"/>
              </a:spcAft>
            </a:pPr>
            <a:r>
              <a:rPr sz="2000" b="1">
                <a:solidFill>
                  <a:srgbClr val="075E4B"/>
                </a:solidFill>
                <a:latin typeface="Calibri"/>
              </a:rPr>
              <a:t>Jumlah keluhan dan pelanggaran</a:t>
            </a:r>
          </a:p>
        </p:txBody>
      </p:sp>
      <p:sp>
        <p:nvSpPr>
          <p:cNvPr id="10" name="TextBox 9"/>
          <p:cNvSpPr txBox="1"/>
          <p:nvPr/>
        </p:nvSpPr>
        <p:spPr>
          <a:xfrm>
            <a:off x="6291072" y="2011680"/>
            <a:ext cx="5029200" cy="457200"/>
          </a:xfrm>
          <a:prstGeom prst="rect">
            <a:avLst/>
          </a:prstGeom>
          <a:noFill/>
        </p:spPr>
        <p:txBody>
          <a:bodyPr wrap="square" lIns="0" rIns="0" tIns="0" bIns="0" anchor="t">
            <a:spAutoFit/>
          </a:bodyPr>
          <a:lstStyle/>
          <a:p>
            <a:pPr algn="l">
              <a:lnSpc>
                <a:spcPct val="108000"/>
              </a:lnSpc>
              <a:spcAft>
                <a:spcPts val="700"/>
              </a:spcAft>
            </a:pPr>
            <a:r>
              <a:rPr sz="2000" b="1">
                <a:solidFill>
                  <a:srgbClr val="075E4B"/>
                </a:solidFill>
                <a:latin typeface="Calibri"/>
              </a:rPr>
              <a:t>Rasio respons melewati SLA</a:t>
            </a:r>
          </a:p>
        </p:txBody>
      </p:sp>
      <p:graphicFrame>
        <p:nvGraphicFramePr>
          <p:cNvPr id="11" name="Chart 10"/>
          <p:cNvGraphicFramePr>
            <a:graphicFrameLocks noGrp="1"/>
          </p:cNvGraphicFramePr>
          <p:nvPr/>
        </p:nvGraphicFramePr>
        <p:xfrm>
          <a:off x="640080" y="2606040"/>
          <a:ext cx="5257800" cy="2743200"/>
        </p:xfrm>
        <a:graphic>
          <a:graphicData uri="http://schemas.openxmlformats.org/drawingml/2006/chart">
            <c:chart xmlns:c="http://schemas.openxmlformats.org/drawingml/2006/chart" r:id="rId3"/>
          </a:graphicData>
        </a:graphic>
      </p:graphicFrame>
      <p:graphicFrame>
        <p:nvGraphicFramePr>
          <p:cNvPr id="12" name="Chart 11"/>
          <p:cNvGraphicFramePr>
            <a:graphicFrameLocks noGrp="1"/>
          </p:cNvGraphicFramePr>
          <p:nvPr/>
        </p:nvGraphicFramePr>
        <p:xfrm>
          <a:off x="6236208" y="2606040"/>
          <a:ext cx="5257800" cy="2743200"/>
        </p:xfrm>
        <a:graphic>
          <a:graphicData uri="http://schemas.openxmlformats.org/drawingml/2006/chart">
            <c:chart xmlns:c="http://schemas.openxmlformats.org/drawingml/2006/chart" r:id="rId4"/>
          </a:graphicData>
        </a:graphic>
      </p:graphicFrame>
      <p:sp>
        <p:nvSpPr>
          <p:cNvPr id="13" name="Rounded Rectangle 12"/>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SIMULASI • Periode dan metode harus sebanding; pola chart tidak membuktikan sebab-akibat.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Lima template untuk kebutuhan bisnis</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Setiap file memuat petunjuk, data contoh, master, formula dan aturan action plan.</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CONTOH_DATA_ANALITIK.md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27</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2743200"/>
                <a:gridCol w="4434840"/>
                <a:gridCol w="3794760"/>
              </a:tblGrid>
              <a:tr h="553212">
                <a:tc>
                  <a:txBody>
                    <a:bodyPr/>
                    <a:lstStyle/>
                    <a:p>
                      <a:pPr>
                        <a:lnSpc>
                          <a:spcPct val="105000"/>
                        </a:lnSpc>
                        <a:spcAft>
                          <a:spcPts val="0"/>
                        </a:spcAft>
                      </a:pPr>
                      <a:r>
                        <a:rPr sz="1600" b="1">
                          <a:solidFill>
                            <a:srgbClr val="FFFFFF"/>
                          </a:solidFill>
                          <a:latin typeface="Calibri"/>
                        </a:rPr>
                        <a:t>Template</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Pertanyaan analitik</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Usulan tindak lanjut contoh</a:t>
                      </a:r>
                    </a:p>
                  </a:txBody>
                  <a:tcPr marL="128016" marR="128016" marT="91440" marB="91440" anchor="ctr">
                    <a:solidFill>
                      <a:srgbClr val="075E4B"/>
                    </a:solidFill>
                  </a:tcPr>
                </a:tc>
              </a:tr>
              <a:tr h="553212">
                <a:tc>
                  <a:txBody>
                    <a:bodyPr/>
                    <a:lstStyle/>
                    <a:p>
                      <a:pPr>
                        <a:lnSpc>
                          <a:spcPct val="105000"/>
                        </a:lnSpc>
                        <a:spcAft>
                          <a:spcPts val="0"/>
                        </a:spcAft>
                      </a:pPr>
                      <a:r>
                        <a:rPr sz="1600" b="0">
                          <a:solidFill>
                            <a:srgbClr val="173B36"/>
                          </a:solidFill>
                          <a:latin typeface="Calibri"/>
                        </a:rPr>
                        <a:t>Keluhan pelanggan</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Di mana keluhan dan pelanggaran SLA meningkat?</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Review antrean dan pembagian shift</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Marketing ATL / BTL</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Berapa biaya dan qualified leads teratribusi?</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Review campaign / biaya per lead</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Kepuasan per produk</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Berapa puas / respons valid pada metode setara?</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Verifikasi sampel dan masalah produk</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Competitiveness</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Bagaimana harga per unit dan skor layanan?</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Review layanan pada perbandingan setara</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Plan / goal / KPI</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Apa gap dan capaian menurut arah indikator?</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Review pipeline atau rencana pencapaian</a:t>
                      </a:r>
                    </a:p>
                  </a:txBody>
                  <a:tcPr marL="128016" marR="128016" marT="91440" marB="91440" anchor="ctr">
                    <a:solidFill>
                      <a:srgbClr val="FFFFFF"/>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SIMULASI • Target / bobot contoh harus disesuaikan dan disetujui pemilik bisnis.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9 — Aturan action plan dan formula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Alur ini sudah tersedia di backend API, terpisah dari wizard ETL dan chat AI.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PANDUAN_ATURAN_ANALITIK.md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28</a:t>
            </a:r>
          </a:p>
        </p:txBody>
      </p:sp>
      <p:sp>
        <p:nvSpPr>
          <p:cNvPr id="9" name="Rounded Rectangle 8"/>
          <p:cNvSpPr/>
          <p:nvPr/>
        </p:nvSpPr>
        <p:spPr>
          <a:xfrm>
            <a:off x="59436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Formula_Analitik</a:t>
            </a:r>
          </a:p>
        </p:txBody>
      </p:sp>
      <p:sp>
        <p:nvSpPr>
          <p:cNvPr id="12" name="TextBox 11"/>
          <p:cNvSpPr txBox="1"/>
          <p:nvPr/>
        </p:nvSpPr>
        <p:spPr>
          <a:xfrm>
            <a:off x="80467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formula_code: sla_breach_ratio</a:t>
            </a:r>
          </a:p>
          <a:p>
            <a:pPr algn="l">
              <a:lnSpc>
                <a:spcPct val="108000"/>
              </a:lnSpc>
              <a:spcAft>
                <a:spcPts val="700"/>
              </a:spcAft>
            </a:pPr>
            <a:r>
              <a:rPr sz="1800" b="0">
                <a:solidFill>
                  <a:srgbClr val="173B36"/>
                </a:solidFill>
                <a:latin typeface="Calibri"/>
              </a:rPr>
              <a:t>Rumus: total pelanggaran / total keluhan</a:t>
            </a:r>
          </a:p>
          <a:p>
            <a:pPr algn="l">
              <a:lnSpc>
                <a:spcPct val="108000"/>
              </a:lnSpc>
              <a:spcAft>
                <a:spcPts val="700"/>
              </a:spcAft>
            </a:pPr>
            <a:r>
              <a:rPr sz="1800" b="0">
                <a:solidFill>
                  <a:srgbClr val="173B36"/>
                </a:solidFill>
                <a:latin typeface="Calibri"/>
              </a:rPr>
              <a:t>output_unit: RATIO</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Gunakan kode metrik produk aktif.</a:t>
            </a:r>
          </a:p>
          <a:p>
            <a:pPr algn="l">
              <a:lnSpc>
                <a:spcPct val="108000"/>
              </a:lnSpc>
              <a:spcAft>
                <a:spcPts val="700"/>
              </a:spcAft>
            </a:pPr>
            <a:r>
              <a:rPr sz="1800" b="0">
                <a:solidFill>
                  <a:srgbClr val="173B36"/>
                </a:solidFill>
                <a:latin typeface="Calibri"/>
              </a:rPr>
              <a:t>Tab kontrol: Dikecualikan dari ETL.</a:t>
            </a:r>
          </a:p>
        </p:txBody>
      </p:sp>
      <p:sp>
        <p:nvSpPr>
          <p:cNvPr id="13" name="Rounded Rectangle 12"/>
          <p:cNvSpPr/>
          <p:nvPr/>
        </p:nvSpPr>
        <p:spPr>
          <a:xfrm>
            <a:off x="6172200" y="2103120"/>
            <a:ext cx="5349240" cy="3337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03120"/>
            <a:ext cx="45720" cy="3337560"/>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286000"/>
            <a:ext cx="49377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Aturan_Action_Plan</a:t>
            </a:r>
          </a:p>
        </p:txBody>
      </p:sp>
      <p:sp>
        <p:nvSpPr>
          <p:cNvPr id="16" name="TextBox 15"/>
          <p:cNvSpPr txBox="1"/>
          <p:nvPr/>
        </p:nvSpPr>
        <p:spPr>
          <a:xfrm>
            <a:off x="6382512" y="2916936"/>
            <a:ext cx="4928616" cy="2404872"/>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formula_code: sla_breach_ratio</a:t>
            </a:r>
          </a:p>
          <a:p>
            <a:pPr algn="l">
              <a:lnSpc>
                <a:spcPct val="108000"/>
              </a:lnSpc>
              <a:spcAft>
                <a:spcPts val="700"/>
              </a:spcAft>
            </a:pPr>
            <a:r>
              <a:rPr sz="1800" b="0">
                <a:solidFill>
                  <a:srgbClr val="173B36"/>
                </a:solidFill>
                <a:latin typeface="Calibri"/>
              </a:rPr>
              <a:t>operator: gt • threshold: 0.10</a:t>
            </a:r>
          </a:p>
          <a:p>
            <a:pPr algn="l">
              <a:lnSpc>
                <a:spcPct val="108000"/>
              </a:lnSpc>
              <a:spcAft>
                <a:spcPts val="700"/>
              </a:spcAft>
            </a:pPr>
            <a:r>
              <a:rPr sz="1800" b="0">
                <a:solidFill>
                  <a:srgbClr val="173B36"/>
                </a:solidFill>
                <a:latin typeface="Calibri"/>
              </a:rPr>
              <a:t>Action: review antrean dan shift</a:t>
            </a:r>
          </a:p>
          <a:p>
            <a:pPr algn="l">
              <a:lnSpc>
                <a:spcPct val="108000"/>
              </a:lnSpc>
              <a:spcAft>
                <a:spcPts val="700"/>
              </a:spcAft>
            </a:pPr>
            <a:r>
              <a:rPr sz="1800" b="0">
                <a:solidFill>
                  <a:srgbClr val="173B36"/>
                </a:solidFill>
                <a:latin typeface="Calibri"/>
              </a:rPr>
              <a:t>Owner: TEAM-CS • tenggat: 7 hari</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50% ditulis 0.50, bukan 50.</a:t>
            </a:r>
          </a:p>
        </p:txBody>
      </p:sp>
      <p:sp>
        <p:nvSpPr>
          <p:cNvPr id="17" name="Rounded Rectangle 16"/>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API: impor draft → preview → approval reviewer berbeda → evaluate; REVOKE untuk menghentikan.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Contoh output: usulan dengan bukti angka</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Kondisi cocok menghasilkan PROPOSED; penyebab tetap hipotesis sampai diverifikasi.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PANDUAN_ATURAN_ANALITIK.md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29</a:t>
            </a:r>
          </a:p>
        </p:txBody>
      </p:sp>
      <p:sp>
        <p:nvSpPr>
          <p:cNvPr id="9" name="Rounded Rectangle 8"/>
          <p:cNvSpPr/>
          <p:nvPr/>
        </p:nvSpPr>
        <p:spPr>
          <a:xfrm>
            <a:off x="594360" y="2176272"/>
            <a:ext cx="3520440" cy="3364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76272"/>
            <a:ext cx="45720" cy="3364992"/>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59152"/>
            <a:ext cx="3108960"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BUKTI</a:t>
            </a:r>
          </a:p>
        </p:txBody>
      </p:sp>
      <p:sp>
        <p:nvSpPr>
          <p:cNvPr id="12" name="TextBox 11"/>
          <p:cNvSpPr txBox="1"/>
          <p:nvPr/>
        </p:nvSpPr>
        <p:spPr>
          <a:xfrm>
            <a:off x="804672" y="2990088"/>
            <a:ext cx="3099816" cy="2432304"/>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Periode: Januari 2026</a:t>
            </a:r>
          </a:p>
          <a:p>
            <a:pPr algn="l">
              <a:lnSpc>
                <a:spcPct val="108000"/>
              </a:lnSpc>
              <a:spcAft>
                <a:spcPts val="700"/>
              </a:spcAft>
            </a:pPr>
            <a:r>
              <a:rPr sz="1800" b="0">
                <a:solidFill>
                  <a:srgbClr val="173B36"/>
                </a:solidFill>
                <a:latin typeface="Calibri"/>
              </a:rPr>
              <a:t>32 keluhan • 12 lewat SLA</a:t>
            </a:r>
          </a:p>
          <a:p>
            <a:pPr algn="l">
              <a:lnSpc>
                <a:spcPct val="108000"/>
              </a:lnSpc>
              <a:spcAft>
                <a:spcPts val="700"/>
              </a:spcAft>
            </a:pPr>
            <a:r>
              <a:rPr sz="1800" b="0">
                <a:solidFill>
                  <a:srgbClr val="173B36"/>
                </a:solidFill>
                <a:latin typeface="Calibri"/>
              </a:rPr>
              <a:t>12 / 32 = 37,5%</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Aturan: lebih besar dari 10%</a:t>
            </a:r>
          </a:p>
        </p:txBody>
      </p:sp>
      <p:sp>
        <p:nvSpPr>
          <p:cNvPr id="13" name="Rounded Rectangle 12"/>
          <p:cNvSpPr/>
          <p:nvPr/>
        </p:nvSpPr>
        <p:spPr>
          <a:xfrm>
            <a:off x="4325112" y="2176272"/>
            <a:ext cx="3520440" cy="3364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2176272"/>
            <a:ext cx="45720" cy="3364992"/>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359152"/>
            <a:ext cx="31089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USULAN</a:t>
            </a:r>
          </a:p>
        </p:txBody>
      </p:sp>
      <p:sp>
        <p:nvSpPr>
          <p:cNvPr id="16" name="TextBox 15"/>
          <p:cNvSpPr txBox="1"/>
          <p:nvPr/>
        </p:nvSpPr>
        <p:spPr>
          <a:xfrm>
            <a:off x="4535424" y="2990088"/>
            <a:ext cx="3099816" cy="2432304"/>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Verifikasi antrean dan shift.</a:t>
            </a:r>
          </a:p>
          <a:p>
            <a:pPr algn="l">
              <a:lnSpc>
                <a:spcPct val="108000"/>
              </a:lnSpc>
              <a:spcAft>
                <a:spcPts val="700"/>
              </a:spcAft>
            </a:pPr>
            <a:r>
              <a:rPr sz="1800" b="0">
                <a:solidFill>
                  <a:srgbClr val="173B36"/>
                </a:solidFill>
                <a:latin typeface="Calibri"/>
              </a:rPr>
              <a:t>Usulkan perbaikan SLA setelah</a:t>
            </a:r>
          </a:p>
          <a:p>
            <a:pPr algn="l">
              <a:lnSpc>
                <a:spcPct val="108000"/>
              </a:lnSpc>
              <a:spcAft>
                <a:spcPts val="700"/>
              </a:spcAft>
            </a:pPr>
            <a:r>
              <a:rPr sz="1800" b="0">
                <a:solidFill>
                  <a:srgbClr val="173B36"/>
                </a:solidFill>
                <a:latin typeface="Calibri"/>
              </a:rPr>
              <a:t>bukti operasional diperiksa.</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Status: PROPOSED</a:t>
            </a:r>
          </a:p>
        </p:txBody>
      </p:sp>
      <p:sp>
        <p:nvSpPr>
          <p:cNvPr id="17" name="Rounded Rectangle 16"/>
          <p:cNvSpPr/>
          <p:nvPr/>
        </p:nvSpPr>
        <p:spPr>
          <a:xfrm>
            <a:off x="8055864" y="2176272"/>
            <a:ext cx="3520440" cy="3364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2176272"/>
            <a:ext cx="45720" cy="3364992"/>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2359152"/>
            <a:ext cx="3108959"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TANGGUNG JAWAB</a:t>
            </a:r>
          </a:p>
        </p:txBody>
      </p:sp>
      <p:sp>
        <p:nvSpPr>
          <p:cNvPr id="20" name="TextBox 19"/>
          <p:cNvSpPr txBox="1"/>
          <p:nvPr/>
        </p:nvSpPr>
        <p:spPr>
          <a:xfrm>
            <a:off x="8266176" y="2990088"/>
            <a:ext cx="3099816" cy="2432304"/>
          </a:xfrm>
          <a:prstGeom prst="rect">
            <a:avLst/>
          </a:prstGeom>
          <a:noFill/>
        </p:spPr>
        <p:txBody>
          <a:bodyPr wrap="square" lIns="0" rIns="0" tIns="0" bIns="0" anchor="t">
            <a:spAutoFit/>
          </a:bodyPr>
          <a:lstStyle/>
          <a:p>
            <a:pPr algn="l">
              <a:lnSpc>
                <a:spcPct val="108000"/>
              </a:lnSpc>
              <a:spcAft>
                <a:spcPts val="700"/>
              </a:spcAft>
            </a:pPr>
            <a:r>
              <a:rPr sz="1800" b="0">
                <a:solidFill>
                  <a:srgbClr val="173B36"/>
                </a:solidFill>
                <a:latin typeface="Calibri"/>
              </a:rPr>
              <a:t>Owner: TEAM-CS</a:t>
            </a:r>
          </a:p>
          <a:p>
            <a:pPr algn="l">
              <a:lnSpc>
                <a:spcPct val="108000"/>
              </a:lnSpc>
              <a:spcAft>
                <a:spcPts val="700"/>
              </a:spcAft>
            </a:pPr>
            <a:r>
              <a:rPr sz="1800" b="0">
                <a:solidFill>
                  <a:srgbClr val="173B36"/>
                </a:solidFill>
                <a:latin typeface="Calibri"/>
              </a:rPr>
              <a:t>Tenggat: 7 hari sejak evaluasi</a:t>
            </a:r>
          </a:p>
          <a:p>
            <a:pPr algn="l">
              <a:lnSpc>
                <a:spcPct val="108000"/>
              </a:lnSpc>
              <a:spcAft>
                <a:spcPts val="700"/>
              </a:spcAft>
            </a:pPr>
            <a:r>
              <a:rPr sz="1800" b="0">
                <a:solidFill>
                  <a:srgbClr val="173B36"/>
                </a:solidFill>
                <a:latin typeface="Calibri"/>
              </a:rPr>
              <a:t>Penyebab: UNVERIFIED</a:t>
            </a:r>
          </a:p>
          <a:p>
            <a:pPr algn="l">
              <a:lnSpc>
                <a:spcPct val="108000"/>
              </a:lnSpc>
              <a:spcAft>
                <a:spcPts val="700"/>
              </a:spcAft>
            </a:pPr>
            <a:r>
              <a:rPr sz="1800" b="0">
                <a:solidFill>
                  <a:srgbClr val="173B36"/>
                </a:solidFill>
                <a:latin typeface="Calibri"/>
              </a:rPr>
              <a:t/>
            </a:r>
          </a:p>
          <a:p>
            <a:pPr algn="l">
              <a:lnSpc>
                <a:spcPct val="108000"/>
              </a:lnSpc>
              <a:spcAft>
                <a:spcPts val="700"/>
              </a:spcAft>
            </a:pPr>
            <a:r>
              <a:rPr sz="1800" b="0">
                <a:solidFill>
                  <a:srgbClr val="173B36"/>
                </a:solidFill>
                <a:latin typeface="Calibri"/>
              </a:rPr>
              <a:t>Rencana ditinjau pemilik bisnis</a:t>
            </a:r>
          </a:p>
        </p:txBody>
      </p:sp>
      <p:sp>
        <p:nvSpPr>
          <p:cNvPr id="21" name="Rounded Rectangle 20"/>
          <p:cNvSpPr/>
          <p:nvPr/>
        </p:nvSpPr>
        <p:spPr>
          <a:xfrm>
            <a:off x="594360" y="5715000"/>
            <a:ext cx="10972800" cy="420624"/>
          </a:xfrm>
          <a:prstGeom prst="roundRect">
            <a:avLst>
              <a:gd name="adj" fmla="val 12000"/>
            </a:avLst>
          </a:prstGeom>
          <a:solidFill>
            <a:srgbClr val="FFF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B77912"/>
                </a:solidFill>
                <a:latin typeface="Calibri"/>
              </a:rPr>
              <a:t>SIMULASI • NULL / penyebut nol memberi blocker; tidak memicu tindakan terkait.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Langkah 10 — Laksanakan dan ukur ulang</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Bedakan usulan, keputusan bisnis, pelaksanaan dan bukti hasil.</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30</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2240280"/>
                <a:gridCol w="4709160"/>
                <a:gridCol w="4023360"/>
              </a:tblGrid>
              <a:tr h="553212">
                <a:tc>
                  <a:txBody>
                    <a:bodyPr/>
                    <a:lstStyle/>
                    <a:p>
                      <a:pPr>
                        <a:lnSpc>
                          <a:spcPct val="105000"/>
                        </a:lnSpc>
                        <a:spcAft>
                          <a:spcPts val="0"/>
                        </a:spcAft>
                      </a:pPr>
                      <a:r>
                        <a:rPr sz="1600" b="1">
                          <a:solidFill>
                            <a:srgbClr val="FFFFFF"/>
                          </a:solidFill>
                          <a:latin typeface="Calibri"/>
                        </a:rPr>
                        <a:t>Tahap</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Yang harus dicatat</a:t>
                      </a:r>
                    </a:p>
                  </a:txBody>
                  <a:tcPr marL="128016" marR="128016" marT="91440" marB="91440" anchor="ctr">
                    <a:solidFill>
                      <a:srgbClr val="075E4B"/>
                    </a:solidFill>
                  </a:tcPr>
                </a:tc>
                <a:tc>
                  <a:txBody>
                    <a:bodyPr/>
                    <a:lstStyle/>
                    <a:p>
                      <a:pPr>
                        <a:lnSpc>
                          <a:spcPct val="105000"/>
                        </a:lnSpc>
                        <a:spcAft>
                          <a:spcPts val="0"/>
                        </a:spcAft>
                      </a:pPr>
                      <a:r>
                        <a:rPr sz="1600" b="1">
                          <a:solidFill>
                            <a:srgbClr val="FFFFFF"/>
                          </a:solidFill>
                          <a:latin typeface="Calibri"/>
                        </a:rPr>
                        <a:t>Contoh hasil ideal</a:t>
                      </a:r>
                    </a:p>
                  </a:txBody>
                  <a:tcPr marL="128016" marR="128016" marT="91440" marB="91440" anchor="ctr">
                    <a:solidFill>
                      <a:srgbClr val="075E4B"/>
                    </a:solidFill>
                  </a:tcPr>
                </a:tc>
              </a:tr>
              <a:tr h="553212">
                <a:tc>
                  <a:txBody>
                    <a:bodyPr/>
                    <a:lstStyle/>
                    <a:p>
                      <a:pPr>
                        <a:lnSpc>
                          <a:spcPct val="105000"/>
                        </a:lnSpc>
                        <a:spcAft>
                          <a:spcPts val="0"/>
                        </a:spcAft>
                      </a:pPr>
                      <a:r>
                        <a:rPr sz="1600" b="0">
                          <a:solidFill>
                            <a:srgbClr val="173B36"/>
                          </a:solidFill>
                          <a:latin typeface="Calibri"/>
                        </a:rPr>
                        <a:t>Verifikasi masalah</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Bukti, periode, baseline, metode dan sampel</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Masalah dan batas interpretasi jelas</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Putuskan tindakan</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Target, pemilik, tenggat dan cara ukur</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Rencana spesifik yang disetujui bisnis</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Laksanakan</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Status, waktu selesai dan bukti aktivitas</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Pelaksanaan dapat ditelusuri</a:t>
                      </a:r>
                    </a:p>
                  </a:txBody>
                  <a:tcPr marL="128016" marR="128016" marT="91440" marB="91440" anchor="ctr">
                    <a:solidFill>
                      <a:srgbClr val="FFFFFF"/>
                    </a:solidFill>
                  </a:tcPr>
                </a:tc>
              </a:tr>
              <a:tr h="553212">
                <a:tc>
                  <a:txBody>
                    <a:bodyPr/>
                    <a:lstStyle/>
                    <a:p>
                      <a:pPr>
                        <a:lnSpc>
                          <a:spcPct val="105000"/>
                        </a:lnSpc>
                        <a:spcAft>
                          <a:spcPts val="0"/>
                        </a:spcAft>
                      </a:pPr>
                      <a:r>
                        <a:rPr sz="1600" b="0">
                          <a:solidFill>
                            <a:srgbClr val="173B36"/>
                          </a:solidFill>
                          <a:latin typeface="Calibri"/>
                        </a:rPr>
                        <a:t>Ukur follow-up</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Periode baru, hasil dan konteks pembanding</a:t>
                      </a:r>
                    </a:p>
                  </a:txBody>
                  <a:tcPr marL="128016" marR="128016" marT="91440" marB="91440" anchor="ctr">
                    <a:solidFill>
                      <a:srgbClr val="E7F2ED"/>
                    </a:solidFill>
                  </a:tcPr>
                </a:tc>
                <a:tc>
                  <a:txBody>
                    <a:bodyPr/>
                    <a:lstStyle/>
                    <a:p>
                      <a:pPr>
                        <a:lnSpc>
                          <a:spcPct val="105000"/>
                        </a:lnSpc>
                        <a:spcAft>
                          <a:spcPts val="0"/>
                        </a:spcAft>
                      </a:pPr>
                      <a:r>
                        <a:rPr sz="1600" b="0">
                          <a:solidFill>
                            <a:srgbClr val="173B36"/>
                          </a:solidFill>
                          <a:latin typeface="Calibri"/>
                        </a:rPr>
                        <a:t>Angka dihitung dengan metode sebanding</a:t>
                      </a:r>
                    </a:p>
                  </a:txBody>
                  <a:tcPr marL="128016" marR="128016" marT="91440" marB="91440" anchor="ctr">
                    <a:solidFill>
                      <a:srgbClr val="E7F2ED"/>
                    </a:solidFill>
                  </a:tcPr>
                </a:tc>
              </a:tr>
              <a:tr h="553212">
                <a:tc>
                  <a:txBody>
                    <a:bodyPr/>
                    <a:lstStyle/>
                    <a:p>
                      <a:pPr>
                        <a:lnSpc>
                          <a:spcPct val="105000"/>
                        </a:lnSpc>
                        <a:spcAft>
                          <a:spcPts val="0"/>
                        </a:spcAft>
                      </a:pPr>
                      <a:r>
                        <a:rPr sz="1600" b="0">
                          <a:solidFill>
                            <a:srgbClr val="173B36"/>
                          </a:solidFill>
                          <a:latin typeface="Calibri"/>
                        </a:rPr>
                        <a:t>Evaluasi</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Verifikasi hasil, faktor lain dan langkah berikutnya</a:t>
                      </a:r>
                    </a:p>
                  </a:txBody>
                  <a:tcPr marL="128016" marR="128016" marT="91440" marB="91440" anchor="ctr">
                    <a:solidFill>
                      <a:srgbClr val="FFFFFF"/>
                    </a:solidFill>
                  </a:tcPr>
                </a:tc>
                <a:tc>
                  <a:txBody>
                    <a:bodyPr/>
                    <a:lstStyle/>
                    <a:p>
                      <a:pPr>
                        <a:lnSpc>
                          <a:spcPct val="105000"/>
                        </a:lnSpc>
                        <a:spcAft>
                          <a:spcPts val="0"/>
                        </a:spcAft>
                      </a:pPr>
                      <a:r>
                        <a:rPr sz="1600" b="0">
                          <a:solidFill>
                            <a:srgbClr val="173B36"/>
                          </a:solidFill>
                          <a:latin typeface="Calibri"/>
                        </a:rPr>
                        <a:t>Keputusan lanjut / revisi berbasis bukti</a:t>
                      </a:r>
                    </a:p>
                  </a:txBody>
                  <a:tcPr marL="128016" marR="128016" marT="91440" marB="91440" anchor="ctr">
                    <a:solidFill>
                      <a:srgbClr val="FFFFFF"/>
                    </a:solidFill>
                  </a:tcPr>
                </a:tc>
              </a:tr>
            </a:tbl>
          </a:graphicData>
        </a:graphic>
      </p:graphicFrame>
      <p:sp>
        <p:nvSpPr>
          <p:cNvPr id="10" name="Rounded Rectangle 9"/>
          <p:cNvSpPr/>
          <p:nvPr/>
        </p:nvSpPr>
        <p:spPr>
          <a:xfrm>
            <a:off x="594360" y="5715000"/>
            <a:ext cx="10972800" cy="420624"/>
          </a:xfrm>
          <a:prstGeom prst="roundRect">
            <a:avLst>
              <a:gd name="adj" fmla="val 12000"/>
            </a:avLst>
          </a:prstGeom>
          <a:solidFill>
            <a:srgbClr val="E7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97296"/>
            <a:ext cx="10607040" cy="256032"/>
          </a:xfrm>
          <a:prstGeom prst="rect">
            <a:avLst/>
          </a:prstGeom>
          <a:noFill/>
        </p:spPr>
        <p:txBody>
          <a:bodyPr wrap="square" lIns="0" rIns="0" tIns="0" bIns="0" anchor="t">
            <a:spAutoFit/>
          </a:bodyPr>
          <a:lstStyle/>
          <a:p>
            <a:pPr algn="l">
              <a:lnSpc>
                <a:spcPct val="108000"/>
              </a:lnSpc>
              <a:spcAft>
                <a:spcPts val="700"/>
              </a:spcAft>
            </a:pPr>
            <a:r>
              <a:rPr sz="1500" b="1">
                <a:solidFill>
                  <a:srgbClr val="075E4B"/>
                </a:solidFill>
                <a:latin typeface="Calibri"/>
              </a:rPr>
              <a:t>Belum dievaluasi → follow-up kosong / NOT_EVALUATED; tidak dianggap berhasil atau bernilai 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Hasil ideal yang ingin dicapai</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Tetapkan bukti keberhasilan bersama pemilik bisnis sebelum memperluas penggunaan.</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PANDUAN_FORMAT_GOOGLE_SHEET.md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31</a:t>
            </a:r>
          </a:p>
        </p:txBody>
      </p:sp>
      <p:graphicFrame>
        <p:nvGraphicFramePr>
          <p:cNvPr id="9" name="Table 8"/>
          <p:cNvGraphicFramePr>
            <a:graphicFrameLocks noGrp="1"/>
          </p:cNvGraphicFramePr>
          <p:nvPr/>
        </p:nvGraphicFramePr>
        <p:xfrm>
          <a:off x="594360" y="2121408"/>
          <a:ext cx="10972800" cy="3319272"/>
        </p:xfrm>
        <a:graphic>
          <a:graphicData uri="http://schemas.openxmlformats.org/drawingml/2006/table">
            <a:tbl>
              <a:tblPr firstRow="1" bandRow="1">
                <a:tableStyleId>{5C22544A-7EE6-4342-B048-85BDC9FD1C3A}</a:tableStyleId>
              </a:tblPr>
              <a:tblGrid>
                <a:gridCol w="4114800"/>
                <a:gridCol w="6858000"/>
              </a:tblGrid>
              <a:tr h="474181">
                <a:tc>
                  <a:txBody>
                    <a:bodyPr/>
                    <a:lstStyle/>
                    <a:p>
                      <a:pPr>
                        <a:lnSpc>
                          <a:spcPct val="105000"/>
                        </a:lnSpc>
                        <a:spcAft>
                          <a:spcPts val="0"/>
                        </a:spcAft>
                      </a:pPr>
                      <a:r>
                        <a:rPr sz="1700" b="1">
                          <a:solidFill>
                            <a:srgbClr val="FFFFFF"/>
                          </a:solidFill>
                          <a:latin typeface="Calibri"/>
                        </a:rPr>
                        <a:t>Sasaran</a:t>
                      </a:r>
                    </a:p>
                  </a:txBody>
                  <a:tcPr marL="128016" marR="128016" marT="91440" marB="91440" anchor="ctr">
                    <a:solidFill>
                      <a:srgbClr val="075E4B"/>
                    </a:solidFill>
                  </a:tcPr>
                </a:tc>
                <a:tc>
                  <a:txBody>
                    <a:bodyPr/>
                    <a:lstStyle/>
                    <a:p>
                      <a:pPr>
                        <a:lnSpc>
                          <a:spcPct val="105000"/>
                        </a:lnSpc>
                        <a:spcAft>
                          <a:spcPts val="0"/>
                        </a:spcAft>
                      </a:pPr>
                      <a:r>
                        <a:rPr sz="1700" b="1">
                          <a:solidFill>
                            <a:srgbClr val="FFFFFF"/>
                          </a:solidFill>
                          <a:latin typeface="Calibri"/>
                        </a:rPr>
                        <a:t>Bukti keberhasilan</a:t>
                      </a:r>
                    </a:p>
                  </a:txBody>
                  <a:tcPr marL="128016" marR="128016" marT="91440" marB="91440" anchor="ctr">
                    <a:solidFill>
                      <a:srgbClr val="075E4B"/>
                    </a:solidFill>
                  </a:tcPr>
                </a:tc>
              </a:tr>
              <a:tr h="474181">
                <a:tc>
                  <a:txBody>
                    <a:bodyPr/>
                    <a:lstStyle/>
                    <a:p>
                      <a:pPr>
                        <a:lnSpc>
                          <a:spcPct val="105000"/>
                        </a:lnSpc>
                        <a:spcAft>
                          <a:spcPts val="0"/>
                        </a:spcAft>
                      </a:pPr>
                      <a:r>
                        <a:rPr sz="1700" b="0">
                          <a:solidFill>
                            <a:srgbClr val="173B36"/>
                          </a:solidFill>
                          <a:latin typeface="Calibri"/>
                        </a:rPr>
                        <a:t>Data konsisten dan berkualitas</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Key / tipe / referensi valid; temuan ditangani</a:t>
                      </a:r>
                    </a:p>
                  </a:txBody>
                  <a:tcPr marL="128016" marR="128016" marT="91440" marB="91440" anchor="ctr">
                    <a:solidFill>
                      <a:srgbClr val="FFFFFF"/>
                    </a:solidFill>
                  </a:tcPr>
                </a:tc>
              </a:tr>
              <a:tr h="474181">
                <a:tc>
                  <a:txBody>
                    <a:bodyPr/>
                    <a:lstStyle/>
                    <a:p>
                      <a:pPr>
                        <a:lnSpc>
                          <a:spcPct val="105000"/>
                        </a:lnSpc>
                        <a:spcAft>
                          <a:spcPts val="0"/>
                        </a:spcAft>
                      </a:pPr>
                      <a:r>
                        <a:rPr sz="1700" b="0">
                          <a:solidFill>
                            <a:srgbClr val="173B36"/>
                          </a:solidFill>
                          <a:latin typeface="Calibri"/>
                        </a:rPr>
                        <a:t>Waktu dan konteks jelas</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Periode, metode, satuan, sampel dan freshness tersedia</a:t>
                      </a:r>
                    </a:p>
                  </a:txBody>
                  <a:tcPr marL="128016" marR="128016" marT="91440" marB="91440" anchor="ctr">
                    <a:solidFill>
                      <a:srgbClr val="E7F2ED"/>
                    </a:solidFill>
                  </a:tcPr>
                </a:tc>
              </a:tr>
              <a:tr h="474181">
                <a:tc>
                  <a:txBody>
                    <a:bodyPr/>
                    <a:lstStyle/>
                    <a:p>
                      <a:pPr>
                        <a:lnSpc>
                          <a:spcPct val="105000"/>
                        </a:lnSpc>
                        <a:spcAft>
                          <a:spcPts val="0"/>
                        </a:spcAft>
                      </a:pPr>
                      <a:r>
                        <a:rPr sz="1700" b="0">
                          <a:solidFill>
                            <a:srgbClr val="173B36"/>
                          </a:solidFill>
                          <a:latin typeface="Calibri"/>
                        </a:rPr>
                        <a:t>Analitik dapat diulang</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Definisi metrik dan filter menghasilkan angka yang dapat diperiksa</a:t>
                      </a:r>
                    </a:p>
                  </a:txBody>
                  <a:tcPr marL="128016" marR="128016" marT="91440" marB="91440" anchor="ctr">
                    <a:solidFill>
                      <a:srgbClr val="FFFFFF"/>
                    </a:solidFill>
                  </a:tcPr>
                </a:tc>
              </a:tr>
              <a:tr h="474181">
                <a:tc>
                  <a:txBody>
                    <a:bodyPr/>
                    <a:lstStyle/>
                    <a:p>
                      <a:pPr>
                        <a:lnSpc>
                          <a:spcPct val="105000"/>
                        </a:lnSpc>
                        <a:spcAft>
                          <a:spcPts val="0"/>
                        </a:spcAft>
                      </a:pPr>
                      <a:r>
                        <a:rPr sz="1700" b="0">
                          <a:solidFill>
                            <a:srgbClr val="173B36"/>
                          </a:solidFill>
                          <a:latin typeface="Calibri"/>
                        </a:rPr>
                        <a:t>Chart membantu keputusan</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Kelompok / periode setara dan visual tidak menyesatkan</a:t>
                      </a:r>
                    </a:p>
                  </a:txBody>
                  <a:tcPr marL="128016" marR="128016" marT="91440" marB="91440" anchor="ctr">
                    <a:solidFill>
                      <a:srgbClr val="E7F2ED"/>
                    </a:solidFill>
                  </a:tcPr>
                </a:tc>
              </a:tr>
              <a:tr h="474181">
                <a:tc>
                  <a:txBody>
                    <a:bodyPr/>
                    <a:lstStyle/>
                    <a:p>
                      <a:pPr>
                        <a:lnSpc>
                          <a:spcPct val="105000"/>
                        </a:lnSpc>
                        <a:spcAft>
                          <a:spcPts val="0"/>
                        </a:spcAft>
                      </a:pPr>
                      <a:r>
                        <a:rPr sz="1700" b="0">
                          <a:solidFill>
                            <a:srgbClr val="173B36"/>
                          </a:solidFill>
                          <a:latin typeface="Calibri"/>
                        </a:rPr>
                        <a:t>Usulan dapat ditindaklanjuti</a:t>
                      </a:r>
                    </a:p>
                  </a:txBody>
                  <a:tcPr marL="128016" marR="128016" marT="91440" marB="91440" anchor="ctr">
                    <a:solidFill>
                      <a:srgbClr val="FFFFFF"/>
                    </a:solidFill>
                  </a:tcPr>
                </a:tc>
                <a:tc>
                  <a:txBody>
                    <a:bodyPr/>
                    <a:lstStyle/>
                    <a:p>
                      <a:pPr>
                        <a:lnSpc>
                          <a:spcPct val="105000"/>
                        </a:lnSpc>
                        <a:spcAft>
                          <a:spcPts val="0"/>
                        </a:spcAft>
                      </a:pPr>
                      <a:r>
                        <a:rPr sz="1700" b="0">
                          <a:solidFill>
                            <a:srgbClr val="173B36"/>
                          </a:solidFill>
                          <a:latin typeface="Calibri"/>
                        </a:rPr>
                        <a:t>Aturan, bukti, pemilik, target dan tenggat jelas</a:t>
                      </a:r>
                    </a:p>
                  </a:txBody>
                  <a:tcPr marL="128016" marR="128016" marT="91440" marB="91440" anchor="ctr">
                    <a:solidFill>
                      <a:srgbClr val="FFFFFF"/>
                    </a:solidFill>
                  </a:tcPr>
                </a:tc>
              </a:tr>
              <a:tr h="474186">
                <a:tc>
                  <a:txBody>
                    <a:bodyPr/>
                    <a:lstStyle/>
                    <a:p>
                      <a:pPr>
                        <a:lnSpc>
                          <a:spcPct val="105000"/>
                        </a:lnSpc>
                        <a:spcAft>
                          <a:spcPts val="0"/>
                        </a:spcAft>
                      </a:pPr>
                      <a:r>
                        <a:rPr sz="1700" b="0">
                          <a:solidFill>
                            <a:srgbClr val="173B36"/>
                          </a:solidFill>
                          <a:latin typeface="Calibri"/>
                        </a:rPr>
                        <a:t>Manfaat terverifikasi</a:t>
                      </a:r>
                    </a:p>
                  </a:txBody>
                  <a:tcPr marL="128016" marR="128016" marT="91440" marB="91440" anchor="ctr">
                    <a:solidFill>
                      <a:srgbClr val="E7F2ED"/>
                    </a:solidFill>
                  </a:tcPr>
                </a:tc>
                <a:tc>
                  <a:txBody>
                    <a:bodyPr/>
                    <a:lstStyle/>
                    <a:p>
                      <a:pPr>
                        <a:lnSpc>
                          <a:spcPct val="105000"/>
                        </a:lnSpc>
                        <a:spcAft>
                          <a:spcPts val="0"/>
                        </a:spcAft>
                      </a:pPr>
                      <a:r>
                        <a:rPr sz="1700" b="0">
                          <a:solidFill>
                            <a:srgbClr val="173B36"/>
                          </a:solidFill>
                          <a:latin typeface="Calibri"/>
                        </a:rPr>
                        <a:t>Baseline dan follow-up diperiksa, bukan klaim otomatis</a:t>
                      </a:r>
                    </a:p>
                  </a:txBody>
                  <a:tcPr marL="128016" marR="128016" marT="91440" marB="91440" anchor="ctr">
                    <a:solidFill>
                      <a:srgbClr val="E7F2ED"/>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AF8"/>
        </a:solidFill>
        <a:effectLst/>
      </p:bgPr>
    </p:bg>
    <p:spTree>
      <p:nvGrpSpPr>
        <p:cNvPr id="1" name=""/>
        <p:cNvGrpSpPr/>
        <p:nvPr/>
      </p:nvGrpSpPr>
      <p:grpSpPr/>
      <p:sp>
        <p:nvSpPr>
          <p:cNvPr id="2" name="Rectangle 1"/>
          <p:cNvSpPr/>
          <p:nvPr/>
        </p:nvSpPr>
        <p:spPr>
          <a:xfrm>
            <a:off x="0" y="0"/>
            <a:ext cx="12191999" cy="109728"/>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607040" cy="256032"/>
          </a:xfrm>
          <a:prstGeom prst="rect">
            <a:avLst/>
          </a:prstGeom>
          <a:noFill/>
        </p:spPr>
        <p:txBody>
          <a:bodyPr wrap="square" lIns="0" rIns="0" tIns="0" bIns="0" anchor="t">
            <a:spAutoFit/>
          </a:bodyPr>
          <a:lstStyle/>
          <a:p>
            <a:pPr algn="l">
              <a:lnSpc>
                <a:spcPct val="108000"/>
              </a:lnSpc>
              <a:spcAft>
                <a:spcPts val="700"/>
              </a:spcAft>
            </a:pPr>
            <a:r>
              <a:rPr sz="1200" b="1">
                <a:solidFill>
                  <a:srgbClr val="075E4B"/>
                </a:solidFill>
                <a:latin typeface="Calibri"/>
              </a:rPr>
              <a:t>PANDUAN PRAKTIS</a:t>
            </a:r>
          </a:p>
        </p:txBody>
      </p:sp>
      <p:sp>
        <p:nvSpPr>
          <p:cNvPr id="4" name="TextBox 3"/>
          <p:cNvSpPr txBox="1"/>
          <p:nvPr/>
        </p:nvSpPr>
        <p:spPr>
          <a:xfrm>
            <a:off x="594360" y="859536"/>
            <a:ext cx="10972800" cy="576072"/>
          </a:xfrm>
          <a:prstGeom prst="rect">
            <a:avLst/>
          </a:prstGeom>
          <a:noFill/>
        </p:spPr>
        <p:txBody>
          <a:bodyPr wrap="square" lIns="0" rIns="0" tIns="0" bIns="0" anchor="t">
            <a:spAutoFit/>
          </a:bodyPr>
          <a:lstStyle/>
          <a:p>
            <a:pPr algn="l">
              <a:lnSpc>
                <a:spcPct val="108000"/>
              </a:lnSpc>
              <a:spcAft>
                <a:spcPts val="700"/>
              </a:spcAft>
            </a:pPr>
            <a:r>
              <a:rPr sz="3100" b="1">
                <a:solidFill>
                  <a:srgbClr val="173B36"/>
                </a:solidFill>
                <a:latin typeface="Calibri"/>
              </a:rPr>
              <a:t>Mulai dengan satu dataset dan satu pertanyaan</a:t>
            </a:r>
          </a:p>
        </p:txBody>
      </p:sp>
      <p:sp>
        <p:nvSpPr>
          <p:cNvPr id="5" name="TextBox 4"/>
          <p:cNvSpPr txBox="1"/>
          <p:nvPr/>
        </p:nvSpPr>
        <p:spPr>
          <a:xfrm>
            <a:off x="594360" y="1499616"/>
            <a:ext cx="10972800" cy="475488"/>
          </a:xfrm>
          <a:prstGeom prst="rect">
            <a:avLst/>
          </a:prstGeom>
          <a:noFill/>
        </p:spPr>
        <p:txBody>
          <a:bodyPr wrap="square" lIns="0" rIns="0" tIns="0" bIns="0" anchor="t">
            <a:spAutoFit/>
          </a:bodyPr>
          <a:lstStyle/>
          <a:p>
            <a:pPr algn="l">
              <a:lnSpc>
                <a:spcPct val="108000"/>
              </a:lnSpc>
              <a:spcAft>
                <a:spcPts val="700"/>
              </a:spcAft>
            </a:pPr>
            <a:r>
              <a:rPr sz="1700" b="0">
                <a:solidFill>
                  <a:srgbClr val="617B75"/>
                </a:solidFill>
                <a:latin typeface="Calibri"/>
              </a:rPr>
              <a:t>Latihan: keluhan pelanggan → SLA per produk → usulan perbaikan → evaluasi.</a:t>
            </a:r>
          </a:p>
        </p:txBody>
      </p:sp>
      <p:sp>
        <p:nvSpPr>
          <p:cNvPr id="6" name="Rectangle 5"/>
          <p:cNvSpPr/>
          <p:nvPr/>
        </p:nvSpPr>
        <p:spPr>
          <a:xfrm>
            <a:off x="594360" y="6373368"/>
            <a:ext cx="10972800" cy="10972"/>
          </a:xfrm>
          <a:prstGeom prst="rect">
            <a:avLst/>
          </a:prstGeom>
          <a:solidFill>
            <a:srgbClr val="D8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83096"/>
            <a:ext cx="9966960" cy="210312"/>
          </a:xfrm>
          <a:prstGeom prst="rect">
            <a:avLst/>
          </a:prstGeom>
          <a:noFill/>
        </p:spPr>
        <p:txBody>
          <a:bodyPr wrap="square" lIns="0" rIns="0" tIns="0" bIns="0" anchor="t">
            <a:spAutoFit/>
          </a:bodyPr>
          <a:lstStyle/>
          <a:p>
            <a:pPr algn="l">
              <a:lnSpc>
                <a:spcPct val="108000"/>
              </a:lnSpc>
              <a:spcAft>
                <a:spcPts val="700"/>
              </a:spcAft>
            </a:pPr>
            <a:r>
              <a:rPr sz="1000" b="0">
                <a:solidFill>
                  <a:srgbClr val="617B75"/>
                </a:solidFill>
                <a:latin typeface="Calibri"/>
              </a:rPr>
              <a:t>Google Sheet AI  •  12 Oktober 2026  •  CONTOH_DATA_ANALITIK.md</a:t>
            </a:r>
          </a:p>
        </p:txBody>
      </p:sp>
      <p:sp>
        <p:nvSpPr>
          <p:cNvPr id="8" name="TextBox 7"/>
          <p:cNvSpPr txBox="1"/>
          <p:nvPr/>
        </p:nvSpPr>
        <p:spPr>
          <a:xfrm>
            <a:off x="10789920" y="6437376"/>
            <a:ext cx="777240" cy="292608"/>
          </a:xfrm>
          <a:prstGeom prst="rect">
            <a:avLst/>
          </a:prstGeom>
          <a:noFill/>
        </p:spPr>
        <p:txBody>
          <a:bodyPr wrap="square" lIns="0" rIns="0" tIns="0" bIns="0" anchor="t">
            <a:spAutoFit/>
          </a:bodyPr>
          <a:lstStyle/>
          <a:p>
            <a:pPr algn="r">
              <a:lnSpc>
                <a:spcPct val="108000"/>
              </a:lnSpc>
              <a:spcAft>
                <a:spcPts val="700"/>
              </a:spcAft>
            </a:pPr>
            <a:r>
              <a:rPr sz="1400" b="1">
                <a:solidFill>
                  <a:srgbClr val="075E4B"/>
                </a:solidFill>
                <a:latin typeface="Calibri"/>
              </a:rPr>
              <a:t>32</a:t>
            </a:r>
          </a:p>
        </p:txBody>
      </p:sp>
      <p:sp>
        <p:nvSpPr>
          <p:cNvPr id="9" name="Rounded Rectangle 8"/>
          <p:cNvSpPr/>
          <p:nvPr/>
        </p:nvSpPr>
        <p:spPr>
          <a:xfrm>
            <a:off x="594360" y="2093976"/>
            <a:ext cx="6693408" cy="34564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093976"/>
            <a:ext cx="45720" cy="3456432"/>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76856"/>
            <a:ext cx="6281928"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Checklist demo</a:t>
            </a:r>
          </a:p>
        </p:txBody>
      </p:sp>
      <p:sp>
        <p:nvSpPr>
          <p:cNvPr id="12" name="TextBox 11"/>
          <p:cNvSpPr txBox="1"/>
          <p:nvPr/>
        </p:nvSpPr>
        <p:spPr>
          <a:xfrm>
            <a:off x="804672" y="2907792"/>
            <a:ext cx="6272784" cy="2523744"/>
          </a:xfrm>
          <a:prstGeom prst="rect">
            <a:avLst/>
          </a:prstGeom>
          <a:noFill/>
        </p:spPr>
        <p:txBody>
          <a:bodyPr wrap="square" lIns="0" rIns="0" tIns="0" bIns="0" anchor="t">
            <a:spAutoFit/>
          </a:bodyPr>
          <a:lstStyle/>
          <a:p>
            <a:pPr algn="l">
              <a:lnSpc>
                <a:spcPct val="108000"/>
              </a:lnSpc>
              <a:spcAft>
                <a:spcPts val="700"/>
              </a:spcAft>
            </a:pPr>
            <a:r>
              <a:rPr sz="1900" b="0">
                <a:solidFill>
                  <a:srgbClr val="173B36"/>
                </a:solidFill>
                <a:latin typeface="Calibri"/>
              </a:rPr>
              <a:t>1. Baca format dan arti kolom pada template.</a:t>
            </a:r>
          </a:p>
          <a:p>
            <a:pPr algn="l">
              <a:lnSpc>
                <a:spcPct val="108000"/>
              </a:lnSpc>
              <a:spcAft>
                <a:spcPts val="700"/>
              </a:spcAft>
            </a:pPr>
            <a:r>
              <a:rPr sz="1900" b="0">
                <a:solidFill>
                  <a:srgbClr val="173B36"/>
                </a:solidFill>
                <a:latin typeface="Calibri"/>
              </a:rPr>
              <a:t>2. Hubungkan, klasifikasikan dan setup config.</a:t>
            </a:r>
          </a:p>
          <a:p>
            <a:pPr algn="l">
              <a:lnSpc>
                <a:spcPct val="108000"/>
              </a:lnSpc>
              <a:spcAft>
                <a:spcPts val="700"/>
              </a:spcAft>
            </a:pPr>
            <a:r>
              <a:rPr sz="1900" b="0">
                <a:solidFill>
                  <a:srgbClr val="173B36"/>
                </a:solidFill>
                <a:latin typeface="Calibri"/>
              </a:rPr>
              <a:t>3. Review → deploy → sync → cek katalog.</a:t>
            </a:r>
          </a:p>
          <a:p>
            <a:pPr algn="l">
              <a:lnSpc>
                <a:spcPct val="108000"/>
              </a:lnSpc>
              <a:spcAft>
                <a:spcPts val="700"/>
              </a:spcAft>
            </a:pPr>
            <a:r>
              <a:rPr sz="1900" b="0">
                <a:solidFill>
                  <a:srgbClr val="173B36"/>
                </a:solidFill>
                <a:latin typeface="Calibri"/>
              </a:rPr>
              <a:t>4. Query metrik dan tampilkan chart.</a:t>
            </a:r>
          </a:p>
          <a:p>
            <a:pPr algn="l">
              <a:lnSpc>
                <a:spcPct val="108000"/>
              </a:lnSpc>
              <a:spcAft>
                <a:spcPts val="700"/>
              </a:spcAft>
            </a:pPr>
            <a:r>
              <a:rPr sz="1900" b="0">
                <a:solidFill>
                  <a:srgbClr val="173B36"/>
                </a:solidFill>
                <a:latin typeface="Calibri"/>
              </a:rPr>
              <a:t>5. Review aturan API dan periksa usulan.</a:t>
            </a:r>
          </a:p>
          <a:p>
            <a:pPr algn="l">
              <a:lnSpc>
                <a:spcPct val="108000"/>
              </a:lnSpc>
              <a:spcAft>
                <a:spcPts val="700"/>
              </a:spcAft>
            </a:pPr>
            <a:r>
              <a:rPr sz="1900" b="0">
                <a:solidFill>
                  <a:srgbClr val="173B36"/>
                </a:solidFill>
                <a:latin typeface="Calibri"/>
              </a:rPr>
              <a:t>6. Sepakati baseline, target dan ukur ulang.</a:t>
            </a:r>
          </a:p>
        </p:txBody>
      </p:sp>
      <p:sp>
        <p:nvSpPr>
          <p:cNvPr id="13" name="Rounded Rectangle 12"/>
          <p:cNvSpPr/>
          <p:nvPr/>
        </p:nvSpPr>
        <p:spPr>
          <a:xfrm>
            <a:off x="7525512" y="2093976"/>
            <a:ext cx="3995928" cy="34564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25512" y="2093976"/>
            <a:ext cx="45720" cy="3456432"/>
          </a:xfrm>
          <a:prstGeom prst="rect">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35824" y="2276856"/>
            <a:ext cx="3584447" cy="502920"/>
          </a:xfrm>
          <a:prstGeom prst="rect">
            <a:avLst/>
          </a:prstGeom>
          <a:noFill/>
        </p:spPr>
        <p:txBody>
          <a:bodyPr wrap="square" lIns="0" rIns="0" tIns="0" bIns="0" anchor="t">
            <a:spAutoFit/>
          </a:bodyPr>
          <a:lstStyle/>
          <a:p>
            <a:pPr algn="l">
              <a:lnSpc>
                <a:spcPct val="108000"/>
              </a:lnSpc>
              <a:spcAft>
                <a:spcPts val="700"/>
              </a:spcAft>
            </a:pPr>
            <a:r>
              <a:rPr sz="2100" b="1">
                <a:solidFill>
                  <a:srgbClr val="075E4B"/>
                </a:solidFill>
                <a:latin typeface="Calibri"/>
              </a:rPr>
              <a:t>Bahan pendukung</a:t>
            </a:r>
          </a:p>
        </p:txBody>
      </p:sp>
      <p:sp>
        <p:nvSpPr>
          <p:cNvPr id="16" name="TextBox 15"/>
          <p:cNvSpPr txBox="1"/>
          <p:nvPr/>
        </p:nvSpPr>
        <p:spPr>
          <a:xfrm>
            <a:off x="7735824" y="2907792"/>
            <a:ext cx="3575304" cy="2523744"/>
          </a:xfrm>
          <a:prstGeom prst="rect">
            <a:avLst/>
          </a:prstGeom>
          <a:noFill/>
        </p:spPr>
        <p:txBody>
          <a:bodyPr wrap="square" lIns="0" rIns="0" tIns="0" bIns="0" anchor="t">
            <a:spAutoFit/>
          </a:bodyPr>
          <a:lstStyle/>
          <a:p>
            <a:pPr algn="l">
              <a:lnSpc>
                <a:spcPct val="108000"/>
              </a:lnSpc>
              <a:spcAft>
                <a:spcPts val="700"/>
              </a:spcAft>
            </a:pPr>
            <a:r>
              <a:rPr sz="1900" b="0">
                <a:solidFill>
                  <a:srgbClr val="173B36"/>
                </a:solidFill>
                <a:latin typeface="Calibri"/>
              </a:rPr>
              <a:t>Panduan aplikasi, lima template</a:t>
            </a:r>
          </a:p>
          <a:p>
            <a:pPr algn="l">
              <a:lnSpc>
                <a:spcPct val="108000"/>
              </a:lnSpc>
              <a:spcAft>
                <a:spcPts val="700"/>
              </a:spcAft>
            </a:pPr>
            <a:r>
              <a:rPr sz="1900" b="0">
                <a:solidFill>
                  <a:srgbClr val="173B36"/>
                </a:solidFill>
                <a:latin typeface="Calibri"/>
              </a:rPr>
              <a:t>dan panduan aturan tersedia</a:t>
            </a:r>
          </a:p>
          <a:p>
            <a:pPr algn="l">
              <a:lnSpc>
                <a:spcPct val="108000"/>
              </a:lnSpc>
              <a:spcAft>
                <a:spcPts val="700"/>
              </a:spcAft>
            </a:pPr>
            <a:r>
              <a:rPr sz="1900" b="0">
                <a:solidFill>
                  <a:srgbClr val="173B36"/>
                </a:solidFill>
                <a:latin typeface="Calibri"/>
              </a:rPr>
              <a:t>melalui tautan di bawah.</a:t>
            </a:r>
          </a:p>
          <a:p>
            <a:pPr algn="l">
              <a:lnSpc>
                <a:spcPct val="108000"/>
              </a:lnSpc>
              <a:spcAft>
                <a:spcPts val="700"/>
              </a:spcAft>
            </a:pPr>
            <a:r>
              <a:rPr sz="1900" b="0">
                <a:solidFill>
                  <a:srgbClr val="173B36"/>
                </a:solidFill>
                <a:latin typeface="Calibri"/>
              </a:rPr>
              <a:t/>
            </a:r>
          </a:p>
          <a:p>
            <a:pPr algn="l">
              <a:lnSpc>
                <a:spcPct val="108000"/>
              </a:lnSpc>
              <a:spcAft>
                <a:spcPts val="700"/>
              </a:spcAft>
            </a:pPr>
            <a:r>
              <a:rPr sz="1900" b="0">
                <a:solidFill>
                  <a:srgbClr val="173B36"/>
                </a:solidFill>
                <a:latin typeface="Calibri"/>
              </a:rPr>
              <a:t>Semua contoh memakai data fiktif.</a:t>
            </a:r>
          </a:p>
        </p:txBody>
      </p:sp>
      <p:sp>
        <p:nvSpPr>
          <p:cNvPr id="17" name="Rounded Rectangle 16">
            <a:hlinkClick r:id="rId3"/>
          </p:cNvPr>
          <p:cNvSpPr/>
          <p:nvPr/>
        </p:nvSpPr>
        <p:spPr>
          <a:xfrm>
            <a:off x="594360" y="5687568"/>
            <a:ext cx="3529584" cy="557784"/>
          </a:xfrm>
          <a:prstGeom prst="roundRect">
            <a:avLst>
              <a:gd name="adj" fmla="val 12000"/>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824728"/>
            <a:ext cx="3218688" cy="320040"/>
          </a:xfrm>
          <a:prstGeom prst="rect">
            <a:avLst/>
          </a:prstGeom>
          <a:noFill/>
        </p:spPr>
        <p:txBody>
          <a:bodyPr wrap="square" lIns="0" rIns="0" tIns="0" bIns="0" anchor="t">
            <a:spAutoFit/>
          </a:bodyPr>
          <a:lstStyle/>
          <a:p>
            <a:pPr algn="l">
              <a:lnSpc>
                <a:spcPct val="108000"/>
              </a:lnSpc>
              <a:spcAft>
                <a:spcPts val="700"/>
              </a:spcAft>
            </a:pPr>
            <a:r>
              <a:rPr sz="1600" b="1">
                <a:solidFill>
                  <a:srgbClr val="FFFFFF"/>
                </a:solidFill>
                <a:latin typeface="Calibri"/>
                <a:hlinkClick r:id="rId3"/>
              </a:rPr>
              <a:t>Buka panduan aplikasi</a:t>
            </a:r>
          </a:p>
        </p:txBody>
      </p:sp>
      <p:sp>
        <p:nvSpPr>
          <p:cNvPr id="19" name="Rounded Rectangle 18">
            <a:hlinkClick r:id="rId4"/>
          </p:cNvPr>
          <p:cNvSpPr/>
          <p:nvPr/>
        </p:nvSpPr>
        <p:spPr>
          <a:xfrm>
            <a:off x="4297680" y="5687568"/>
            <a:ext cx="3529584" cy="557784"/>
          </a:xfrm>
          <a:prstGeom prst="roundRect">
            <a:avLst>
              <a:gd name="adj" fmla="val 12000"/>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3128" y="5824728"/>
            <a:ext cx="3218688" cy="320040"/>
          </a:xfrm>
          <a:prstGeom prst="rect">
            <a:avLst/>
          </a:prstGeom>
          <a:noFill/>
        </p:spPr>
        <p:txBody>
          <a:bodyPr wrap="square" lIns="0" rIns="0" tIns="0" bIns="0" anchor="t">
            <a:spAutoFit/>
          </a:bodyPr>
          <a:lstStyle/>
          <a:p>
            <a:pPr algn="l">
              <a:lnSpc>
                <a:spcPct val="108000"/>
              </a:lnSpc>
              <a:spcAft>
                <a:spcPts val="700"/>
              </a:spcAft>
            </a:pPr>
            <a:r>
              <a:rPr sz="1600" b="1">
                <a:solidFill>
                  <a:srgbClr val="FFFFFF"/>
                </a:solidFill>
                <a:latin typeface="Calibri"/>
                <a:hlinkClick r:id="rId4"/>
              </a:rPr>
              <a:t>Unduh 5 template Excel</a:t>
            </a:r>
          </a:p>
        </p:txBody>
      </p:sp>
      <p:sp>
        <p:nvSpPr>
          <p:cNvPr id="21" name="Rounded Rectangle 20">
            <a:hlinkClick r:id="rId5"/>
          </p:cNvPr>
          <p:cNvSpPr/>
          <p:nvPr/>
        </p:nvSpPr>
        <p:spPr>
          <a:xfrm>
            <a:off x="8001000" y="5687568"/>
            <a:ext cx="3529584" cy="557784"/>
          </a:xfrm>
          <a:prstGeom prst="roundRect">
            <a:avLst>
              <a:gd name="adj" fmla="val 12000"/>
            </a:avLst>
          </a:prstGeom>
          <a:solidFill>
            <a:srgbClr val="075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5824728"/>
            <a:ext cx="3218688" cy="320040"/>
          </a:xfrm>
          <a:prstGeom prst="rect">
            <a:avLst/>
          </a:prstGeom>
          <a:noFill/>
        </p:spPr>
        <p:txBody>
          <a:bodyPr wrap="square" lIns="0" rIns="0" tIns="0" bIns="0" anchor="t">
            <a:spAutoFit/>
          </a:bodyPr>
          <a:lstStyle/>
          <a:p>
            <a:pPr algn="l">
              <a:lnSpc>
                <a:spcPct val="108000"/>
              </a:lnSpc>
              <a:spcAft>
                <a:spcPts val="700"/>
              </a:spcAft>
            </a:pPr>
            <a:r>
              <a:rPr sz="1600" b="1">
                <a:solidFill>
                  <a:srgbClr val="FFFFFF"/>
                </a:solidFill>
                <a:latin typeface="Calibri"/>
                <a:hlinkClick r:id="rId5"/>
              </a:rPr>
              <a:t>Panduan aturan / formula</a:t>
            </a:r>
          </a:p>
        </p:txBody>
      </p:sp>
    </p:spTree>
  </p:cSld>
  <p:clrMapOvr>
    <a:masterClrMapping/>
  </p:clrMapOvr>
</p:sld>
</file>

<file path=ppt/theme/theme1.xml><?xml version="1.0" encoding="utf-8"?>
<ns0:theme xmlns:ns0="http://schemas.openxmlformats.org/drawingml/2006/main" name="Office Theme">
  <ns0:themeElements>
    <ns0:clrScheme name="Office">
      <ns0:dk1>
        <ns0:sysClr val="windowText" lastClr="000000"/>
      </ns0:dk1>
      <ns0:lt1>
        <ns0:sysClr val="window" lastClr="FFFFFF"/>
      </ns0:lt1>
      <ns0:dk2>
        <ns0:srgbClr val="1F497D"/>
      </ns0:dk2>
      <ns0:lt2>
        <ns0:srgbClr val="EEECE1"/>
      </ns0:lt2>
      <ns0:accent1>
        <ns0:srgbClr val="4F81BD"/>
      </ns0:accent1>
      <ns0:accent2>
        <ns0:srgbClr val="C0504D"/>
      </ns0:accent2>
      <ns0:accent3>
        <ns0:srgbClr val="9BBB59"/>
      </ns0:accent3>
      <ns0:accent4>
        <ns0:srgbClr val="8064A2"/>
      </ns0:accent4>
      <ns0:accent5>
        <ns0:srgbClr val="4BACC6"/>
      </ns0:accent5>
      <ns0:accent6>
        <ns0:srgbClr val="F79646"/>
      </ns0:accent6>
      <ns0:hlink>
        <ns0:srgbClr val="FFFFFF"/>
      </ns0:hlink>
      <ns0:folHlink>
        <ns0:srgbClr val="FFFFFF"/>
      </ns0:folHlink>
    </ns0:clrScheme>
    <ns0:fontScheme name="Office">
      <ns0:majorFont>
        <ns0:latin typeface="Calibri"/>
        <ns0:ea typeface=""/>
        <ns0:cs typeface=""/>
        <ns0:font script="Jpan" typeface="ＭＳ Ｐゴシック"/>
        <ns0:font script="Hang" typeface="맑은 고딕"/>
        <ns0:font script="Hans" typeface="宋体"/>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majorFont>
      <ns0:minorFont>
        <ns0:latin typeface="Calibri"/>
        <ns0:ea typeface=""/>
        <ns0:cs typeface=""/>
        <ns0:font script="Jpan" typeface="ＭＳ Ｐゴシック"/>
        <ns0:font script="Hang" typeface="맑은 고딕"/>
        <ns0:font script="Hans" typeface="宋体"/>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tint val="100000"/>
                <ns0:shade val="100000"/>
                <ns0:satMod val="130000"/>
              </ns0:schemeClr>
            </ns0:gs>
            <ns0:gs pos="100000">
              <ns0:schemeClr val="phClr">
                <ns0:tint val="50000"/>
                <ns0:shade val="100000"/>
                <ns0:satMod val="350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spDef>
      <ns0:spPr/>
      <ns0:bodyPr/>
      <ns0:lstStyle/>
      <ns0:style>
        <ns0:lnRef idx="1">
          <ns0:schemeClr val="accent1"/>
        </ns0:lnRef>
        <ns0:fillRef idx="3">
          <ns0:schemeClr val="accent1"/>
        </ns0:fillRef>
        <ns0:effectRef idx="2">
          <ns0:schemeClr val="accent1"/>
        </ns0:effectRef>
        <ns0:fontRef idx="minor">
          <ns0:schemeClr val="lt1"/>
        </ns0:fontRef>
      </ns0:style>
    </ns0:spDef>
    <ns0:lnDef>
      <ns0:spPr/>
      <ns0:bodyPr/>
      <ns0:lstStyle/>
      <ns0:style>
        <ns0:lnRef idx="2">
          <ns0:schemeClr val="accent1"/>
        </ns0:lnRef>
        <ns0:fillRef idx="0">
          <ns0:schemeClr val="accent1"/>
        </ns0:fillRef>
        <ns0:effectRef idx="1">
          <ns0:schemeClr val="accent1"/>
        </ns0:effectRef>
        <ns0:fontRef idx="minor">
          <ns0:schemeClr val="tx1"/>
        </ns0:fontRef>
      </ns0:style>
    </ns0:lnDef>
  </ns0:objectDefaults>
  <ns0:extraClrSchemeLst/>
</ns0: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Dari Google Sheets ke Analitik dan Action Plan</dc:title>
  <dc:subject>Panduan step by step Google Sheet AI untuk pengguna bisnis</dc:subject>
  <dc:creator>Google Sheet AI • Panduan aplikasi</dc:creator>
  <cp:keywords>ETL, Google Sheets, kualitas data, analitik, action plan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